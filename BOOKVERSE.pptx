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69" r:id="rId3"/>
    <p:sldId id="257" r:id="rId4"/>
    <p:sldId id="258" r:id="rId5"/>
    <p:sldId id="259" r:id="rId6"/>
    <p:sldId id="266" r:id="rId7"/>
    <p:sldId id="267" r:id="rId8"/>
    <p:sldId id="260" r:id="rId9"/>
    <p:sldId id="271" r:id="rId10"/>
    <p:sldId id="272" r:id="rId11"/>
    <p:sldId id="273" r:id="rId12"/>
    <p:sldId id="275" r:id="rId13"/>
    <p:sldId id="276" r:id="rId14"/>
    <p:sldId id="277" r:id="rId15"/>
    <p:sldId id="264" r:id="rId16"/>
    <p:sldId id="270" r:id="rId17"/>
    <p:sldId id="265" r:id="rId18"/>
  </p:sldIdLst>
  <p:sldSz cx="12192000" cy="6858000"/>
  <p:notesSz cx="6858000" cy="12192000"/>
  <p:embeddedFontLst>
    <p:embeddedFont>
      <p:font typeface="Gelasio"/>
      <p:regular r:id="rId20"/>
    </p:embeddedFont>
    <p:embeddedFont>
      <p:font typeface="Gelasio SemiBold"/>
      <p:regular r:id="rId21"/>
      <p:bold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0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216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1814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7C5F-AFBC-653C-204A-0D4C188A9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DCD46-289D-12B7-FD2E-59A38E1AE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90D87E-9380-49F8-9993-AF9DB1D78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31C2C-4BDB-12FE-AFF9-B15DB531C8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866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A4F44-5087-887F-4431-691942A2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A7D67-CF7D-E918-4D8D-DB13F4D23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F1B97-330B-D3FA-1046-35F5034F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A874C-C122-0118-B5C3-E29B6E80E0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427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25140-9C02-E776-1437-BFB6ED71A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08A61-CE23-1718-992B-67D43B84B1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C12EC8-AC6B-F9B9-2EE7-3062A1F0B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D60C3-4AA8-833B-2DF8-9512E766C3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34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E0AEE-3DDB-BD70-8F8C-8ECA39319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5E62E-EE19-4560-2EC2-17220A4D9E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1337C2-5241-3CA9-FBC4-78662E260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12DF3-0B6F-4CC8-2952-9E914B7BA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436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7BDCE-341C-0EF3-08A3-2C25E03DD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4D3B0-84F3-465A-1F62-B7F509A4A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3AC2D1-60F8-CCDC-7886-D4AD36776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5DE51-AD8B-9F80-591D-5DE039B945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3615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78054-C24F-B478-558A-7D8457A6F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A6F8-11E2-B348-1CA5-E5A883A6A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15D790-0431-239D-975B-7C739EDF9F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A0F43-5B34-5486-08BF-981CC0AA31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912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58B19-DD75-9121-F365-3CBAFD7D3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D204A5-E20A-084E-E5F0-4177CCD5BD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EC1B65-1861-547D-E763-73C9C0C84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013181-223E-C3A5-AD82-133ACC485C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5433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3622C-9BE1-93F7-FD51-D7661A1A7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20F6B5-1225-993C-AA65-4698037CB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19DAC-812E-E01F-7D14-C471D5E27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A9E7E-7C89-B69A-CC7B-9EC12C51F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417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14D03-8D1E-5F10-244C-831E8671E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AFBC2-562A-C207-A35F-4D1B576EB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BAAA5-249B-3D4C-4DCA-AB862E5CB6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62A13-B094-DB2B-AC88-9353897554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8012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2AE30-3593-6F94-9448-6DC2DE332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C0DC90-90F6-C55B-F02C-1A35112D85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8143-4F92-1C16-BEFD-2B63F8D18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6AFD4-0048-7AB9-E33A-365615AA8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060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DCFB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6F0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jpeg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2566690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BOOKVERSE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232944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Library Management System</a:t>
            </a:r>
            <a:endParaRPr lang="en-US" sz="2950" dirty="0"/>
          </a:p>
        </p:txBody>
      </p:sp>
      <p:sp>
        <p:nvSpPr>
          <p:cNvPr id="5" name="Text 2"/>
          <p:cNvSpPr/>
          <p:nvPr/>
        </p:nvSpPr>
        <p:spPr>
          <a:xfrm>
            <a:off x="356682" y="398889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“A Smarter Way To Discover, Manage and Borrow Books.”</a:t>
            </a:r>
          </a:p>
          <a:p>
            <a:pPr marL="0" indent="0" algn="ctr">
              <a:lnSpc>
                <a:spcPct val="133000"/>
              </a:lnSpc>
              <a:buNone/>
            </a:pPr>
            <a:endParaRPr lang="en-US" sz="14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610DC1-5539-524A-BD8C-31A0674C3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303" y="-28870"/>
            <a:ext cx="4385616" cy="6915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DB8B338-4EC6-9706-7052-C6FE213935ED}"/>
              </a:ext>
            </a:extLst>
          </p:cNvPr>
          <p:cNvSpPr txBox="1"/>
          <p:nvPr/>
        </p:nvSpPr>
        <p:spPr>
          <a:xfrm>
            <a:off x="-287676" y="4574777"/>
            <a:ext cx="8270696" cy="15327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4000"/>
              </a:lnSpc>
            </a:pPr>
            <a:r>
              <a:rPr lang="en-US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Submitted By – </a:t>
            </a:r>
          </a:p>
          <a:p>
            <a:pPr algn="ctr">
              <a:lnSpc>
                <a:spcPct val="104000"/>
              </a:lnSpc>
            </a:pPr>
            <a:endParaRPr lang="en-US" dirty="0">
              <a:solidFill>
                <a:srgbClr val="484237"/>
              </a:solidFill>
              <a:latin typeface="Gelasio SemiBold" pitchFamily="34" charset="0"/>
              <a:cs typeface="Gelasio SemiBold" pitchFamily="34" charset="-120"/>
            </a:endParaRPr>
          </a:p>
          <a:p>
            <a:pPr algn="ctr">
              <a:lnSpc>
                <a:spcPct val="104000"/>
              </a:lnSpc>
            </a:pPr>
            <a:r>
              <a:rPr lang="en-US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Anveer Singh Sandhu :   2510992756</a:t>
            </a:r>
          </a:p>
          <a:p>
            <a:pPr algn="ctr">
              <a:lnSpc>
                <a:spcPct val="104000"/>
              </a:lnSpc>
            </a:pPr>
            <a:r>
              <a:rPr lang="en-US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Ayush Sharma               :   2510992832</a:t>
            </a:r>
          </a:p>
          <a:p>
            <a:pPr algn="ctr">
              <a:lnSpc>
                <a:spcPct val="104000"/>
              </a:lnSpc>
            </a:pPr>
            <a:r>
              <a:rPr lang="en-US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Agrim Joshi                    :   2510992925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08B5-1205-0198-5D29-ED247ACA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E1B087F2-F41C-DE09-06D5-50767C70C48E}"/>
              </a:ext>
            </a:extLst>
          </p:cNvPr>
          <p:cNvSpPr/>
          <p:nvPr/>
        </p:nvSpPr>
        <p:spPr>
          <a:xfrm>
            <a:off x="2752361" y="5707080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BOOKVERSE</a:t>
            </a:r>
            <a:endParaRPr lang="en-US" sz="37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303FCD-702A-37A0-431F-5FC33727F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95462"/>
            <a:ext cx="7772400" cy="527805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51A8FA0-0FF8-80DF-BC6C-3145E32ECE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86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9233"/>
            <a:ext cx="10868745" cy="1144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The Problem 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139" y="1914158"/>
            <a:ext cx="924487" cy="57137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16016" y="2028329"/>
            <a:ext cx="1589544" cy="572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Difficult book tracking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3616016" y="2706787"/>
            <a:ext cx="1589544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Lost or mis-shelved titles, manual inventory gaps.</a:t>
            </a:r>
            <a:endParaRPr lang="en-US" sz="14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6339" y="1914158"/>
            <a:ext cx="924487" cy="57137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05034" y="2028329"/>
            <a:ext cx="1872529" cy="858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Manual issue &amp; return records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7405034" y="2706787"/>
            <a:ext cx="1589544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Paper logs prone to error and slow lookup.</a:t>
            </a:r>
            <a:endParaRPr lang="en-US" sz="14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613" y="4258301"/>
            <a:ext cx="924487" cy="57137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05034" y="4192786"/>
            <a:ext cx="2006094" cy="1144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Difficulty tracking overdue books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7405034" y="5336976"/>
            <a:ext cx="1589544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Manual follow-ups, missed fines, and circulation loss.</a:t>
            </a:r>
            <a:endParaRPr lang="en-US" sz="14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1137" y="4258301"/>
            <a:ext cx="924487" cy="57137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616016" y="4372472"/>
            <a:ext cx="1589544" cy="858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Scattered library information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3616016" y="5336977"/>
            <a:ext cx="1589544" cy="8652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40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Catalogs, records, and reports live in different places.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2D6F69-04CB-8E3A-E3BA-6C10D43191CC}"/>
              </a:ext>
            </a:extLst>
          </p:cNvPr>
          <p:cNvSpPr txBox="1"/>
          <p:nvPr/>
        </p:nvSpPr>
        <p:spPr>
          <a:xfrm>
            <a:off x="1468768" y="17373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58B91E-781B-1772-4533-494612AFEE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61475" y="107424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Introducing </a:t>
            </a:r>
            <a:r>
              <a:rPr lang="en-US" sz="3700" dirty="0" err="1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BookVerse</a:t>
            </a: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 –</a:t>
            </a:r>
            <a:endParaRPr lang="en-US" sz="1400" dirty="0">
              <a:solidFill>
                <a:srgbClr val="484237"/>
              </a:solidFill>
              <a:latin typeface="Gelasio SemiBold" pitchFamily="34" charset="0"/>
              <a:ea typeface="Gelasio SemiBold" pitchFamily="34" charset="-122"/>
              <a:cs typeface="Gelasio SemiBold" pitchFamily="34" charset="-120"/>
            </a:endParaRPr>
          </a:p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One System, Every Library Interaction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48359"/>
            <a:ext cx="6296860" cy="271541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85188" y="4148832"/>
            <a:ext cx="1428545" cy="178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Student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1085188" y="3520257"/>
            <a:ext cx="1428545" cy="178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Teacher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1085188" y="2898030"/>
            <a:ext cx="1428545" cy="178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Admin 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085188" y="2269455"/>
            <a:ext cx="1428545" cy="178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Books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61475" y="4876403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600" b="1" dirty="0" err="1"/>
              <a:t>BookVerse</a:t>
            </a:r>
            <a:r>
              <a:rPr lang="en-IN" sz="1600" b="1" dirty="0"/>
              <a:t> centralizes books, members, and transactions — making every library interaction faster, simpler, and easier to track.</a:t>
            </a:r>
            <a:endParaRPr lang="en-IN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EC193F5-C7B3-B2B1-9C69-AF6A5DB02B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0282" y="0"/>
            <a:ext cx="430207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30833"/>
            <a:ext cx="10868745" cy="470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Key Features — Everything a Modern Library Needs</a:t>
            </a:r>
            <a:endParaRPr lang="en-US" sz="2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152" y="1382736"/>
            <a:ext cx="1145948" cy="14324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20152" y="2965175"/>
            <a:ext cx="2604625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01 — Book Management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2120152" y="3272456"/>
            <a:ext cx="2604625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Add, edit, delete, and organize the collection with metadata and covers.</a:t>
            </a:r>
            <a:endParaRPr lang="en-US" sz="11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4792" y="1382736"/>
            <a:ext cx="1146047" cy="1432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874792" y="2965275"/>
            <a:ext cx="2604725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02 — Member Management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4874792" y="3272555"/>
            <a:ext cx="2604725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Register members, manage profiles, and track borrowing privileges.</a:t>
            </a:r>
            <a:endParaRPr lang="en-US" sz="11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9532" y="1382736"/>
            <a:ext cx="1145948" cy="143242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629532" y="2965175"/>
            <a:ext cx="2604625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03 — Smart Search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7629532" y="3272456"/>
            <a:ext cx="2604625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Robust search and filters — title, author, ISBN, genre, and tags.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4892" y="4110266"/>
            <a:ext cx="1146047" cy="14325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874892" y="5692805"/>
            <a:ext cx="2604725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04 — Issue &amp; Return</a:t>
            </a:r>
            <a:endParaRPr lang="en-US" sz="1450" dirty="0"/>
          </a:p>
        </p:txBody>
      </p:sp>
      <p:sp>
        <p:nvSpPr>
          <p:cNvPr id="14" name="Text 8"/>
          <p:cNvSpPr/>
          <p:nvPr/>
        </p:nvSpPr>
        <p:spPr>
          <a:xfrm>
            <a:off x="4874892" y="6000085"/>
            <a:ext cx="2604725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Fast, trackable check-outs and returns with transaction logs.</a:t>
            </a:r>
            <a:endParaRPr lang="en-US" sz="11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252" y="4042745"/>
            <a:ext cx="1145948" cy="143242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120252" y="5625185"/>
            <a:ext cx="2604625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05 — Due-Date Tracking</a:t>
            </a:r>
            <a:endParaRPr lang="en-US" sz="1450" dirty="0"/>
          </a:p>
        </p:txBody>
      </p:sp>
      <p:sp>
        <p:nvSpPr>
          <p:cNvPr id="17" name="Text 10"/>
          <p:cNvSpPr/>
          <p:nvPr/>
        </p:nvSpPr>
        <p:spPr>
          <a:xfrm>
            <a:off x="2120252" y="5932465"/>
            <a:ext cx="2604625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Automated reminders, clear overdue alerts, and reporting.</a:t>
            </a:r>
            <a:endParaRPr lang="en-US" sz="115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9532" y="4094194"/>
            <a:ext cx="1146047" cy="143252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629532" y="5676733"/>
            <a:ext cx="2604725" cy="2353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06 — Library Records</a:t>
            </a:r>
            <a:endParaRPr lang="en-US" sz="1450" dirty="0"/>
          </a:p>
        </p:txBody>
      </p:sp>
      <p:sp>
        <p:nvSpPr>
          <p:cNvPr id="20" name="Text 12"/>
          <p:cNvSpPr/>
          <p:nvPr/>
        </p:nvSpPr>
        <p:spPr>
          <a:xfrm>
            <a:off x="7629532" y="5984013"/>
            <a:ext cx="2604725" cy="4329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Complete borrowing history and exportable transaction records.</a:t>
            </a:r>
            <a:endParaRPr lang="en-US" sz="115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76C674-8300-F962-6C85-672B08A415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CEFFA-BC7C-5FEF-4EA2-6067D8A4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6AE1E1C-942A-F0CB-90EB-D35D2F9A9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4403F7F-DF52-7461-6990-BB366A18ABF5}"/>
              </a:ext>
            </a:extLst>
          </p:cNvPr>
          <p:cNvSpPr/>
          <p:nvPr/>
        </p:nvSpPr>
        <p:spPr>
          <a:xfrm>
            <a:off x="661475" y="92789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How It Works —From Library To Admin</a:t>
            </a:r>
            <a:endParaRPr lang="en-US" sz="3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5A29C12F-E714-D438-4F3D-DC83E724C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2392660"/>
            <a:ext cx="6296860" cy="2719884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E77DDBDD-F3DD-C7D2-E0D7-F7523D0979BD}"/>
              </a:ext>
            </a:extLst>
          </p:cNvPr>
          <p:cNvSpPr/>
          <p:nvPr/>
        </p:nvSpPr>
        <p:spPr>
          <a:xfrm>
            <a:off x="2164114" y="4374914"/>
            <a:ext cx="934945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Manage Users</a:t>
            </a:r>
            <a:endParaRPr lang="en-US" sz="105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A6DEAC38-3413-F0D7-8797-F4CC3FDCCF67}"/>
              </a:ext>
            </a:extLst>
          </p:cNvPr>
          <p:cNvSpPr/>
          <p:nvPr/>
        </p:nvSpPr>
        <p:spPr>
          <a:xfrm>
            <a:off x="2164114" y="4593637"/>
            <a:ext cx="934945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Manage Student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&amp; Teacher Accounts</a:t>
            </a:r>
            <a:endParaRPr lang="en-US" sz="85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0F21007-1D82-F716-4C26-3B08A75A1C58}"/>
              </a:ext>
            </a:extLst>
          </p:cNvPr>
          <p:cNvSpPr/>
          <p:nvPr/>
        </p:nvSpPr>
        <p:spPr>
          <a:xfrm>
            <a:off x="4564811" y="4374914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Track</a:t>
            </a:r>
            <a:endParaRPr lang="en-US" sz="105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16F267E-4CBF-5687-A94B-0CBF40364F1D}"/>
              </a:ext>
            </a:extLst>
          </p:cNvPr>
          <p:cNvSpPr/>
          <p:nvPr/>
        </p:nvSpPr>
        <p:spPr>
          <a:xfrm>
            <a:off x="4564811" y="4593637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IN" sz="8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Monitor availability, due dates, and overdue books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CE292433-F170-78A0-67C4-D55DFF13345C}"/>
              </a:ext>
            </a:extLst>
          </p:cNvPr>
          <p:cNvSpPr/>
          <p:nvPr/>
        </p:nvSpPr>
        <p:spPr>
          <a:xfrm>
            <a:off x="966746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Manage Books</a:t>
            </a:r>
            <a:endParaRPr lang="en-US" sz="10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B7CFD58-0B75-918F-243A-A3A5153A6261}"/>
              </a:ext>
            </a:extLst>
          </p:cNvPr>
          <p:cNvSpPr/>
          <p:nvPr/>
        </p:nvSpPr>
        <p:spPr>
          <a:xfrm>
            <a:off x="966746" y="2856809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14000"/>
              </a:lnSpc>
            </a:pPr>
            <a:r>
              <a:rPr lang="en-IN" sz="85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Add, edit, delete, and organize books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61DE506-738B-0366-0BD8-9A7CE15DE8C3}"/>
              </a:ext>
            </a:extLst>
          </p:cNvPr>
          <p:cNvSpPr/>
          <p:nvPr/>
        </p:nvSpPr>
        <p:spPr>
          <a:xfrm>
            <a:off x="5726515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Analyze</a:t>
            </a:r>
            <a:endParaRPr lang="en-US" sz="105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3B32417-00C2-FC07-A917-843F6129D59A}"/>
              </a:ext>
            </a:extLst>
          </p:cNvPr>
          <p:cNvSpPr/>
          <p:nvPr/>
        </p:nvSpPr>
        <p:spPr>
          <a:xfrm>
            <a:off x="5726515" y="2856809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8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View reports and library activity</a:t>
            </a: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AD1B468C-D085-283D-F52B-39D5A25B91B8}"/>
              </a:ext>
            </a:extLst>
          </p:cNvPr>
          <p:cNvSpPr/>
          <p:nvPr/>
        </p:nvSpPr>
        <p:spPr>
          <a:xfrm>
            <a:off x="3379362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Issue &amp; Return</a:t>
            </a:r>
            <a:endParaRPr lang="en-US" sz="105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52E303F9-1AE5-B98C-0464-F566D9CAD6F3}"/>
              </a:ext>
            </a:extLst>
          </p:cNvPr>
          <p:cNvSpPr/>
          <p:nvPr/>
        </p:nvSpPr>
        <p:spPr>
          <a:xfrm>
            <a:off x="3379362" y="2884768"/>
            <a:ext cx="1028251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IN" sz="8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Process book transactions and returns</a:t>
            </a:r>
            <a:endParaRPr lang="en-IN" sz="8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F8D361F6-26F7-7F69-D0B4-F79BDAF731F2}"/>
              </a:ext>
            </a:extLst>
          </p:cNvPr>
          <p:cNvSpPr/>
          <p:nvPr/>
        </p:nvSpPr>
        <p:spPr>
          <a:xfrm>
            <a:off x="661475" y="5325170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>
              <a:solidFill>
                <a:srgbClr val="746558"/>
              </a:solidFill>
              <a:latin typeface="Gelasio" pitchFamily="34" charset="0"/>
              <a:ea typeface="Gelasio" pitchFamily="34" charset="-122"/>
              <a:cs typeface="Gelasio" pitchFamily="34" charset="-120"/>
            </a:endParaRPr>
          </a:p>
          <a:p>
            <a:pPr>
              <a:lnSpc>
                <a:spcPct val="100000"/>
              </a:lnSpc>
            </a:pPr>
            <a:r>
              <a:rPr lang="en-IN" sz="14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Designed for control and clarity: a streamlined path from library management to actionable insights, with every transaction tracked in one place.</a:t>
            </a:r>
          </a:p>
        </p:txBody>
      </p:sp>
    </p:spTree>
    <p:extLst>
      <p:ext uri="{BB962C8B-B14F-4D97-AF65-F5344CB8AC3E}">
        <p14:creationId xmlns:p14="http://schemas.microsoft.com/office/powerpoint/2010/main" val="18430244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4F922-046B-192E-BF36-F5CC830F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8F5B849-894C-6CF5-9A20-88521BC0F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34C90BE-68AD-6F48-9215-BFA1AC5E19F9}"/>
              </a:ext>
            </a:extLst>
          </p:cNvPr>
          <p:cNvSpPr/>
          <p:nvPr/>
        </p:nvSpPr>
        <p:spPr>
          <a:xfrm>
            <a:off x="661475" y="92789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How It Works —From Search To Knowledge</a:t>
            </a:r>
            <a:endParaRPr lang="en-US" sz="3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C6779B96-3407-0091-248B-0AF125E68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2392660"/>
            <a:ext cx="6296860" cy="2719884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42CD8DB9-1DD2-0BC0-D12E-344FDEB2872E}"/>
              </a:ext>
            </a:extLst>
          </p:cNvPr>
          <p:cNvSpPr/>
          <p:nvPr/>
        </p:nvSpPr>
        <p:spPr>
          <a:xfrm>
            <a:off x="2164114" y="4374914"/>
            <a:ext cx="934945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cs typeface="Gelasio SemiBold" pitchFamily="34" charset="-120"/>
              </a:rPr>
              <a:t>Discover</a:t>
            </a:r>
            <a:endParaRPr lang="en-US" sz="105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9F76364A-CE93-17C5-6045-83EB6FBAE449}"/>
              </a:ext>
            </a:extLst>
          </p:cNvPr>
          <p:cNvSpPr/>
          <p:nvPr/>
        </p:nvSpPr>
        <p:spPr>
          <a:xfrm>
            <a:off x="2164114" y="4593637"/>
            <a:ext cx="934945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IN" sz="8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Browse and search books by title, author, or category</a:t>
            </a: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F29606F-7E56-AF6C-7FBD-718E59F02D0A}"/>
              </a:ext>
            </a:extLst>
          </p:cNvPr>
          <p:cNvSpPr/>
          <p:nvPr/>
        </p:nvSpPr>
        <p:spPr>
          <a:xfrm>
            <a:off x="4564811" y="4374914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Borrow</a:t>
            </a:r>
            <a:endParaRPr lang="en-US" sz="105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9DCF5AF-557A-72A4-8CC4-964DBC5ADAA2}"/>
              </a:ext>
            </a:extLst>
          </p:cNvPr>
          <p:cNvSpPr/>
          <p:nvPr/>
        </p:nvSpPr>
        <p:spPr>
          <a:xfrm>
            <a:off x="4564811" y="4593637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IN" sz="800" dirty="0"/>
              <a:t>I</a:t>
            </a:r>
            <a:r>
              <a:rPr lang="en-IN" sz="8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ssue books for teaching, research, or learning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ABB87279-DD57-A0A3-73CC-81BE48578E0A}"/>
              </a:ext>
            </a:extLst>
          </p:cNvPr>
          <p:cNvSpPr/>
          <p:nvPr/>
        </p:nvSpPr>
        <p:spPr>
          <a:xfrm>
            <a:off x="966746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Login</a:t>
            </a:r>
            <a:endParaRPr lang="en-US" sz="10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9E99EFA-A92D-6EF8-0371-18E0D5BF7C25}"/>
              </a:ext>
            </a:extLst>
          </p:cNvPr>
          <p:cNvSpPr/>
          <p:nvPr/>
        </p:nvSpPr>
        <p:spPr>
          <a:xfrm>
            <a:off x="966746" y="2856809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IN" sz="8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Access your personalized library account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D058613-9246-A1E2-AF0C-58C3C0273642}"/>
              </a:ext>
            </a:extLst>
          </p:cNvPr>
          <p:cNvSpPr/>
          <p:nvPr/>
        </p:nvSpPr>
        <p:spPr>
          <a:xfrm>
            <a:off x="5726515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Return/Renew</a:t>
            </a:r>
            <a:endParaRPr lang="en-US" sz="105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0879A98-A948-9B71-833B-A107909B83CE}"/>
              </a:ext>
            </a:extLst>
          </p:cNvPr>
          <p:cNvSpPr/>
          <p:nvPr/>
        </p:nvSpPr>
        <p:spPr>
          <a:xfrm>
            <a:off x="5726515" y="2856809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IN" sz="800" dirty="0"/>
              <a:t>Return books on time or renew eligible loans</a:t>
            </a: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AA04F057-4AC7-8139-105E-64C916AE0083}"/>
              </a:ext>
            </a:extLst>
          </p:cNvPr>
          <p:cNvSpPr/>
          <p:nvPr/>
        </p:nvSpPr>
        <p:spPr>
          <a:xfrm>
            <a:off x="3379362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Check</a:t>
            </a:r>
            <a:endParaRPr lang="en-US" sz="105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A7CDF46-768A-3DE4-C1BC-032F3AC245E2}"/>
              </a:ext>
            </a:extLst>
          </p:cNvPr>
          <p:cNvSpPr/>
          <p:nvPr/>
        </p:nvSpPr>
        <p:spPr>
          <a:xfrm>
            <a:off x="3379362" y="2884768"/>
            <a:ext cx="1028251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IN" sz="8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View availability and borrowing status</a:t>
            </a: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289D95B5-FAE4-E5E1-57AB-E08E381D36F4}"/>
              </a:ext>
            </a:extLst>
          </p:cNvPr>
          <p:cNvSpPr/>
          <p:nvPr/>
        </p:nvSpPr>
        <p:spPr>
          <a:xfrm>
            <a:off x="661475" y="5325170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5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Designed for effortless access: a simple journey from discovering resources to borrowing and managing every book with ease.</a:t>
            </a:r>
          </a:p>
          <a:p>
            <a:pPr indent="0">
              <a:buNone/>
            </a:pPr>
            <a:endParaRPr lang="en-US" sz="1500" dirty="0">
              <a:solidFill>
                <a:srgbClr val="746558"/>
              </a:solidFill>
              <a:latin typeface="Gelasio" pitchFamily="34" charset="0"/>
              <a:cs typeface="Gelasio" pitchFamily="34" charset="-120"/>
            </a:endParaRPr>
          </a:p>
          <a:p>
            <a:pPr>
              <a:lnSpc>
                <a:spcPct val="100000"/>
              </a:lnSpc>
            </a:pPr>
            <a:endParaRPr lang="en-IN" sz="1400" dirty="0">
              <a:solidFill>
                <a:srgbClr val="746558"/>
              </a:solidFill>
              <a:latin typeface="Gelasio" pitchFamily="34" charset="0"/>
              <a:cs typeface="Gelasio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67190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92789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How It Works — From Shelf to Student</a:t>
            </a:r>
            <a:endParaRPr lang="en-US" sz="3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2392660"/>
            <a:ext cx="6296860" cy="271988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64114" y="4374914"/>
            <a:ext cx="934945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Browse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2164114" y="4593637"/>
            <a:ext cx="934945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Explore book categories</a:t>
            </a:r>
            <a:endParaRPr lang="en-US" sz="850" dirty="0"/>
          </a:p>
        </p:txBody>
      </p:sp>
      <p:sp>
        <p:nvSpPr>
          <p:cNvPr id="7" name="Text 3"/>
          <p:cNvSpPr/>
          <p:nvPr/>
        </p:nvSpPr>
        <p:spPr>
          <a:xfrm>
            <a:off x="4564811" y="4374914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Check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564811" y="4593637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Verify availability status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966746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Register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966746" y="2856809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Create account or log in</a:t>
            </a:r>
            <a:endParaRPr lang="en-US" sz="850" dirty="0"/>
          </a:p>
        </p:txBody>
      </p:sp>
      <p:sp>
        <p:nvSpPr>
          <p:cNvPr id="11" name="Text 7"/>
          <p:cNvSpPr/>
          <p:nvPr/>
        </p:nvSpPr>
        <p:spPr>
          <a:xfrm>
            <a:off x="5726515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Issue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726515" y="2856809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Borrow book to your account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3379362" y="2638085"/>
            <a:ext cx="934944" cy="1702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Search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379362" y="2856809"/>
            <a:ext cx="934944" cy="272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8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Filter results quickly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661475" y="5325170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Designed for speed and clarity: a frictionless path from discovery to return, with visibility at every step.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89392-99BB-4CC0-D331-B247D1A3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7D3CCF0-8F18-16C6-2C6B-01FE7154B02E}"/>
              </a:ext>
            </a:extLst>
          </p:cNvPr>
          <p:cNvSpPr/>
          <p:nvPr/>
        </p:nvSpPr>
        <p:spPr>
          <a:xfrm>
            <a:off x="661475" y="706537"/>
            <a:ext cx="10868745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IN" sz="3200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STEP 1 – Register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AE651B4-BB28-2DA4-CD8A-89AB53723A9F}"/>
              </a:ext>
            </a:extLst>
          </p:cNvPr>
          <p:cNvSpPr/>
          <p:nvPr/>
        </p:nvSpPr>
        <p:spPr>
          <a:xfrm>
            <a:off x="5629714" y="3148814"/>
            <a:ext cx="5831689" cy="111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2000"/>
              </a:lnSpc>
            </a:pP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Create a personalized library account by selecting your role and entering basic details. Secure registration provides access to features based on student, teacher, or administrator permissions.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774963-087F-9E94-D47E-DECF0F765D0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73AE1D-2CB3-1FF3-24A4-EAC100A81D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80" y="1211518"/>
            <a:ext cx="4556382" cy="528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40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AF6FC-B9F4-5FCE-5D91-0D2C41A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3CEBF49-F35B-F294-D2FA-1AB72DC6F6CB}"/>
              </a:ext>
            </a:extLst>
          </p:cNvPr>
          <p:cNvSpPr/>
          <p:nvPr/>
        </p:nvSpPr>
        <p:spPr>
          <a:xfrm>
            <a:off x="661475" y="706537"/>
            <a:ext cx="10868745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IN" sz="3200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Login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A21918B-53F8-52BA-D6E2-964D27AF48CC}"/>
              </a:ext>
            </a:extLst>
          </p:cNvPr>
          <p:cNvSpPr/>
          <p:nvPr/>
        </p:nvSpPr>
        <p:spPr>
          <a:xfrm>
            <a:off x="5629714" y="3148814"/>
            <a:ext cx="5831689" cy="111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2000"/>
              </a:lnSpc>
            </a:pP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Access your </a:t>
            </a:r>
            <a:r>
              <a:rPr lang="en-IN" sz="1600" dirty="0" err="1">
                <a:solidFill>
                  <a:srgbClr val="746558"/>
                </a:solidFill>
                <a:latin typeface="Gelasio" pitchFamily="34" charset="0"/>
              </a:rPr>
              <a:t>BookVerse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 account by selecting your role and entering your registered credentials. Role-based login provides secure access to personalized library features and services.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06927B-44E7-0C82-113B-DD6545E8CF7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49AE8E-9ED9-AAB8-A612-5590B557B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95" y="1434570"/>
            <a:ext cx="5232654" cy="5058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216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68B87-4D2D-47D0-45DF-BA2A9FD7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BC5DC99-A638-8783-029D-DB00AFE06C95}"/>
              </a:ext>
            </a:extLst>
          </p:cNvPr>
          <p:cNvSpPr/>
          <p:nvPr/>
        </p:nvSpPr>
        <p:spPr>
          <a:xfrm>
            <a:off x="661475" y="706537"/>
            <a:ext cx="10868745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IN" sz="3200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Mobile Responsiveness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2178150-3008-5F8D-7B73-18B41FA69604}"/>
              </a:ext>
            </a:extLst>
          </p:cNvPr>
          <p:cNvSpPr/>
          <p:nvPr/>
        </p:nvSpPr>
        <p:spPr>
          <a:xfrm>
            <a:off x="5629714" y="3148814"/>
            <a:ext cx="5831689" cy="111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22000"/>
              </a:lnSpc>
            </a:pPr>
            <a:r>
              <a:rPr lang="en-IN" sz="1200" dirty="0">
                <a:solidFill>
                  <a:srgbClr val="746558"/>
                </a:solidFill>
                <a:latin typeface="Gelasio" pitchFamily="34" charset="0"/>
              </a:rPr>
              <a:t>Responsive design adapts </a:t>
            </a:r>
            <a:r>
              <a:rPr lang="en-IN" sz="1200" dirty="0" err="1">
                <a:solidFill>
                  <a:srgbClr val="746558"/>
                </a:solidFill>
                <a:latin typeface="Gelasio" pitchFamily="34" charset="0"/>
              </a:rPr>
              <a:t>BookVerse</a:t>
            </a:r>
            <a:r>
              <a:rPr lang="en-IN" sz="1200" dirty="0">
                <a:solidFill>
                  <a:srgbClr val="746558"/>
                </a:solidFill>
                <a:latin typeface="Gelasio" pitchFamily="34" charset="0"/>
              </a:rPr>
              <a:t> seamlessly to mobile screens, ensuring all features remain accessible and easy to use. On smaller devices, the navigation menu switches to a hamburger (☰) menu, keeping the interface clean and uncluttered while providing quick access to all sections.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98DE65-75BD-8F7D-D141-AEBAF448D5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7E3867-5E3B-D16B-BC93-AF70878B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687" y="1378181"/>
            <a:ext cx="2376917" cy="50122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3243B4-CA12-9C5B-BB16-99F64211EA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84" y="1290475"/>
            <a:ext cx="2365834" cy="5100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951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7780F-EF6D-B3AF-6B9E-664411132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72FEE2-78A7-3735-C7A7-5B8C94BD672E}"/>
              </a:ext>
            </a:extLst>
          </p:cNvPr>
          <p:cNvSpPr/>
          <p:nvPr/>
        </p:nvSpPr>
        <p:spPr>
          <a:xfrm>
            <a:off x="661475" y="706537"/>
            <a:ext cx="10868745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IN" sz="3200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STUDENT SECTION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CD0FBC3-1CCE-87A8-A541-F95121B99E48}"/>
              </a:ext>
            </a:extLst>
          </p:cNvPr>
          <p:cNvSpPr/>
          <p:nvPr/>
        </p:nvSpPr>
        <p:spPr>
          <a:xfrm>
            <a:off x="917000" y="4947707"/>
            <a:ext cx="5831689" cy="111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Dashboard:</a:t>
            </a:r>
            <a:r>
              <a:rPr lang="en-IN" sz="1600" dirty="0"/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View your library overview and activity. </a:t>
            </a:r>
          </a:p>
          <a:p>
            <a:pPr lvl="0"/>
            <a:endParaRPr lang="en-IN" sz="1600" dirty="0"/>
          </a:p>
          <a:p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Browse: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Explore and find available books. </a:t>
            </a:r>
          </a:p>
          <a:p>
            <a:pPr lvl="0"/>
            <a:endParaRPr lang="en-IN" sz="1600" b="1" dirty="0"/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My Books: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View your borrowed books and due dates.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3939D4-4139-0D19-B78D-8911F38C40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E92898-E16A-6B43-795A-0CB0BA0D3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445851"/>
            <a:ext cx="4794665" cy="29435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0669C1-3B5C-26EE-1D23-73E752361E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049" y="1445851"/>
            <a:ext cx="5076171" cy="29435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BDA615-00E7-8C40-5266-0FB39E4DDE16}"/>
              </a:ext>
            </a:extLst>
          </p:cNvPr>
          <p:cNvSpPr txBox="1"/>
          <p:nvPr/>
        </p:nvSpPr>
        <p:spPr>
          <a:xfrm>
            <a:off x="6493164" y="4950484"/>
            <a:ext cx="517652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Fines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: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Check your overdue fines and payments.</a:t>
            </a:r>
          </a:p>
          <a:p>
            <a:pPr lvl="0"/>
            <a:r>
              <a:rPr lang="en-IN" dirty="0"/>
              <a:t>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Reservations: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your book reservations. </a:t>
            </a:r>
          </a:p>
        </p:txBody>
      </p:sp>
    </p:spTree>
    <p:extLst>
      <p:ext uri="{BB962C8B-B14F-4D97-AF65-F5344CB8AC3E}">
        <p14:creationId xmlns:p14="http://schemas.microsoft.com/office/powerpoint/2010/main" val="426329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CF277-0E18-9886-6CAB-5A1738F10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E602611-D694-D869-3BB3-645C4DF54772}"/>
              </a:ext>
            </a:extLst>
          </p:cNvPr>
          <p:cNvSpPr/>
          <p:nvPr/>
        </p:nvSpPr>
        <p:spPr>
          <a:xfrm>
            <a:off x="661475" y="706537"/>
            <a:ext cx="10868745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IN" sz="3200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TEACHER SECTION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13860D8-EDAF-D88B-9E4E-6DDDBA2D5CD9}"/>
              </a:ext>
            </a:extLst>
          </p:cNvPr>
          <p:cNvSpPr/>
          <p:nvPr/>
        </p:nvSpPr>
        <p:spPr>
          <a:xfrm>
            <a:off x="651315" y="4704032"/>
            <a:ext cx="5831689" cy="111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Dashboard: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View your library overview and activity.</a:t>
            </a:r>
          </a:p>
          <a:p>
            <a:pPr lvl="0"/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Students: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students and their library activity.</a:t>
            </a:r>
          </a:p>
          <a:p>
            <a:pPr lvl="0"/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Books: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Explore and manage library books. </a:t>
            </a:r>
          </a:p>
          <a:p>
            <a:pPr lvl="0"/>
            <a:endParaRPr lang="en-IN" sz="1600" dirty="0"/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Issue Book: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Issue books to students.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E4B04A-0A2E-62C4-1C9D-65A28006A0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18D3E1-A3EA-A902-2984-670625550263}"/>
              </a:ext>
            </a:extLst>
          </p:cNvPr>
          <p:cNvSpPr txBox="1"/>
          <p:nvPr/>
        </p:nvSpPr>
        <p:spPr>
          <a:xfrm>
            <a:off x="6493164" y="4704032"/>
            <a:ext cx="517652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Return Book: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Process returned books.</a:t>
            </a:r>
          </a:p>
          <a:p>
            <a:pPr lvl="0"/>
            <a:r>
              <a:rPr lang="en-IN" sz="1600" dirty="0"/>
              <a:t>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Transactions:</a:t>
            </a:r>
            <a:r>
              <a:rPr lang="en-IN" sz="1600" dirty="0"/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Track all book transactions</a:t>
            </a:r>
          </a:p>
          <a:p>
            <a:pPr lvl="0"/>
            <a:r>
              <a:rPr lang="en-IN" sz="1600" dirty="0"/>
              <a:t>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Profile: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your account details.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2D5B4-F8E8-7E7F-878A-7095AD4B4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316959"/>
            <a:ext cx="4981655" cy="29793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8BFB42-996D-0FD4-C0BE-25B7DC4F1D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8871" y="1316959"/>
            <a:ext cx="4949567" cy="2979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373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9EE2A-CFA5-CC39-8AE6-EBDFDF2FD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C7AE76-6EAA-CAC1-10AE-9E6884C9FF9C}"/>
              </a:ext>
            </a:extLst>
          </p:cNvPr>
          <p:cNvSpPr/>
          <p:nvPr/>
        </p:nvSpPr>
        <p:spPr>
          <a:xfrm>
            <a:off x="661475" y="706537"/>
            <a:ext cx="10868745" cy="489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IN" sz="3200" dirty="0">
                <a:solidFill>
                  <a:srgbClr val="484237"/>
                </a:solidFill>
                <a:latin typeface="Gelasio SemiBold" pitchFamily="34" charset="0"/>
                <a:cs typeface="Gelasio SemiBold" pitchFamily="34" charset="-120"/>
              </a:rPr>
              <a:t>ADMIN SECTION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F2187D9-AE21-5EA4-4995-725E1F4A5DD9}"/>
              </a:ext>
            </a:extLst>
          </p:cNvPr>
          <p:cNvSpPr/>
          <p:nvPr/>
        </p:nvSpPr>
        <p:spPr>
          <a:xfrm>
            <a:off x="917000" y="4947707"/>
            <a:ext cx="5831689" cy="11183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Dashboard:</a:t>
            </a:r>
            <a:r>
              <a:rPr lang="en-IN" sz="1600" dirty="0"/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View your library overview</a:t>
            </a:r>
            <a:r>
              <a:rPr lang="en-IN" sz="1600" dirty="0"/>
              <a:t>.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Books:</a:t>
            </a:r>
            <a:r>
              <a:rPr lang="en-IN" sz="1600" dirty="0"/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the library collection.</a:t>
            </a:r>
            <a:endParaRPr lang="en-IN" sz="1600" dirty="0"/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Members:</a:t>
            </a:r>
            <a:r>
              <a:rPr lang="en-IN" sz="1600" dirty="0"/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library members. </a:t>
            </a:r>
          </a:p>
          <a:p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Staff:</a:t>
            </a:r>
            <a:r>
              <a:rPr lang="en-IN" sz="1600" dirty="0"/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library staff.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Transactions:</a:t>
            </a:r>
            <a:r>
              <a:rPr lang="en-IN" sz="1600" dirty="0"/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Track library transactions.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EA5CD6-8328-C3E9-B624-A6CF9B581D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6DA167-7455-BCEB-1596-5A2267F394E6}"/>
              </a:ext>
            </a:extLst>
          </p:cNvPr>
          <p:cNvSpPr txBox="1"/>
          <p:nvPr/>
        </p:nvSpPr>
        <p:spPr>
          <a:xfrm>
            <a:off x="6493164" y="4950484"/>
            <a:ext cx="51765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Fines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: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Check your overdue fines and payments.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Reports: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View library reports and insights.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Settings: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library settings. </a:t>
            </a:r>
          </a:p>
          <a:p>
            <a:pPr lvl="0"/>
            <a:r>
              <a:rPr lang="en-IN" sz="1600" b="1" u="sng" dirty="0">
                <a:solidFill>
                  <a:srgbClr val="746558"/>
                </a:solidFill>
                <a:latin typeface="Gelasio" pitchFamily="34" charset="0"/>
              </a:rPr>
              <a:t>Profile:</a:t>
            </a:r>
            <a:r>
              <a:rPr lang="en-IN" sz="1600" b="1" dirty="0">
                <a:solidFill>
                  <a:srgbClr val="746558"/>
                </a:solidFill>
                <a:latin typeface="Gelasio" pitchFamily="34" charset="0"/>
              </a:rPr>
              <a:t> </a:t>
            </a:r>
            <a:r>
              <a:rPr lang="en-IN" sz="1600" dirty="0">
                <a:solidFill>
                  <a:srgbClr val="746558"/>
                </a:solidFill>
                <a:latin typeface="Gelasio" pitchFamily="34" charset="0"/>
              </a:rPr>
              <a:t>Manage your account details.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62CE03-5565-1234-227E-9073E1F74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66" y="1320800"/>
            <a:ext cx="5184095" cy="3098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C55B51-823D-3577-19A9-7A32EBBF0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1320800"/>
            <a:ext cx="5209961" cy="30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483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484237"/>
                </a:solidFill>
                <a:latin typeface="Gelasio SemiBold" pitchFamily="34" charset="0"/>
              </a:rPr>
              <a:t>About Us/Contact Us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B4019F7-90AC-AB26-2897-52CC2F8CF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25" y="988807"/>
            <a:ext cx="5658975" cy="3732035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E0BA987E-C9AF-A8F7-D2B9-F10724DD558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714517-A636-1472-1531-C56051BC06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7562" y="346082"/>
            <a:ext cx="5032658" cy="2907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45BDF2-2DEE-2A8C-49EB-7C00941253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7562" y="3434565"/>
            <a:ext cx="5032658" cy="28774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9D4908-C43D-D606-69DF-2157CBFB96E9}"/>
              </a:ext>
            </a:extLst>
          </p:cNvPr>
          <p:cNvSpPr txBox="1"/>
          <p:nvPr/>
        </p:nvSpPr>
        <p:spPr>
          <a:xfrm>
            <a:off x="1079862" y="4961252"/>
            <a:ext cx="3840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484237"/>
                </a:solidFill>
                <a:latin typeface="Gelasio SemiBold" pitchFamily="34" charset="0"/>
              </a:rPr>
              <a:t>Making library management simple, connected, and accessible.</a:t>
            </a:r>
          </a:p>
          <a:p>
            <a:r>
              <a:rPr lang="en-IN" sz="1600" dirty="0" err="1">
                <a:solidFill>
                  <a:srgbClr val="484237"/>
                </a:solidFill>
                <a:latin typeface="Gelasio SemiBold" pitchFamily="34" charset="0"/>
              </a:rPr>
              <a:t>BookVerse</a:t>
            </a:r>
            <a:r>
              <a:rPr lang="en-IN" sz="1600" dirty="0">
                <a:solidFill>
                  <a:srgbClr val="484237"/>
                </a:solidFill>
                <a:latin typeface="Gelasio SemiBold" pitchFamily="34" charset="0"/>
              </a:rPr>
              <a:t> brings books, members, borrowing, returns, and library records together in one organized platform—making everyday library tasks faster and easier.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698A-BFA2-FFF2-9819-533BE5BB3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E5113DA-71B7-1C05-5CC4-EF6E8C1DC13E}"/>
              </a:ext>
            </a:extLst>
          </p:cNvPr>
          <p:cNvSpPr/>
          <p:nvPr/>
        </p:nvSpPr>
        <p:spPr>
          <a:xfrm>
            <a:off x="661475" y="519807"/>
            <a:ext cx="10868745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Technologies Used - </a:t>
            </a:r>
            <a:endParaRPr lang="en-US" sz="1850" dirty="0"/>
          </a:p>
        </p:txBody>
      </p:sp>
      <p:pic>
        <p:nvPicPr>
          <p:cNvPr id="31" name="Image 1" descr="preencoded.png">
            <a:extLst>
              <a:ext uri="{FF2B5EF4-FFF2-40B4-BE49-F238E27FC236}">
                <a16:creationId xmlns:a16="http://schemas.microsoft.com/office/drawing/2014/main" id="{32BE84D8-4E62-F7E7-CC76-F7B13B6341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95643" y="1432620"/>
            <a:ext cx="1972915" cy="1996380"/>
          </a:xfrm>
          <a:prstGeom prst="rect">
            <a:avLst/>
          </a:prstGeom>
        </p:spPr>
      </p:pic>
      <p:sp>
        <p:nvSpPr>
          <p:cNvPr id="32" name="Text 2">
            <a:extLst>
              <a:ext uri="{FF2B5EF4-FFF2-40B4-BE49-F238E27FC236}">
                <a16:creationId xmlns:a16="http://schemas.microsoft.com/office/drawing/2014/main" id="{1877409A-4F56-CDA0-DB7F-44F60294CB85}"/>
              </a:ext>
            </a:extLst>
          </p:cNvPr>
          <p:cNvSpPr/>
          <p:nvPr/>
        </p:nvSpPr>
        <p:spPr>
          <a:xfrm>
            <a:off x="2884650" y="1621632"/>
            <a:ext cx="15949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HTML5</a:t>
            </a:r>
            <a:endParaRPr lang="en-US" sz="1850" dirty="0"/>
          </a:p>
        </p:txBody>
      </p:sp>
      <p:pic>
        <p:nvPicPr>
          <p:cNvPr id="33" name="Image 2" descr="preencoded.png">
            <a:extLst>
              <a:ext uri="{FF2B5EF4-FFF2-40B4-BE49-F238E27FC236}">
                <a16:creationId xmlns:a16="http://schemas.microsoft.com/office/drawing/2014/main" id="{38D6657C-EDCF-22C1-92CC-D9E72E765A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57566" y="1432620"/>
            <a:ext cx="1972915" cy="1996380"/>
          </a:xfrm>
          <a:prstGeom prst="rect">
            <a:avLst/>
          </a:prstGeom>
        </p:spPr>
      </p:pic>
      <p:sp>
        <p:nvSpPr>
          <p:cNvPr id="34" name="Text 4">
            <a:extLst>
              <a:ext uri="{FF2B5EF4-FFF2-40B4-BE49-F238E27FC236}">
                <a16:creationId xmlns:a16="http://schemas.microsoft.com/office/drawing/2014/main" id="{CFA72878-1ED5-AD05-547F-C4092B84F805}"/>
              </a:ext>
            </a:extLst>
          </p:cNvPr>
          <p:cNvSpPr/>
          <p:nvPr/>
        </p:nvSpPr>
        <p:spPr>
          <a:xfrm>
            <a:off x="5046573" y="1621632"/>
            <a:ext cx="15949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CSS</a:t>
            </a:r>
            <a:endParaRPr lang="en-US" sz="1850" dirty="0"/>
          </a:p>
        </p:txBody>
      </p:sp>
      <p:pic>
        <p:nvPicPr>
          <p:cNvPr id="35" name="Image 3" descr="preencoded.png">
            <a:extLst>
              <a:ext uri="{FF2B5EF4-FFF2-40B4-BE49-F238E27FC236}">
                <a16:creationId xmlns:a16="http://schemas.microsoft.com/office/drawing/2014/main" id="{14804263-6083-19EF-12BD-7FA7E849A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9488" y="1432620"/>
            <a:ext cx="1972915" cy="1996380"/>
          </a:xfrm>
          <a:prstGeom prst="rect">
            <a:avLst/>
          </a:prstGeom>
        </p:spPr>
      </p:pic>
      <p:sp>
        <p:nvSpPr>
          <p:cNvPr id="36" name="Text 6">
            <a:extLst>
              <a:ext uri="{FF2B5EF4-FFF2-40B4-BE49-F238E27FC236}">
                <a16:creationId xmlns:a16="http://schemas.microsoft.com/office/drawing/2014/main" id="{36730B40-C5A5-414C-0B1E-6783F691AE16}"/>
              </a:ext>
            </a:extLst>
          </p:cNvPr>
          <p:cNvSpPr/>
          <p:nvPr/>
        </p:nvSpPr>
        <p:spPr>
          <a:xfrm>
            <a:off x="7208495" y="1621632"/>
            <a:ext cx="15949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JavaScript</a:t>
            </a:r>
            <a:endParaRPr lang="en-US" sz="185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77B6DF-9E04-EE2F-749B-CAA060D2D3E7}"/>
              </a:ext>
            </a:extLst>
          </p:cNvPr>
          <p:cNvSpPr txBox="1"/>
          <p:nvPr/>
        </p:nvSpPr>
        <p:spPr>
          <a:xfrm>
            <a:off x="2695643" y="2105918"/>
            <a:ext cx="1972915" cy="956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6000"/>
              </a:lnSpc>
            </a:pPr>
            <a:r>
              <a:rPr lang="en-IN" sz="9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Semantic HTML5 elements create the foundation of the </a:t>
            </a:r>
            <a:r>
              <a:rPr lang="en-IN" sz="900" dirty="0" err="1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BookVerse</a:t>
            </a:r>
            <a:r>
              <a:rPr lang="en-IN" sz="9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 interface, including pages, forms, navigation, and book information.</a:t>
            </a:r>
          </a:p>
          <a:p>
            <a:pPr>
              <a:lnSpc>
                <a:spcPct val="126000"/>
              </a:lnSpc>
            </a:pPr>
            <a:endParaRPr lang="en-US" sz="900" dirty="0">
              <a:solidFill>
                <a:srgbClr val="746558"/>
              </a:solidFill>
              <a:latin typeface="Gelasio" pitchFamily="34" charset="0"/>
              <a:cs typeface="Gelasio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DCC45E-A369-D78D-E383-EBCB7BE446D6}"/>
              </a:ext>
            </a:extLst>
          </p:cNvPr>
          <p:cNvSpPr txBox="1"/>
          <p:nvPr/>
        </p:nvSpPr>
        <p:spPr>
          <a:xfrm>
            <a:off x="4857566" y="2105919"/>
            <a:ext cx="1972915" cy="956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6000"/>
              </a:lnSpc>
            </a:pPr>
            <a:r>
              <a:rPr lang="en-IN" sz="9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CSS provides the responsive layouts, typography, dark library aesthetic, cards, buttons, animations, and overall visual styling.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CB0BCB-0048-EA5C-D8C5-C8209E78C5E1}"/>
              </a:ext>
            </a:extLst>
          </p:cNvPr>
          <p:cNvSpPr txBox="1"/>
          <p:nvPr/>
        </p:nvSpPr>
        <p:spPr>
          <a:xfrm>
            <a:off x="7019487" y="2105917"/>
            <a:ext cx="1972915" cy="956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6000"/>
              </a:lnSpc>
            </a:pPr>
            <a:r>
              <a:rPr lang="en-IN" sz="900" dirty="0">
                <a:solidFill>
                  <a:srgbClr val="746558"/>
                </a:solidFill>
                <a:latin typeface="Gelasio" pitchFamily="34" charset="0"/>
                <a:cs typeface="Gelasio" pitchFamily="34" charset="-120"/>
              </a:rPr>
              <a:t>JavaScript powers dynamic features such as book search, filtering, issuing, returning, user interactions, validation, and dashboard updates.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2C85C653-21D0-8F64-5CBC-35D1FCAEF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27" y="3796052"/>
            <a:ext cx="3988733" cy="298412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0C22446C-FA1B-3947-92C2-7DD287828A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7781" y="3796053"/>
            <a:ext cx="3746459" cy="2984127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840847E5-982A-D764-2F76-905D939A6C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7117" y="3674990"/>
            <a:ext cx="3516025" cy="312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617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618728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A Smarter Library Starts Here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083495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BookVerse transforms traditional library operations into a simple, organized, and modern digital experience.</a:t>
            </a:r>
            <a:endParaRPr lang="en-US" sz="1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3360" y="2900958"/>
            <a:ext cx="1972915" cy="19963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22367" y="3089970"/>
            <a:ext cx="15949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Discover.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5422367" y="3498652"/>
            <a:ext cx="1594902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Find books faster with intelligent cataloging.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95283" y="2900958"/>
            <a:ext cx="1972915" cy="19963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584290" y="3089970"/>
            <a:ext cx="15949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Manage.</a:t>
            </a:r>
            <a:endParaRPr lang="en-US" sz="1850" dirty="0"/>
          </a:p>
        </p:txBody>
      </p:sp>
      <p:sp>
        <p:nvSpPr>
          <p:cNvPr id="10" name="Text 5"/>
          <p:cNvSpPr/>
          <p:nvPr/>
        </p:nvSpPr>
        <p:spPr>
          <a:xfrm>
            <a:off x="7584290" y="3498652"/>
            <a:ext cx="15949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Streamline operations with reliable tools for staff.</a:t>
            </a:r>
            <a:endParaRPr lang="en-US" sz="14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57205" y="2900958"/>
            <a:ext cx="1972915" cy="19963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746212" y="3089970"/>
            <a:ext cx="159490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746558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Borrow.</a:t>
            </a:r>
            <a:endParaRPr lang="en-US" sz="1850" dirty="0"/>
          </a:p>
        </p:txBody>
      </p:sp>
      <p:sp>
        <p:nvSpPr>
          <p:cNvPr id="13" name="Text 7"/>
          <p:cNvSpPr/>
          <p:nvPr/>
        </p:nvSpPr>
        <p:spPr>
          <a:xfrm>
            <a:off x="9746212" y="3498652"/>
            <a:ext cx="15949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Deliver a seamless experience for members and students.</a:t>
            </a:r>
            <a:endParaRPr lang="en-US" sz="1450" dirty="0"/>
          </a:p>
        </p:txBody>
      </p:sp>
      <p:sp>
        <p:nvSpPr>
          <p:cNvPr id="14" name="Text 8"/>
          <p:cNvSpPr/>
          <p:nvPr/>
        </p:nvSpPr>
        <p:spPr>
          <a:xfrm>
            <a:off x="5233360" y="5180806"/>
            <a:ext cx="6296860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50" dirty="0">
                <a:solidFill>
                  <a:srgbClr val="484237"/>
                </a:solidFill>
                <a:latin typeface="Gelasio SemiBold" pitchFamily="34" charset="0"/>
                <a:ea typeface="Gelasio SemiBold" pitchFamily="34" charset="-122"/>
                <a:cs typeface="Gelasio SemiBold" pitchFamily="34" charset="-120"/>
              </a:rPr>
              <a:t>BOOKVERSE</a:t>
            </a:r>
            <a:endParaRPr lang="en-US" sz="2950" dirty="0"/>
          </a:p>
        </p:txBody>
      </p:sp>
      <p:sp>
        <p:nvSpPr>
          <p:cNvPr id="15" name="Text 9"/>
          <p:cNvSpPr/>
          <p:nvPr/>
        </p:nvSpPr>
        <p:spPr>
          <a:xfrm>
            <a:off x="4928568" y="5936754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50" dirty="0">
                <a:solidFill>
                  <a:srgbClr val="746558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Thank You</a:t>
            </a:r>
            <a:endParaRPr lang="en-US" sz="14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FA9415-573D-DDEB-D69E-B99430BE54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082391" y="6493267"/>
            <a:ext cx="1109609" cy="364733"/>
          </a:xfrm>
          <a:prstGeom prst="rect">
            <a:avLst/>
          </a:prstGeom>
          <a:solidFill>
            <a:srgbClr val="F9F6F0"/>
          </a:solidFill>
          <a:ln>
            <a:solidFill>
              <a:srgbClr val="F9F6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897</Words>
  <Application>Microsoft Macintosh PowerPoint</Application>
  <PresentationFormat>Widescreen</PresentationFormat>
  <Paragraphs>151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Gelasio SemiBold</vt:lpstr>
      <vt:lpstr>Arial</vt:lpstr>
      <vt:lpstr>Gelasio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Agrim Joshi</cp:lastModifiedBy>
  <cp:revision>5</cp:revision>
  <dcterms:created xsi:type="dcterms:W3CDTF">2026-08-23T06:20:36Z</dcterms:created>
  <dcterms:modified xsi:type="dcterms:W3CDTF">2026-08-26T08:56:32Z</dcterms:modified>
</cp:coreProperties>
</file>