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7f292e5-19c7-a727-ee24-6ceaf71bbe17}">
          <p14:sldIdLst>
            <p14:sldId id="256"/>
            <p14:sldId id="257"/>
            <p14:sldId id="258"/>
          </p14:sldIdLst>
        </p14:section>
        <p14:section name="How it works" id="{f29df991-ec4c-224e-bb22-3009fa702b71}">
          <p14:sldIdLst>
            <p14:sldId id="259"/>
            <p14:sldId id="260"/>
            <p14:sldId id="261"/>
          </p14:sldIdLst>
        </p14:section>
        <p14:section name="Under the hood" id="{7ec316fc-70e6-69d6-ee9f-ae00700275a2}">
          <p14:sldIdLst>
            <p14:sldId id="262"/>
            <p14:sldId id="263"/>
            <p14:sldId id="264"/>
            <p14:sldId id="265"/>
            <p14:sldId id="266"/>
            <p14:sldId id="267"/>
          </p14:sldIdLst>
        </p14:section>
        <p14:section name="Results" id="{825e511e-73f7-6b94-2c5c-92c7bcef1bc8}">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BookVerse, a library management web app we built as our project. The idea in one line: everything that happens at a library, from searching for a book to returning it, happens in one app. The shelf on the right shows that journey: a student searches, finds the book and its shelf, and takes it home from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college libraries run on one of two things. A paper register: every loan is a handwritten line, fines are counted by hand, and finding who has a book means flipping pages. Or an Excel sheet: faster to type, but anyone can change any row, nothing stops a fifth book or a missed due date, and copies on different computers go out of sync. BookVerse fixes both: loans are recorded with the rules checked, fines are calculated for you, and everyone works on one shared library with their own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BookVerse is a single web app with four kinds of visitor. Each role sees its own pages, but all of them read and write the same library data in the middle. That is what removes the paper: when a librarian issues a book, the student and the admin see it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student journey. A student registers, solving a captcha, and an admin approves the account. They search, open a book page and reserve it, collect it at the desk, and have 14 days to return it, with one renewal allowed. The rules in the grey panel are not just text; the app enforces them, and the admin can change them in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signed-in roles each get their own area of the site. Students handle their own borrowing, librarians run the desk, and the admin runs the library: the catalog, people, rules and inbox. Staff cannot register themselves; an admin creates them with a temporary password that must be changed at first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code is organised. Pages never touch storage directly; they call the context, which calls our small API layer. That layer behaves like a server: it checks who is signed in, validates input, applies the library rules from engine.js and writes the tables to localStorage. Because every call returns a Promise, the pages can later be pointed at a real server with almost no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role cards on the login page and the code behind them. In the router, RequireRole sends anyone with the wrong role back to login, and sends a reset account to set a new password. The API checks the role a second time, so even a hand-crafted request cannot do something the role is not allowed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canIssue is one pure function that every issue screen uses. It returns ok or a reason. On the right, the librarian picked Kabir, who has an overdue book, so the summary shows the reason and the Confirm button stays disabled. The same function checks the borrowing limit from Settings and whether a copy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librarian view of a book with one copy. Riya has it, and Arjun and Kabir are waiting in order. waitingFor sorts the waiting reservations by date. When Riya returns the book, promoteWaiting gives it to Arjun and holds it for three days. Note: the code is slightly shortened for the slide, shown by the ellipses.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three parts. One list of rules drives both the live checklist you see on the right and the server-side check, so they can never disagree. Passwords are hashed with bcrypt and only the hash is stored. When an admin resets a password, the account is flagged, and the person lands on this Set password page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topics we were asked to cover. Promises: every API call returns a Promise. request wraps the work in a 300 millisecond delay, like a network trip, and resolves or rejects. The page awaits it, shows Reserving while pending, and shows the error if it rejects. CAPTCHA: the four public forms show a picture of five characters. The answer stays in memory, each challenge can be tried only once and expires after five minutes. Since there is no real server, it stops casual spam, not a determined attacker, and we say so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Forgot password on the login page now creates a message in the admin Inbox instead of sending people to the contact page. The code checks the captcha, finds the matching account and stores a message of kind reset. In the Inbox, the admin sees the account and resets it with one button, which forces the person to choose a new password at next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comparison with the two things a library would use without us: a paper register and a shared spreadsheet. The register cannot check anything. The spreadsheet can store rows but has no rules, no roles and no queue. BookVerse does each of these for you, which is the main outcome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page is responsive, and the navbar is the clearest example. One small React hook, useMobileMenu, holds whether the menu is open and closes it whenever you move to another page. The layout adds an active class from that hook, and the CSS does the rest: under 700 pixels wide the links are hidden behind the menu button, and when active they stack in a column, as in the two phone screenshots. The same hook is reused by the public, student, librarian and admin navbars.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BookVerse puts the whole library in one place, enforces the rules in code instead of relying on memory, and is secure by design. The next steps would be a real server and database, real email reminders and barcode scanning, which are proposals, not built yet.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6457950"/>
            <a:ext cx="1905000" cy="171450"/>
          </a:xfrm>
          <a:prstGeom prst="rect">
            <a:avLst/>
          </a:prstGeom>
          <a:noFill/>
          <a:ln/>
        </p:spPr>
        <p:txBody>
          <a:bodyPr wrap="square" lIns="0" tIns="0" rIns="0" bIns="0" rtlCol="0" anchor="t"/>
          <a:lstStyle/>
          <a:p>
            <a:pPr indent="0" marL="0">
              <a:buNone/>
            </a:pPr>
            <a:r>
              <a:rPr lang="en-US" sz="900" b="1" dirty="0">
                <a:solidFill>
                  <a:srgbClr val="000000"/>
                </a:solidFill>
                <a:latin typeface="Manrope" pitchFamily="34" charset="0"/>
                <a:ea typeface="Manrope" pitchFamily="34" charset="-122"/>
                <a:cs typeface="Manrope" pitchFamily="34" charset="-120"/>
              </a:rPr>
              <a:t>BookVerse</a:t>
            </a:r>
            <a:endParaRPr lang="en-US" sz="900" dirty="0"/>
          </a:p>
        </p:txBody>
      </p:sp>
      <p:sp>
        <p:nvSpPr>
          <p:cNvPr id="3" name="Shape 1"/>
          <p:cNvSpPr/>
          <p:nvPr/>
        </p:nvSpPr>
        <p:spPr>
          <a:xfrm>
            <a:off x="11430000" y="6400800"/>
            <a:ext cx="228600" cy="228600"/>
          </a:xfrm>
          <a:prstGeom prst="rect">
            <a:avLst/>
          </a:prstGeom>
          <a:solidFill>
            <a:srgbClr val="000000"/>
          </a:solidFill>
          <a:ln w="12700">
            <a:solidFill>
              <a:srgbClr val="000000"/>
            </a:solidFill>
            <a:prstDash val="solid"/>
          </a:ln>
        </p:spPr>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mpany"/>
          <p:cNvSpPr txBox="1"/>
          <p:nvPr/>
        </p:nvSpPr>
        <p:spPr>
          <a:xfrm>
            <a:off x="533400" y="457200"/>
            <a:ext cx="3810000" cy="323850"/>
          </a:xfrm>
          <a:prstGeom prst="rect">
            <a:avLst/>
          </a:prstGeom>
          <a:noFill/>
          <a:ln/>
        </p:spPr>
        <p:txBody>
          <a:bodyPr wrap="square" lIns="0" tIns="0" rIns="0" bIns="0" rtlCol="0" anchor="t"/>
          <a:lstStyle/>
          <a:p>
            <a:pPr algn="l" indent="0" marL="0">
              <a:lnSpc>
                <a:spcPts val="2160"/>
              </a:lnSpc>
              <a:buNone/>
            </a:pPr>
            <a:r>
              <a:rPr lang="en-US" sz="1800" b="1" spc="-36" kern="0" dirty="0">
                <a:solidFill>
                  <a:srgbClr val="000000"/>
                </a:solidFill>
                <a:latin typeface="Manrope" pitchFamily="34" charset="0"/>
                <a:ea typeface="Manrope" pitchFamily="34" charset="-122"/>
                <a:cs typeface="Manrope" pitchFamily="34" charset="-120"/>
              </a:rPr>
              <a:t>BookVerse</a:t>
            </a:r>
            <a:endParaRPr lang="en-US" sz="1800" dirty="0"/>
          </a:p>
        </p:txBody>
      </p:sp>
      <p:sp>
        <p:nvSpPr>
          <p:cNvPr id="3" name="Headline"/>
          <p:cNvSpPr txBox="1"/>
          <p:nvPr/>
        </p:nvSpPr>
        <p:spPr>
          <a:xfrm>
            <a:off x="533400" y="1866900"/>
            <a:ext cx="5905500" cy="1238250"/>
          </a:xfrm>
          <a:prstGeom prst="rect">
            <a:avLst/>
          </a:prstGeom>
          <a:noFill/>
          <a:ln/>
        </p:spPr>
        <p:txBody>
          <a:bodyPr wrap="square" lIns="0" tIns="0" rIns="0" bIns="0" rtlCol="0" anchor="t"/>
          <a:lstStyle/>
          <a:p>
            <a:pPr algn="l" indent="0" marL="0">
              <a:lnSpc>
                <a:spcPts val="4125"/>
              </a:lnSpc>
              <a:buNone/>
            </a:pPr>
            <a:r>
              <a:rPr lang="en-US" sz="3750" b="1" spc="-75" kern="0" dirty="0">
                <a:solidFill>
                  <a:srgbClr val="000000"/>
                </a:solidFill>
                <a:latin typeface="Manrope" pitchFamily="34" charset="0"/>
                <a:ea typeface="Manrope" pitchFamily="34" charset="-122"/>
                <a:cs typeface="Manrope" pitchFamily="34" charset="-120"/>
              </a:rPr>
              <a:t>Every library visit, in one simple app</a:t>
            </a:r>
            <a:endParaRPr lang="en-US" sz="3750" dirty="0"/>
          </a:p>
        </p:txBody>
      </p:sp>
      <p:sp>
        <p:nvSpPr>
          <p:cNvPr id="4" name="Text 2"/>
          <p:cNvSpPr txBox="1"/>
          <p:nvPr/>
        </p:nvSpPr>
        <p:spPr>
          <a:xfrm>
            <a:off x="533400" y="3276600"/>
            <a:ext cx="5334000" cy="666750"/>
          </a:xfrm>
          <a:prstGeom prst="rect">
            <a:avLst/>
          </a:prstGeom>
          <a:noFill/>
          <a:ln/>
        </p:spPr>
        <p:txBody>
          <a:bodyPr wrap="square" lIns="0" tIns="0" rIns="0" bIns="0" rtlCol="0" anchor="t"/>
          <a:lstStyle/>
          <a:p>
            <a:pPr algn="l" indent="0" marL="0">
              <a:lnSpc>
                <a:spcPts val="1740"/>
              </a:lnSpc>
              <a:buNone/>
            </a:pPr>
            <a:r>
              <a:rPr lang="en-US" sz="1200" dirty="0">
                <a:solidFill>
                  <a:srgbClr val="545454"/>
                </a:solidFill>
                <a:latin typeface="Manrope" pitchFamily="34" charset="0"/>
                <a:ea typeface="Manrope" pitchFamily="34" charset="-122"/>
                <a:cs typeface="Manrope" pitchFamily="34" charset="-120"/>
              </a:rPr>
              <a:t>A library management web app where students, librarians and admins share one catalog, one set of loans and one inbox.</a:t>
            </a:r>
            <a:endParaRPr lang="en-US" sz="1200" dirty="0"/>
          </a:p>
        </p:txBody>
      </p:sp>
      <p:sp>
        <p:nvSpPr>
          <p:cNvPr id="5" name="Text 3"/>
          <p:cNvSpPr txBox="1"/>
          <p:nvPr/>
        </p:nvSpPr>
        <p:spPr>
          <a:xfrm>
            <a:off x="533400" y="5562600"/>
            <a:ext cx="38100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PRESENTED BY</a:t>
            </a:r>
            <a:endParaRPr lang="en-US" sz="900" dirty="0"/>
          </a:p>
        </p:txBody>
      </p:sp>
      <p:sp>
        <p:nvSpPr>
          <p:cNvPr id="6" name="Text 4"/>
          <p:cNvSpPr txBox="1"/>
          <p:nvPr/>
        </p:nvSpPr>
        <p:spPr>
          <a:xfrm>
            <a:off x="533400" y="5772150"/>
            <a:ext cx="1809750" cy="190500"/>
          </a:xfrm>
          <a:prstGeom prst="rect">
            <a:avLst/>
          </a:prstGeom>
          <a:noFill/>
          <a:ln/>
        </p:spPr>
        <p:txBody>
          <a:bodyPr wrap="square" lIns="0" tIns="0" rIns="0" bIns="0" rtlCol="0" anchor="t"/>
          <a:lstStyle/>
          <a:p>
            <a:pPr algn="l" indent="0" marL="0">
              <a:lnSpc>
                <a:spcPts val="1365"/>
              </a:lnSpc>
              <a:buNone/>
            </a:pPr>
            <a:r>
              <a:rPr lang="en-US" sz="1050" b="1" dirty="0">
                <a:solidFill>
                  <a:srgbClr val="000000"/>
                </a:solidFill>
                <a:latin typeface="Manrope" pitchFamily="34" charset="0"/>
                <a:ea typeface="Manrope" pitchFamily="34" charset="-122"/>
                <a:cs typeface="Manrope" pitchFamily="34" charset="-120"/>
              </a:rPr>
              <a:t>Anveer Singh Sandhu</a:t>
            </a:r>
            <a:endParaRPr lang="en-US" sz="1050" dirty="0"/>
          </a:p>
        </p:txBody>
      </p:sp>
      <p:sp>
        <p:nvSpPr>
          <p:cNvPr id="7" name="Text 5"/>
          <p:cNvSpPr txBox="1"/>
          <p:nvPr/>
        </p:nvSpPr>
        <p:spPr>
          <a:xfrm>
            <a:off x="533400" y="5981700"/>
            <a:ext cx="1809750" cy="171450"/>
          </a:xfrm>
          <a:prstGeom prst="rect">
            <a:avLst/>
          </a:prstGeom>
          <a:noFill/>
          <a:ln/>
        </p:spPr>
        <p:txBody>
          <a:bodyPr wrap="square" lIns="0" tIns="0" rIns="0" bIns="0" rtlCol="0" anchor="t"/>
          <a:lstStyle/>
          <a:p>
            <a:pPr algn="l" indent="0" marL="0">
              <a:lnSpc>
                <a:spcPts val="1215"/>
              </a:lnSpc>
              <a:buNone/>
            </a:pPr>
            <a:r>
              <a:rPr lang="en-US" sz="900" dirty="0">
                <a:solidFill>
                  <a:srgbClr val="757575"/>
                </a:solidFill>
                <a:latin typeface="Manrope" pitchFamily="34" charset="0"/>
                <a:ea typeface="Manrope" pitchFamily="34" charset="-122"/>
                <a:cs typeface="Manrope" pitchFamily="34" charset="-120"/>
              </a:rPr>
              <a:t>2510992756</a:t>
            </a:r>
            <a:endParaRPr lang="en-US" sz="900" dirty="0"/>
          </a:p>
        </p:txBody>
      </p:sp>
      <p:sp>
        <p:nvSpPr>
          <p:cNvPr id="8" name="Text 6"/>
          <p:cNvSpPr txBox="1"/>
          <p:nvPr/>
        </p:nvSpPr>
        <p:spPr>
          <a:xfrm>
            <a:off x="2438400" y="5772150"/>
            <a:ext cx="1619250" cy="190500"/>
          </a:xfrm>
          <a:prstGeom prst="rect">
            <a:avLst/>
          </a:prstGeom>
          <a:noFill/>
          <a:ln/>
        </p:spPr>
        <p:txBody>
          <a:bodyPr wrap="square" lIns="0" tIns="0" rIns="0" bIns="0" rtlCol="0" anchor="t"/>
          <a:lstStyle/>
          <a:p>
            <a:pPr algn="l" indent="0" marL="0">
              <a:lnSpc>
                <a:spcPts val="1365"/>
              </a:lnSpc>
              <a:buNone/>
            </a:pPr>
            <a:r>
              <a:rPr lang="en-US" sz="1050" b="1" dirty="0">
                <a:solidFill>
                  <a:srgbClr val="000000"/>
                </a:solidFill>
                <a:latin typeface="Manrope" pitchFamily="34" charset="0"/>
                <a:ea typeface="Manrope" pitchFamily="34" charset="-122"/>
                <a:cs typeface="Manrope" pitchFamily="34" charset="-120"/>
              </a:rPr>
              <a:t>Ayush Sharma</a:t>
            </a:r>
            <a:endParaRPr lang="en-US" sz="1050" dirty="0"/>
          </a:p>
        </p:txBody>
      </p:sp>
      <p:sp>
        <p:nvSpPr>
          <p:cNvPr id="9" name="Text 7"/>
          <p:cNvSpPr txBox="1"/>
          <p:nvPr/>
        </p:nvSpPr>
        <p:spPr>
          <a:xfrm>
            <a:off x="2438400" y="5981700"/>
            <a:ext cx="1619250" cy="171450"/>
          </a:xfrm>
          <a:prstGeom prst="rect">
            <a:avLst/>
          </a:prstGeom>
          <a:noFill/>
          <a:ln/>
        </p:spPr>
        <p:txBody>
          <a:bodyPr wrap="square" lIns="0" tIns="0" rIns="0" bIns="0" rtlCol="0" anchor="t"/>
          <a:lstStyle/>
          <a:p>
            <a:pPr algn="l" indent="0" marL="0">
              <a:lnSpc>
                <a:spcPts val="1215"/>
              </a:lnSpc>
              <a:buNone/>
            </a:pPr>
            <a:r>
              <a:rPr lang="en-US" sz="900" dirty="0">
                <a:solidFill>
                  <a:srgbClr val="757575"/>
                </a:solidFill>
                <a:latin typeface="Manrope" pitchFamily="34" charset="0"/>
                <a:ea typeface="Manrope" pitchFamily="34" charset="-122"/>
                <a:cs typeface="Manrope" pitchFamily="34" charset="-120"/>
              </a:rPr>
              <a:t>2510992832</a:t>
            </a:r>
            <a:endParaRPr lang="en-US" sz="900" dirty="0"/>
          </a:p>
        </p:txBody>
      </p:sp>
      <p:sp>
        <p:nvSpPr>
          <p:cNvPr id="10" name="Text 8"/>
          <p:cNvSpPr txBox="1"/>
          <p:nvPr/>
        </p:nvSpPr>
        <p:spPr>
          <a:xfrm>
            <a:off x="4152900" y="5772150"/>
            <a:ext cx="1619250" cy="190500"/>
          </a:xfrm>
          <a:prstGeom prst="rect">
            <a:avLst/>
          </a:prstGeom>
          <a:noFill/>
          <a:ln/>
        </p:spPr>
        <p:txBody>
          <a:bodyPr wrap="square" lIns="0" tIns="0" rIns="0" bIns="0" rtlCol="0" anchor="t"/>
          <a:lstStyle/>
          <a:p>
            <a:pPr algn="l" indent="0" marL="0">
              <a:lnSpc>
                <a:spcPts val="1365"/>
              </a:lnSpc>
              <a:buNone/>
            </a:pPr>
            <a:r>
              <a:rPr lang="en-US" sz="1050" b="1" dirty="0">
                <a:solidFill>
                  <a:srgbClr val="000000"/>
                </a:solidFill>
                <a:latin typeface="Manrope" pitchFamily="34" charset="0"/>
                <a:ea typeface="Manrope" pitchFamily="34" charset="-122"/>
                <a:cs typeface="Manrope" pitchFamily="34" charset="-120"/>
              </a:rPr>
              <a:t>Agrim Joshi</a:t>
            </a:r>
            <a:endParaRPr lang="en-US" sz="1050" dirty="0"/>
          </a:p>
        </p:txBody>
      </p:sp>
      <p:sp>
        <p:nvSpPr>
          <p:cNvPr id="11" name="Text 9"/>
          <p:cNvSpPr txBox="1"/>
          <p:nvPr/>
        </p:nvSpPr>
        <p:spPr>
          <a:xfrm>
            <a:off x="4152900" y="5981700"/>
            <a:ext cx="1619250" cy="171450"/>
          </a:xfrm>
          <a:prstGeom prst="rect">
            <a:avLst/>
          </a:prstGeom>
          <a:noFill/>
          <a:ln/>
        </p:spPr>
        <p:txBody>
          <a:bodyPr wrap="square" lIns="0" tIns="0" rIns="0" bIns="0" rtlCol="0" anchor="t"/>
          <a:lstStyle/>
          <a:p>
            <a:pPr algn="l" indent="0" marL="0">
              <a:lnSpc>
                <a:spcPts val="1215"/>
              </a:lnSpc>
              <a:buNone/>
            </a:pPr>
            <a:r>
              <a:rPr lang="en-US" sz="900" dirty="0">
                <a:solidFill>
                  <a:srgbClr val="757575"/>
                </a:solidFill>
                <a:latin typeface="Manrope" pitchFamily="34" charset="0"/>
                <a:ea typeface="Manrope" pitchFamily="34" charset="-122"/>
                <a:cs typeface="Manrope" pitchFamily="34" charset="-120"/>
              </a:rPr>
              <a:t>2510992925</a:t>
            </a:r>
            <a:endParaRPr lang="en-US" sz="900" dirty="0"/>
          </a:p>
        </p:txBody>
      </p:sp>
      <p:sp>
        <p:nvSpPr>
          <p:cNvPr id="12" name="Shelf panel"/>
          <p:cNvSpPr/>
          <p:nvPr/>
        </p:nvSpPr>
        <p:spPr>
          <a:xfrm>
            <a:off x="6705600" y="0"/>
            <a:ext cx="5486400" cy="6858000"/>
          </a:xfrm>
          <a:prstGeom prst="rect">
            <a:avLst/>
          </a:prstGeom>
          <a:solidFill>
            <a:srgbClr val="000000"/>
          </a:solidFill>
          <a:ln w="12700">
            <a:solidFill>
              <a:srgbClr val="000000">
                <a:alpha val="0"/>
              </a:srgbClr>
            </a:solidFill>
            <a:prstDash val="solid"/>
          </a:ln>
        </p:spPr>
      </p:sp>
      <p:sp>
        <p:nvSpPr>
          <p:cNvPr id="13" name="Book spine"/>
          <p:cNvSpPr/>
          <p:nvPr/>
        </p:nvSpPr>
        <p:spPr>
          <a:xfrm>
            <a:off x="7124700" y="952500"/>
            <a:ext cx="209550" cy="1333500"/>
          </a:xfrm>
          <a:prstGeom prst="rect">
            <a:avLst/>
          </a:prstGeom>
          <a:solidFill>
            <a:srgbClr val="262626"/>
          </a:solidFill>
          <a:ln w="12700">
            <a:solidFill>
              <a:srgbClr val="262626">
                <a:alpha val="0"/>
              </a:srgbClr>
            </a:solidFill>
            <a:prstDash val="solid"/>
          </a:ln>
        </p:spPr>
      </p:sp>
      <p:sp>
        <p:nvSpPr>
          <p:cNvPr id="14" name="Book spine"/>
          <p:cNvSpPr/>
          <p:nvPr/>
        </p:nvSpPr>
        <p:spPr>
          <a:xfrm>
            <a:off x="7372350" y="1104900"/>
            <a:ext cx="285750" cy="1181100"/>
          </a:xfrm>
          <a:prstGeom prst="rect">
            <a:avLst/>
          </a:prstGeom>
          <a:solidFill>
            <a:srgbClr val="545454"/>
          </a:solidFill>
          <a:ln w="12700">
            <a:solidFill>
              <a:srgbClr val="545454">
                <a:alpha val="0"/>
              </a:srgbClr>
            </a:solidFill>
            <a:prstDash val="solid"/>
          </a:ln>
        </p:spPr>
      </p:sp>
      <p:sp>
        <p:nvSpPr>
          <p:cNvPr id="15" name="Spine band"/>
          <p:cNvSpPr/>
          <p:nvPr/>
        </p:nvSpPr>
        <p:spPr>
          <a:xfrm>
            <a:off x="7410450" y="1257300"/>
            <a:ext cx="209550" cy="38100"/>
          </a:xfrm>
          <a:prstGeom prst="rect">
            <a:avLst/>
          </a:prstGeom>
          <a:solidFill>
            <a:srgbClr val="000000"/>
          </a:solidFill>
          <a:ln w="12700">
            <a:solidFill>
              <a:srgbClr val="000000">
                <a:alpha val="0"/>
              </a:srgbClr>
            </a:solidFill>
            <a:prstDash val="solid"/>
          </a:ln>
        </p:spPr>
      </p:sp>
      <p:sp>
        <p:nvSpPr>
          <p:cNvPr id="16" name="Book spine"/>
          <p:cNvSpPr/>
          <p:nvPr/>
        </p:nvSpPr>
        <p:spPr>
          <a:xfrm>
            <a:off x="7696200" y="857250"/>
            <a:ext cx="171450" cy="1428750"/>
          </a:xfrm>
          <a:prstGeom prst="rect">
            <a:avLst/>
          </a:prstGeom>
          <a:solidFill>
            <a:srgbClr val="262626"/>
          </a:solidFill>
          <a:ln w="12700">
            <a:solidFill>
              <a:srgbClr val="262626">
                <a:alpha val="0"/>
              </a:srgbClr>
            </a:solidFill>
            <a:prstDash val="solid"/>
          </a:ln>
        </p:spPr>
      </p:sp>
      <p:sp>
        <p:nvSpPr>
          <p:cNvPr id="17" name="Book spine"/>
          <p:cNvSpPr/>
          <p:nvPr/>
        </p:nvSpPr>
        <p:spPr>
          <a:xfrm>
            <a:off x="7905750" y="857250"/>
            <a:ext cx="247650" cy="1428750"/>
          </a:xfrm>
          <a:prstGeom prst="rect">
            <a:avLst/>
          </a:prstGeom>
          <a:solidFill>
            <a:srgbClr val="757575"/>
          </a:solidFill>
          <a:ln w="12700">
            <a:solidFill>
              <a:srgbClr val="757575">
                <a:alpha val="0"/>
              </a:srgbClr>
            </a:solidFill>
            <a:prstDash val="solid"/>
          </a:ln>
        </p:spPr>
      </p:sp>
      <p:sp>
        <p:nvSpPr>
          <p:cNvPr id="18" name="Book spine"/>
          <p:cNvSpPr/>
          <p:nvPr/>
        </p:nvSpPr>
        <p:spPr>
          <a:xfrm>
            <a:off x="8191500" y="990600"/>
            <a:ext cx="323850" cy="1295400"/>
          </a:xfrm>
          <a:prstGeom prst="rect">
            <a:avLst/>
          </a:prstGeom>
          <a:solidFill>
            <a:srgbClr val="262626"/>
          </a:solidFill>
          <a:ln w="12700">
            <a:solidFill>
              <a:srgbClr val="262626">
                <a:alpha val="0"/>
              </a:srgbClr>
            </a:solidFill>
            <a:prstDash val="solid"/>
          </a:ln>
        </p:spPr>
      </p:sp>
      <p:sp>
        <p:nvSpPr>
          <p:cNvPr id="19" name="Book spine"/>
          <p:cNvSpPr/>
          <p:nvPr/>
        </p:nvSpPr>
        <p:spPr>
          <a:xfrm>
            <a:off x="8553450" y="971550"/>
            <a:ext cx="190500" cy="1314450"/>
          </a:xfrm>
          <a:prstGeom prst="rect">
            <a:avLst/>
          </a:prstGeom>
          <a:solidFill>
            <a:srgbClr val="545454"/>
          </a:solidFill>
          <a:ln w="12700">
            <a:solidFill>
              <a:srgbClr val="545454">
                <a:alpha val="0"/>
              </a:srgbClr>
            </a:solidFill>
            <a:prstDash val="solid"/>
          </a:ln>
        </p:spPr>
      </p:sp>
      <p:sp>
        <p:nvSpPr>
          <p:cNvPr id="20" name="Spine band"/>
          <p:cNvSpPr/>
          <p:nvPr/>
        </p:nvSpPr>
        <p:spPr>
          <a:xfrm>
            <a:off x="8591550" y="1123950"/>
            <a:ext cx="114300" cy="38100"/>
          </a:xfrm>
          <a:prstGeom prst="rect">
            <a:avLst/>
          </a:prstGeom>
          <a:solidFill>
            <a:srgbClr val="000000"/>
          </a:solidFill>
          <a:ln w="12700">
            <a:solidFill>
              <a:srgbClr val="000000">
                <a:alpha val="0"/>
              </a:srgbClr>
            </a:solidFill>
            <a:prstDash val="solid"/>
          </a:ln>
        </p:spPr>
      </p:sp>
      <p:sp>
        <p:nvSpPr>
          <p:cNvPr id="21" name="Book spine"/>
          <p:cNvSpPr/>
          <p:nvPr/>
        </p:nvSpPr>
        <p:spPr>
          <a:xfrm>
            <a:off x="8782050" y="895350"/>
            <a:ext cx="266700" cy="1390650"/>
          </a:xfrm>
          <a:prstGeom prst="rect">
            <a:avLst/>
          </a:prstGeom>
          <a:solidFill>
            <a:srgbClr val="AFAFAF"/>
          </a:solidFill>
          <a:ln w="12700">
            <a:solidFill>
              <a:srgbClr val="AFAFAF">
                <a:alpha val="0"/>
              </a:srgbClr>
            </a:solidFill>
            <a:prstDash val="solid"/>
          </a:ln>
        </p:spPr>
      </p:sp>
      <p:sp>
        <p:nvSpPr>
          <p:cNvPr id="22" name="Book spine"/>
          <p:cNvSpPr/>
          <p:nvPr/>
        </p:nvSpPr>
        <p:spPr>
          <a:xfrm>
            <a:off x="9086850" y="1162050"/>
            <a:ext cx="228600" cy="1123950"/>
          </a:xfrm>
          <a:prstGeom prst="rect">
            <a:avLst/>
          </a:prstGeom>
          <a:solidFill>
            <a:srgbClr val="262626"/>
          </a:solidFill>
          <a:ln w="12700">
            <a:solidFill>
              <a:srgbClr val="262626">
                <a:alpha val="0"/>
              </a:srgbClr>
            </a:solidFill>
            <a:prstDash val="solid"/>
          </a:ln>
        </p:spPr>
      </p:sp>
      <p:sp>
        <p:nvSpPr>
          <p:cNvPr id="23" name="Book spine"/>
          <p:cNvSpPr/>
          <p:nvPr/>
        </p:nvSpPr>
        <p:spPr>
          <a:xfrm>
            <a:off x="9353550" y="1028700"/>
            <a:ext cx="304800" cy="1257300"/>
          </a:xfrm>
          <a:prstGeom prst="rect">
            <a:avLst/>
          </a:prstGeom>
          <a:solidFill>
            <a:srgbClr val="545454"/>
          </a:solidFill>
          <a:ln w="12700">
            <a:solidFill>
              <a:srgbClr val="545454">
                <a:alpha val="0"/>
              </a:srgbClr>
            </a:solidFill>
            <a:prstDash val="solid"/>
          </a:ln>
        </p:spPr>
      </p:sp>
      <p:sp>
        <p:nvSpPr>
          <p:cNvPr id="24" name="Book spine"/>
          <p:cNvSpPr/>
          <p:nvPr/>
        </p:nvSpPr>
        <p:spPr>
          <a:xfrm>
            <a:off x="9696450" y="1066800"/>
            <a:ext cx="180975" cy="1219200"/>
          </a:xfrm>
          <a:prstGeom prst="rect">
            <a:avLst/>
          </a:prstGeom>
          <a:solidFill>
            <a:srgbClr val="757575"/>
          </a:solidFill>
          <a:ln w="12700">
            <a:solidFill>
              <a:srgbClr val="757575">
                <a:alpha val="0"/>
              </a:srgbClr>
            </a:solidFill>
            <a:prstDash val="solid"/>
          </a:ln>
        </p:spPr>
      </p:sp>
      <p:sp>
        <p:nvSpPr>
          <p:cNvPr id="25" name="Spine band"/>
          <p:cNvSpPr/>
          <p:nvPr/>
        </p:nvSpPr>
        <p:spPr>
          <a:xfrm>
            <a:off x="9734550" y="1219200"/>
            <a:ext cx="104775" cy="38100"/>
          </a:xfrm>
          <a:prstGeom prst="rect">
            <a:avLst/>
          </a:prstGeom>
          <a:solidFill>
            <a:srgbClr val="000000"/>
          </a:solidFill>
          <a:ln w="12700">
            <a:solidFill>
              <a:srgbClr val="000000">
                <a:alpha val="0"/>
              </a:srgbClr>
            </a:solidFill>
            <a:prstDash val="solid"/>
          </a:ln>
        </p:spPr>
      </p:sp>
      <p:sp>
        <p:nvSpPr>
          <p:cNvPr id="26" name="Book spine"/>
          <p:cNvSpPr/>
          <p:nvPr/>
        </p:nvSpPr>
        <p:spPr>
          <a:xfrm>
            <a:off x="9915525" y="1143000"/>
            <a:ext cx="257175" cy="1143000"/>
          </a:xfrm>
          <a:prstGeom prst="rect">
            <a:avLst/>
          </a:prstGeom>
          <a:solidFill>
            <a:srgbClr val="262626"/>
          </a:solidFill>
          <a:ln w="12700">
            <a:solidFill>
              <a:srgbClr val="262626">
                <a:alpha val="0"/>
              </a:srgbClr>
            </a:solidFill>
            <a:prstDash val="solid"/>
          </a:ln>
        </p:spPr>
      </p:sp>
      <p:sp>
        <p:nvSpPr>
          <p:cNvPr id="27" name="Book spine"/>
          <p:cNvSpPr/>
          <p:nvPr/>
        </p:nvSpPr>
        <p:spPr>
          <a:xfrm>
            <a:off x="10210800" y="1219200"/>
            <a:ext cx="219075" cy="1066800"/>
          </a:xfrm>
          <a:prstGeom prst="rect">
            <a:avLst/>
          </a:prstGeom>
          <a:solidFill>
            <a:srgbClr val="545454"/>
          </a:solidFill>
          <a:ln w="12700">
            <a:solidFill>
              <a:srgbClr val="545454">
                <a:alpha val="0"/>
              </a:srgbClr>
            </a:solidFill>
            <a:prstDash val="solid"/>
          </a:ln>
        </p:spPr>
      </p:sp>
      <p:sp>
        <p:nvSpPr>
          <p:cNvPr id="28" name="Book spine"/>
          <p:cNvSpPr/>
          <p:nvPr/>
        </p:nvSpPr>
        <p:spPr>
          <a:xfrm>
            <a:off x="10467975" y="952500"/>
            <a:ext cx="209550" cy="1333500"/>
          </a:xfrm>
          <a:prstGeom prst="rect">
            <a:avLst/>
          </a:prstGeom>
          <a:solidFill>
            <a:srgbClr val="262626"/>
          </a:solidFill>
          <a:ln w="12700">
            <a:solidFill>
              <a:srgbClr val="262626">
                <a:alpha val="0"/>
              </a:srgbClr>
            </a:solidFill>
            <a:prstDash val="solid"/>
          </a:ln>
        </p:spPr>
      </p:sp>
      <p:sp>
        <p:nvSpPr>
          <p:cNvPr id="29" name="Book spine"/>
          <p:cNvSpPr/>
          <p:nvPr/>
        </p:nvSpPr>
        <p:spPr>
          <a:xfrm>
            <a:off x="10715625" y="1104900"/>
            <a:ext cx="285750" cy="1181100"/>
          </a:xfrm>
          <a:prstGeom prst="rect">
            <a:avLst/>
          </a:prstGeom>
          <a:solidFill>
            <a:srgbClr val="545454"/>
          </a:solidFill>
          <a:ln w="12700">
            <a:solidFill>
              <a:srgbClr val="545454">
                <a:alpha val="0"/>
              </a:srgbClr>
            </a:solidFill>
            <a:prstDash val="solid"/>
          </a:ln>
        </p:spPr>
      </p:sp>
      <p:sp>
        <p:nvSpPr>
          <p:cNvPr id="30" name="Spine band"/>
          <p:cNvSpPr/>
          <p:nvPr/>
        </p:nvSpPr>
        <p:spPr>
          <a:xfrm>
            <a:off x="10753725" y="1257300"/>
            <a:ext cx="209550" cy="38100"/>
          </a:xfrm>
          <a:prstGeom prst="rect">
            <a:avLst/>
          </a:prstGeom>
          <a:solidFill>
            <a:srgbClr val="000000"/>
          </a:solidFill>
          <a:ln w="12700">
            <a:solidFill>
              <a:srgbClr val="000000">
                <a:alpha val="0"/>
              </a:srgbClr>
            </a:solidFill>
            <a:prstDash val="solid"/>
          </a:ln>
        </p:spPr>
      </p:sp>
      <p:sp>
        <p:nvSpPr>
          <p:cNvPr id="31" name="Book spine"/>
          <p:cNvSpPr/>
          <p:nvPr/>
        </p:nvSpPr>
        <p:spPr>
          <a:xfrm>
            <a:off x="11039475" y="857250"/>
            <a:ext cx="171450" cy="1428750"/>
          </a:xfrm>
          <a:prstGeom prst="rect">
            <a:avLst/>
          </a:prstGeom>
          <a:solidFill>
            <a:srgbClr val="262626"/>
          </a:solidFill>
          <a:ln w="12700">
            <a:solidFill>
              <a:srgbClr val="262626">
                <a:alpha val="0"/>
              </a:srgbClr>
            </a:solidFill>
            <a:prstDash val="solid"/>
          </a:ln>
        </p:spPr>
      </p:sp>
      <p:sp>
        <p:nvSpPr>
          <p:cNvPr id="32" name="Book spine"/>
          <p:cNvSpPr/>
          <p:nvPr/>
        </p:nvSpPr>
        <p:spPr>
          <a:xfrm>
            <a:off x="11249025" y="857250"/>
            <a:ext cx="247650" cy="1428750"/>
          </a:xfrm>
          <a:prstGeom prst="rect">
            <a:avLst/>
          </a:prstGeom>
          <a:solidFill>
            <a:srgbClr val="757575"/>
          </a:solidFill>
          <a:ln w="12700">
            <a:solidFill>
              <a:srgbClr val="757575">
                <a:alpha val="0"/>
              </a:srgbClr>
            </a:solidFill>
            <a:prstDash val="solid"/>
          </a:ln>
        </p:spPr>
      </p:sp>
      <p:sp>
        <p:nvSpPr>
          <p:cNvPr id="33" name="Shelf plank"/>
          <p:cNvSpPr/>
          <p:nvPr/>
        </p:nvSpPr>
        <p:spPr>
          <a:xfrm>
            <a:off x="7048500" y="2286000"/>
            <a:ext cx="4762500" cy="95250"/>
          </a:xfrm>
          <a:prstGeom prst="rect">
            <a:avLst/>
          </a:prstGeom>
          <a:solidFill>
            <a:srgbClr val="757575"/>
          </a:solidFill>
          <a:ln w="12700">
            <a:solidFill>
              <a:srgbClr val="757575">
                <a:alpha val="0"/>
              </a:srgbClr>
            </a:solidFill>
            <a:prstDash val="solid"/>
          </a:ln>
        </p:spPr>
      </p:sp>
      <p:sp>
        <p:nvSpPr>
          <p:cNvPr id="34" name="Book spine"/>
          <p:cNvSpPr/>
          <p:nvPr/>
        </p:nvSpPr>
        <p:spPr>
          <a:xfrm>
            <a:off x="7124700" y="2876550"/>
            <a:ext cx="190500" cy="1314450"/>
          </a:xfrm>
          <a:prstGeom prst="rect">
            <a:avLst/>
          </a:prstGeom>
          <a:solidFill>
            <a:srgbClr val="545454"/>
          </a:solidFill>
          <a:ln w="12700">
            <a:solidFill>
              <a:srgbClr val="545454">
                <a:alpha val="0"/>
              </a:srgbClr>
            </a:solidFill>
            <a:prstDash val="solid"/>
          </a:ln>
        </p:spPr>
      </p:sp>
      <p:sp>
        <p:nvSpPr>
          <p:cNvPr id="35" name="Spine band"/>
          <p:cNvSpPr/>
          <p:nvPr/>
        </p:nvSpPr>
        <p:spPr>
          <a:xfrm>
            <a:off x="7162800" y="3028950"/>
            <a:ext cx="114300" cy="38100"/>
          </a:xfrm>
          <a:prstGeom prst="rect">
            <a:avLst/>
          </a:prstGeom>
          <a:solidFill>
            <a:srgbClr val="000000"/>
          </a:solidFill>
          <a:ln w="12700">
            <a:solidFill>
              <a:srgbClr val="000000">
                <a:alpha val="0"/>
              </a:srgbClr>
            </a:solidFill>
            <a:prstDash val="solid"/>
          </a:ln>
        </p:spPr>
      </p:sp>
      <p:sp>
        <p:nvSpPr>
          <p:cNvPr id="36" name="Book spine"/>
          <p:cNvSpPr/>
          <p:nvPr/>
        </p:nvSpPr>
        <p:spPr>
          <a:xfrm>
            <a:off x="7353300" y="2800350"/>
            <a:ext cx="266700" cy="1390650"/>
          </a:xfrm>
          <a:prstGeom prst="rect">
            <a:avLst/>
          </a:prstGeom>
          <a:solidFill>
            <a:srgbClr val="AFAFAF"/>
          </a:solidFill>
          <a:ln w="12700">
            <a:solidFill>
              <a:srgbClr val="AFAFAF">
                <a:alpha val="0"/>
              </a:srgbClr>
            </a:solidFill>
            <a:prstDash val="solid"/>
          </a:ln>
        </p:spPr>
      </p:sp>
      <p:sp>
        <p:nvSpPr>
          <p:cNvPr id="37" name="Book spine"/>
          <p:cNvSpPr/>
          <p:nvPr/>
        </p:nvSpPr>
        <p:spPr>
          <a:xfrm>
            <a:off x="7658100" y="3067050"/>
            <a:ext cx="228600" cy="1123950"/>
          </a:xfrm>
          <a:prstGeom prst="rect">
            <a:avLst/>
          </a:prstGeom>
          <a:solidFill>
            <a:srgbClr val="262626"/>
          </a:solidFill>
          <a:ln w="12700">
            <a:solidFill>
              <a:srgbClr val="262626">
                <a:alpha val="0"/>
              </a:srgbClr>
            </a:solidFill>
            <a:prstDash val="solid"/>
          </a:ln>
        </p:spPr>
      </p:sp>
      <p:sp>
        <p:nvSpPr>
          <p:cNvPr id="38" name="Book spine"/>
          <p:cNvSpPr/>
          <p:nvPr/>
        </p:nvSpPr>
        <p:spPr>
          <a:xfrm>
            <a:off x="7924800" y="2933700"/>
            <a:ext cx="304800" cy="1257300"/>
          </a:xfrm>
          <a:prstGeom prst="rect">
            <a:avLst/>
          </a:prstGeom>
          <a:solidFill>
            <a:srgbClr val="545454"/>
          </a:solidFill>
          <a:ln w="12700">
            <a:solidFill>
              <a:srgbClr val="545454">
                <a:alpha val="0"/>
              </a:srgbClr>
            </a:solidFill>
            <a:prstDash val="solid"/>
          </a:ln>
        </p:spPr>
      </p:sp>
      <p:sp>
        <p:nvSpPr>
          <p:cNvPr id="39" name="Book spine"/>
          <p:cNvSpPr/>
          <p:nvPr/>
        </p:nvSpPr>
        <p:spPr>
          <a:xfrm>
            <a:off x="8267700" y="2971800"/>
            <a:ext cx="180975" cy="1219200"/>
          </a:xfrm>
          <a:prstGeom prst="rect">
            <a:avLst/>
          </a:prstGeom>
          <a:solidFill>
            <a:srgbClr val="757575"/>
          </a:solidFill>
          <a:ln w="12700">
            <a:solidFill>
              <a:srgbClr val="757575">
                <a:alpha val="0"/>
              </a:srgbClr>
            </a:solidFill>
            <a:prstDash val="solid"/>
          </a:ln>
        </p:spPr>
      </p:sp>
      <p:sp>
        <p:nvSpPr>
          <p:cNvPr id="40" name="Spine band"/>
          <p:cNvSpPr/>
          <p:nvPr/>
        </p:nvSpPr>
        <p:spPr>
          <a:xfrm>
            <a:off x="8305800" y="3124200"/>
            <a:ext cx="104775" cy="38100"/>
          </a:xfrm>
          <a:prstGeom prst="rect">
            <a:avLst/>
          </a:prstGeom>
          <a:solidFill>
            <a:srgbClr val="000000"/>
          </a:solidFill>
          <a:ln w="12700">
            <a:solidFill>
              <a:srgbClr val="000000">
                <a:alpha val="0"/>
              </a:srgbClr>
            </a:solidFill>
            <a:prstDash val="solid"/>
          </a:ln>
        </p:spPr>
      </p:sp>
      <p:sp>
        <p:nvSpPr>
          <p:cNvPr id="41" name="Book spine"/>
          <p:cNvSpPr/>
          <p:nvPr/>
        </p:nvSpPr>
        <p:spPr>
          <a:xfrm>
            <a:off x="8486775" y="3048000"/>
            <a:ext cx="257175" cy="1143000"/>
          </a:xfrm>
          <a:prstGeom prst="rect">
            <a:avLst/>
          </a:prstGeom>
          <a:solidFill>
            <a:srgbClr val="262626"/>
          </a:solidFill>
          <a:ln w="12700">
            <a:solidFill>
              <a:srgbClr val="262626">
                <a:alpha val="0"/>
              </a:srgbClr>
            </a:solidFill>
            <a:prstDash val="solid"/>
          </a:ln>
        </p:spPr>
      </p:sp>
      <p:sp>
        <p:nvSpPr>
          <p:cNvPr id="42" name="Found book"/>
          <p:cNvSpPr/>
          <p:nvPr/>
        </p:nvSpPr>
        <p:spPr>
          <a:xfrm>
            <a:off x="8782050" y="3124200"/>
            <a:ext cx="219075" cy="1066800"/>
          </a:xfrm>
          <a:prstGeom prst="rect">
            <a:avLst/>
          </a:prstGeom>
          <a:solidFill>
            <a:srgbClr val="276EF1"/>
          </a:solidFill>
          <a:ln w="12700">
            <a:solidFill>
              <a:srgbClr val="276EF1">
                <a:alpha val="0"/>
              </a:srgbClr>
            </a:solidFill>
            <a:prstDash val="solid"/>
          </a:ln>
        </p:spPr>
      </p:sp>
      <p:sp>
        <p:nvSpPr>
          <p:cNvPr id="43" name="Book spine"/>
          <p:cNvSpPr/>
          <p:nvPr/>
        </p:nvSpPr>
        <p:spPr>
          <a:xfrm>
            <a:off x="9039225" y="2857500"/>
            <a:ext cx="209550" cy="1333500"/>
          </a:xfrm>
          <a:prstGeom prst="rect">
            <a:avLst/>
          </a:prstGeom>
          <a:solidFill>
            <a:srgbClr val="262626"/>
          </a:solidFill>
          <a:ln w="12700">
            <a:solidFill>
              <a:srgbClr val="262626">
                <a:alpha val="0"/>
              </a:srgbClr>
            </a:solidFill>
            <a:prstDash val="solid"/>
          </a:ln>
        </p:spPr>
      </p:sp>
      <p:sp>
        <p:nvSpPr>
          <p:cNvPr id="44" name="Book spine"/>
          <p:cNvSpPr/>
          <p:nvPr/>
        </p:nvSpPr>
        <p:spPr>
          <a:xfrm>
            <a:off x="9286875" y="3009900"/>
            <a:ext cx="285750" cy="1181100"/>
          </a:xfrm>
          <a:prstGeom prst="rect">
            <a:avLst/>
          </a:prstGeom>
          <a:solidFill>
            <a:srgbClr val="545454"/>
          </a:solidFill>
          <a:ln w="12700">
            <a:solidFill>
              <a:srgbClr val="545454">
                <a:alpha val="0"/>
              </a:srgbClr>
            </a:solidFill>
            <a:prstDash val="solid"/>
          </a:ln>
        </p:spPr>
      </p:sp>
      <p:sp>
        <p:nvSpPr>
          <p:cNvPr id="45" name="Spine band"/>
          <p:cNvSpPr/>
          <p:nvPr/>
        </p:nvSpPr>
        <p:spPr>
          <a:xfrm>
            <a:off x="9324975" y="3162300"/>
            <a:ext cx="209550" cy="38100"/>
          </a:xfrm>
          <a:prstGeom prst="rect">
            <a:avLst/>
          </a:prstGeom>
          <a:solidFill>
            <a:srgbClr val="000000"/>
          </a:solidFill>
          <a:ln w="12700">
            <a:solidFill>
              <a:srgbClr val="000000">
                <a:alpha val="0"/>
              </a:srgbClr>
            </a:solidFill>
            <a:prstDash val="solid"/>
          </a:ln>
        </p:spPr>
      </p:sp>
      <p:sp>
        <p:nvSpPr>
          <p:cNvPr id="46" name="Book spine"/>
          <p:cNvSpPr/>
          <p:nvPr/>
        </p:nvSpPr>
        <p:spPr>
          <a:xfrm>
            <a:off x="9610725" y="2762250"/>
            <a:ext cx="171450" cy="1428750"/>
          </a:xfrm>
          <a:prstGeom prst="rect">
            <a:avLst/>
          </a:prstGeom>
          <a:solidFill>
            <a:srgbClr val="262626"/>
          </a:solidFill>
          <a:ln w="12700">
            <a:solidFill>
              <a:srgbClr val="262626">
                <a:alpha val="0"/>
              </a:srgbClr>
            </a:solidFill>
            <a:prstDash val="solid"/>
          </a:ln>
        </p:spPr>
      </p:sp>
      <p:sp>
        <p:nvSpPr>
          <p:cNvPr id="47" name="Book spine"/>
          <p:cNvSpPr/>
          <p:nvPr/>
        </p:nvSpPr>
        <p:spPr>
          <a:xfrm>
            <a:off x="9820275" y="2762250"/>
            <a:ext cx="247650" cy="1428750"/>
          </a:xfrm>
          <a:prstGeom prst="rect">
            <a:avLst/>
          </a:prstGeom>
          <a:solidFill>
            <a:srgbClr val="757575"/>
          </a:solidFill>
          <a:ln w="12700">
            <a:solidFill>
              <a:srgbClr val="757575">
                <a:alpha val="0"/>
              </a:srgbClr>
            </a:solidFill>
            <a:prstDash val="solid"/>
          </a:ln>
        </p:spPr>
      </p:sp>
      <p:sp>
        <p:nvSpPr>
          <p:cNvPr id="48" name="Book spine"/>
          <p:cNvSpPr/>
          <p:nvPr/>
        </p:nvSpPr>
        <p:spPr>
          <a:xfrm>
            <a:off x="10106025" y="2895600"/>
            <a:ext cx="323850" cy="1295400"/>
          </a:xfrm>
          <a:prstGeom prst="rect">
            <a:avLst/>
          </a:prstGeom>
          <a:solidFill>
            <a:srgbClr val="262626"/>
          </a:solidFill>
          <a:ln w="12700">
            <a:solidFill>
              <a:srgbClr val="262626">
                <a:alpha val="0"/>
              </a:srgbClr>
            </a:solidFill>
            <a:prstDash val="solid"/>
          </a:ln>
        </p:spPr>
      </p:sp>
      <p:sp>
        <p:nvSpPr>
          <p:cNvPr id="49" name="Book spine"/>
          <p:cNvSpPr/>
          <p:nvPr/>
        </p:nvSpPr>
        <p:spPr>
          <a:xfrm>
            <a:off x="10467975" y="2876550"/>
            <a:ext cx="190500" cy="1314450"/>
          </a:xfrm>
          <a:prstGeom prst="rect">
            <a:avLst/>
          </a:prstGeom>
          <a:solidFill>
            <a:srgbClr val="545454"/>
          </a:solidFill>
          <a:ln w="12700">
            <a:solidFill>
              <a:srgbClr val="545454">
                <a:alpha val="0"/>
              </a:srgbClr>
            </a:solidFill>
            <a:prstDash val="solid"/>
          </a:ln>
        </p:spPr>
      </p:sp>
      <p:sp>
        <p:nvSpPr>
          <p:cNvPr id="50" name="Spine band"/>
          <p:cNvSpPr/>
          <p:nvPr/>
        </p:nvSpPr>
        <p:spPr>
          <a:xfrm>
            <a:off x="10506075" y="3028950"/>
            <a:ext cx="114300" cy="38100"/>
          </a:xfrm>
          <a:prstGeom prst="rect">
            <a:avLst/>
          </a:prstGeom>
          <a:solidFill>
            <a:srgbClr val="000000"/>
          </a:solidFill>
          <a:ln w="12700">
            <a:solidFill>
              <a:srgbClr val="000000">
                <a:alpha val="0"/>
              </a:srgbClr>
            </a:solidFill>
            <a:prstDash val="solid"/>
          </a:ln>
        </p:spPr>
      </p:sp>
      <p:sp>
        <p:nvSpPr>
          <p:cNvPr id="51" name="Book spine"/>
          <p:cNvSpPr/>
          <p:nvPr/>
        </p:nvSpPr>
        <p:spPr>
          <a:xfrm>
            <a:off x="10696575" y="2800350"/>
            <a:ext cx="266700" cy="1390650"/>
          </a:xfrm>
          <a:prstGeom prst="rect">
            <a:avLst/>
          </a:prstGeom>
          <a:solidFill>
            <a:srgbClr val="AFAFAF"/>
          </a:solidFill>
          <a:ln w="12700">
            <a:solidFill>
              <a:srgbClr val="AFAFAF">
                <a:alpha val="0"/>
              </a:srgbClr>
            </a:solidFill>
            <a:prstDash val="solid"/>
          </a:ln>
        </p:spPr>
      </p:sp>
      <p:sp>
        <p:nvSpPr>
          <p:cNvPr id="52" name="Book spine"/>
          <p:cNvSpPr/>
          <p:nvPr/>
        </p:nvSpPr>
        <p:spPr>
          <a:xfrm>
            <a:off x="11001375" y="3067050"/>
            <a:ext cx="228600" cy="1123950"/>
          </a:xfrm>
          <a:prstGeom prst="rect">
            <a:avLst/>
          </a:prstGeom>
          <a:solidFill>
            <a:srgbClr val="262626"/>
          </a:solidFill>
          <a:ln w="12700">
            <a:solidFill>
              <a:srgbClr val="262626">
                <a:alpha val="0"/>
              </a:srgbClr>
            </a:solidFill>
            <a:prstDash val="solid"/>
          </a:ln>
        </p:spPr>
      </p:sp>
      <p:sp>
        <p:nvSpPr>
          <p:cNvPr id="53" name="Book spine"/>
          <p:cNvSpPr/>
          <p:nvPr/>
        </p:nvSpPr>
        <p:spPr>
          <a:xfrm>
            <a:off x="11268075" y="2933700"/>
            <a:ext cx="304800" cy="1257300"/>
          </a:xfrm>
          <a:prstGeom prst="rect">
            <a:avLst/>
          </a:prstGeom>
          <a:solidFill>
            <a:srgbClr val="545454"/>
          </a:solidFill>
          <a:ln w="12700">
            <a:solidFill>
              <a:srgbClr val="545454">
                <a:alpha val="0"/>
              </a:srgbClr>
            </a:solidFill>
            <a:prstDash val="solid"/>
          </a:ln>
        </p:spPr>
      </p:sp>
      <p:sp>
        <p:nvSpPr>
          <p:cNvPr id="54" name="Shelf plank"/>
          <p:cNvSpPr/>
          <p:nvPr/>
        </p:nvSpPr>
        <p:spPr>
          <a:xfrm>
            <a:off x="7048500" y="4191000"/>
            <a:ext cx="4762500" cy="95250"/>
          </a:xfrm>
          <a:prstGeom prst="rect">
            <a:avLst/>
          </a:prstGeom>
          <a:solidFill>
            <a:srgbClr val="757575"/>
          </a:solidFill>
          <a:ln w="12700">
            <a:solidFill>
              <a:srgbClr val="757575">
                <a:alpha val="0"/>
              </a:srgbClr>
            </a:solidFill>
            <a:prstDash val="solid"/>
          </a:ln>
        </p:spPr>
      </p:sp>
      <p:sp>
        <p:nvSpPr>
          <p:cNvPr id="55" name="Book spine"/>
          <p:cNvSpPr/>
          <p:nvPr/>
        </p:nvSpPr>
        <p:spPr>
          <a:xfrm>
            <a:off x="7124700" y="4762500"/>
            <a:ext cx="257175" cy="1143000"/>
          </a:xfrm>
          <a:prstGeom prst="rect">
            <a:avLst/>
          </a:prstGeom>
          <a:solidFill>
            <a:srgbClr val="262626"/>
          </a:solidFill>
          <a:ln w="12700">
            <a:solidFill>
              <a:srgbClr val="262626">
                <a:alpha val="0"/>
              </a:srgbClr>
            </a:solidFill>
            <a:prstDash val="solid"/>
          </a:ln>
        </p:spPr>
      </p:sp>
      <p:sp>
        <p:nvSpPr>
          <p:cNvPr id="56" name="Book spine"/>
          <p:cNvSpPr/>
          <p:nvPr/>
        </p:nvSpPr>
        <p:spPr>
          <a:xfrm>
            <a:off x="7419975" y="4838700"/>
            <a:ext cx="219075" cy="1066800"/>
          </a:xfrm>
          <a:prstGeom prst="rect">
            <a:avLst/>
          </a:prstGeom>
          <a:solidFill>
            <a:srgbClr val="545454"/>
          </a:solidFill>
          <a:ln w="12700">
            <a:solidFill>
              <a:srgbClr val="545454">
                <a:alpha val="0"/>
              </a:srgbClr>
            </a:solidFill>
            <a:prstDash val="solid"/>
          </a:ln>
        </p:spPr>
      </p:sp>
      <p:sp>
        <p:nvSpPr>
          <p:cNvPr id="57" name="Book spine"/>
          <p:cNvSpPr/>
          <p:nvPr/>
        </p:nvSpPr>
        <p:spPr>
          <a:xfrm>
            <a:off x="7677150" y="4572000"/>
            <a:ext cx="209550" cy="1333500"/>
          </a:xfrm>
          <a:prstGeom prst="rect">
            <a:avLst/>
          </a:prstGeom>
          <a:solidFill>
            <a:srgbClr val="262626"/>
          </a:solidFill>
          <a:ln w="12700">
            <a:solidFill>
              <a:srgbClr val="262626">
                <a:alpha val="0"/>
              </a:srgbClr>
            </a:solidFill>
            <a:prstDash val="solid"/>
          </a:ln>
        </p:spPr>
      </p:sp>
      <p:sp>
        <p:nvSpPr>
          <p:cNvPr id="58" name="Book spine"/>
          <p:cNvSpPr/>
          <p:nvPr/>
        </p:nvSpPr>
        <p:spPr>
          <a:xfrm>
            <a:off x="7924800" y="4724400"/>
            <a:ext cx="285750" cy="1181100"/>
          </a:xfrm>
          <a:prstGeom prst="rect">
            <a:avLst/>
          </a:prstGeom>
          <a:solidFill>
            <a:srgbClr val="545454"/>
          </a:solidFill>
          <a:ln w="12700">
            <a:solidFill>
              <a:srgbClr val="545454">
                <a:alpha val="0"/>
              </a:srgbClr>
            </a:solidFill>
            <a:prstDash val="solid"/>
          </a:ln>
        </p:spPr>
      </p:sp>
      <p:sp>
        <p:nvSpPr>
          <p:cNvPr id="59" name="Spine band"/>
          <p:cNvSpPr/>
          <p:nvPr/>
        </p:nvSpPr>
        <p:spPr>
          <a:xfrm>
            <a:off x="7962900" y="4876800"/>
            <a:ext cx="209550" cy="38100"/>
          </a:xfrm>
          <a:prstGeom prst="rect">
            <a:avLst/>
          </a:prstGeom>
          <a:solidFill>
            <a:srgbClr val="000000"/>
          </a:solidFill>
          <a:ln w="12700">
            <a:solidFill>
              <a:srgbClr val="000000">
                <a:alpha val="0"/>
              </a:srgbClr>
            </a:solidFill>
            <a:prstDash val="solid"/>
          </a:ln>
        </p:spPr>
      </p:sp>
      <p:sp>
        <p:nvSpPr>
          <p:cNvPr id="60" name="Book spine"/>
          <p:cNvSpPr/>
          <p:nvPr/>
        </p:nvSpPr>
        <p:spPr>
          <a:xfrm>
            <a:off x="8248650" y="4476750"/>
            <a:ext cx="171450" cy="1428750"/>
          </a:xfrm>
          <a:prstGeom prst="rect">
            <a:avLst/>
          </a:prstGeom>
          <a:solidFill>
            <a:srgbClr val="262626"/>
          </a:solidFill>
          <a:ln w="12700">
            <a:solidFill>
              <a:srgbClr val="262626">
                <a:alpha val="0"/>
              </a:srgbClr>
            </a:solidFill>
            <a:prstDash val="solid"/>
          </a:ln>
        </p:spPr>
      </p:sp>
      <p:sp>
        <p:nvSpPr>
          <p:cNvPr id="61" name="Book spine"/>
          <p:cNvSpPr/>
          <p:nvPr/>
        </p:nvSpPr>
        <p:spPr>
          <a:xfrm>
            <a:off x="8458200" y="4476750"/>
            <a:ext cx="247650" cy="1428750"/>
          </a:xfrm>
          <a:prstGeom prst="rect">
            <a:avLst/>
          </a:prstGeom>
          <a:solidFill>
            <a:srgbClr val="757575"/>
          </a:solidFill>
          <a:ln w="12700">
            <a:solidFill>
              <a:srgbClr val="757575">
                <a:alpha val="0"/>
              </a:srgbClr>
            </a:solidFill>
            <a:prstDash val="solid"/>
          </a:ln>
        </p:spPr>
      </p:sp>
      <p:sp>
        <p:nvSpPr>
          <p:cNvPr id="62" name="Book spine"/>
          <p:cNvSpPr/>
          <p:nvPr/>
        </p:nvSpPr>
        <p:spPr>
          <a:xfrm>
            <a:off x="8743950" y="4610100"/>
            <a:ext cx="323850" cy="1295400"/>
          </a:xfrm>
          <a:prstGeom prst="rect">
            <a:avLst/>
          </a:prstGeom>
          <a:solidFill>
            <a:srgbClr val="262626"/>
          </a:solidFill>
          <a:ln w="12700">
            <a:solidFill>
              <a:srgbClr val="262626">
                <a:alpha val="0"/>
              </a:srgbClr>
            </a:solidFill>
            <a:prstDash val="solid"/>
          </a:ln>
        </p:spPr>
      </p:sp>
      <p:sp>
        <p:nvSpPr>
          <p:cNvPr id="63" name="Book spine"/>
          <p:cNvSpPr/>
          <p:nvPr/>
        </p:nvSpPr>
        <p:spPr>
          <a:xfrm>
            <a:off x="9105900" y="4591050"/>
            <a:ext cx="190500" cy="1314450"/>
          </a:xfrm>
          <a:prstGeom prst="rect">
            <a:avLst/>
          </a:prstGeom>
          <a:solidFill>
            <a:srgbClr val="545454"/>
          </a:solidFill>
          <a:ln w="12700">
            <a:solidFill>
              <a:srgbClr val="545454">
                <a:alpha val="0"/>
              </a:srgbClr>
            </a:solidFill>
            <a:prstDash val="solid"/>
          </a:ln>
        </p:spPr>
      </p:sp>
      <p:sp>
        <p:nvSpPr>
          <p:cNvPr id="64" name="Spine band"/>
          <p:cNvSpPr/>
          <p:nvPr/>
        </p:nvSpPr>
        <p:spPr>
          <a:xfrm>
            <a:off x="9144000" y="4743450"/>
            <a:ext cx="114300" cy="38100"/>
          </a:xfrm>
          <a:prstGeom prst="rect">
            <a:avLst/>
          </a:prstGeom>
          <a:solidFill>
            <a:srgbClr val="000000"/>
          </a:solidFill>
          <a:ln w="12700">
            <a:solidFill>
              <a:srgbClr val="000000">
                <a:alpha val="0"/>
              </a:srgbClr>
            </a:solidFill>
            <a:prstDash val="solid"/>
          </a:ln>
        </p:spPr>
      </p:sp>
      <p:sp>
        <p:nvSpPr>
          <p:cNvPr id="65" name="Book spine"/>
          <p:cNvSpPr/>
          <p:nvPr/>
        </p:nvSpPr>
        <p:spPr>
          <a:xfrm>
            <a:off x="9334500" y="4514850"/>
            <a:ext cx="266700" cy="1390650"/>
          </a:xfrm>
          <a:prstGeom prst="rect">
            <a:avLst/>
          </a:prstGeom>
          <a:solidFill>
            <a:srgbClr val="AFAFAF"/>
          </a:solidFill>
          <a:ln w="12700">
            <a:solidFill>
              <a:srgbClr val="AFAFAF">
                <a:alpha val="0"/>
              </a:srgbClr>
            </a:solidFill>
            <a:prstDash val="solid"/>
          </a:ln>
        </p:spPr>
      </p:sp>
      <p:sp>
        <p:nvSpPr>
          <p:cNvPr id="66" name="Book spine"/>
          <p:cNvSpPr/>
          <p:nvPr/>
        </p:nvSpPr>
        <p:spPr>
          <a:xfrm>
            <a:off x="9639300" y="4781550"/>
            <a:ext cx="228600" cy="1123950"/>
          </a:xfrm>
          <a:prstGeom prst="rect">
            <a:avLst/>
          </a:prstGeom>
          <a:solidFill>
            <a:srgbClr val="262626"/>
          </a:solidFill>
          <a:ln w="12700">
            <a:solidFill>
              <a:srgbClr val="262626">
                <a:alpha val="0"/>
              </a:srgbClr>
            </a:solidFill>
            <a:prstDash val="solid"/>
          </a:ln>
        </p:spPr>
      </p:sp>
      <p:sp>
        <p:nvSpPr>
          <p:cNvPr id="67" name="Book spine"/>
          <p:cNvSpPr/>
          <p:nvPr/>
        </p:nvSpPr>
        <p:spPr>
          <a:xfrm>
            <a:off x="9906000" y="4648200"/>
            <a:ext cx="304800" cy="1257300"/>
          </a:xfrm>
          <a:prstGeom prst="rect">
            <a:avLst/>
          </a:prstGeom>
          <a:solidFill>
            <a:srgbClr val="545454"/>
          </a:solidFill>
          <a:ln w="12700">
            <a:solidFill>
              <a:srgbClr val="545454">
                <a:alpha val="0"/>
              </a:srgbClr>
            </a:solidFill>
            <a:prstDash val="solid"/>
          </a:ln>
        </p:spPr>
      </p:sp>
      <p:sp>
        <p:nvSpPr>
          <p:cNvPr id="68" name="Book spine"/>
          <p:cNvSpPr/>
          <p:nvPr/>
        </p:nvSpPr>
        <p:spPr>
          <a:xfrm>
            <a:off x="10248900" y="4686300"/>
            <a:ext cx="180975" cy="1219200"/>
          </a:xfrm>
          <a:prstGeom prst="rect">
            <a:avLst/>
          </a:prstGeom>
          <a:solidFill>
            <a:srgbClr val="757575"/>
          </a:solidFill>
          <a:ln w="12700">
            <a:solidFill>
              <a:srgbClr val="757575">
                <a:alpha val="0"/>
              </a:srgbClr>
            </a:solidFill>
            <a:prstDash val="solid"/>
          </a:ln>
        </p:spPr>
      </p:sp>
      <p:sp>
        <p:nvSpPr>
          <p:cNvPr id="69" name="Spine band"/>
          <p:cNvSpPr/>
          <p:nvPr/>
        </p:nvSpPr>
        <p:spPr>
          <a:xfrm>
            <a:off x="10287000" y="4838700"/>
            <a:ext cx="104775" cy="38100"/>
          </a:xfrm>
          <a:prstGeom prst="rect">
            <a:avLst/>
          </a:prstGeom>
          <a:solidFill>
            <a:srgbClr val="000000"/>
          </a:solidFill>
          <a:ln w="12700">
            <a:solidFill>
              <a:srgbClr val="000000">
                <a:alpha val="0"/>
              </a:srgbClr>
            </a:solidFill>
            <a:prstDash val="solid"/>
          </a:ln>
        </p:spPr>
      </p:sp>
      <p:sp>
        <p:nvSpPr>
          <p:cNvPr id="70" name="Book spine"/>
          <p:cNvSpPr/>
          <p:nvPr/>
        </p:nvSpPr>
        <p:spPr>
          <a:xfrm>
            <a:off x="10467975" y="4762500"/>
            <a:ext cx="257175" cy="1143000"/>
          </a:xfrm>
          <a:prstGeom prst="rect">
            <a:avLst/>
          </a:prstGeom>
          <a:solidFill>
            <a:srgbClr val="262626"/>
          </a:solidFill>
          <a:ln w="12700">
            <a:solidFill>
              <a:srgbClr val="262626">
                <a:alpha val="0"/>
              </a:srgbClr>
            </a:solidFill>
            <a:prstDash val="solid"/>
          </a:ln>
        </p:spPr>
      </p:sp>
      <p:sp>
        <p:nvSpPr>
          <p:cNvPr id="71" name="Book spine"/>
          <p:cNvSpPr/>
          <p:nvPr/>
        </p:nvSpPr>
        <p:spPr>
          <a:xfrm>
            <a:off x="10763250" y="4838700"/>
            <a:ext cx="219075" cy="1066800"/>
          </a:xfrm>
          <a:prstGeom prst="rect">
            <a:avLst/>
          </a:prstGeom>
          <a:solidFill>
            <a:srgbClr val="545454"/>
          </a:solidFill>
          <a:ln w="12700">
            <a:solidFill>
              <a:srgbClr val="545454">
                <a:alpha val="0"/>
              </a:srgbClr>
            </a:solidFill>
            <a:prstDash val="solid"/>
          </a:ln>
        </p:spPr>
      </p:sp>
      <p:sp>
        <p:nvSpPr>
          <p:cNvPr id="72" name="Book spine"/>
          <p:cNvSpPr/>
          <p:nvPr/>
        </p:nvSpPr>
        <p:spPr>
          <a:xfrm>
            <a:off x="11020425" y="4572000"/>
            <a:ext cx="209550" cy="1333500"/>
          </a:xfrm>
          <a:prstGeom prst="rect">
            <a:avLst/>
          </a:prstGeom>
          <a:solidFill>
            <a:srgbClr val="262626"/>
          </a:solidFill>
          <a:ln w="12700">
            <a:solidFill>
              <a:srgbClr val="262626">
                <a:alpha val="0"/>
              </a:srgbClr>
            </a:solidFill>
            <a:prstDash val="solid"/>
          </a:ln>
        </p:spPr>
      </p:sp>
      <p:sp>
        <p:nvSpPr>
          <p:cNvPr id="73" name="Book spine"/>
          <p:cNvSpPr/>
          <p:nvPr/>
        </p:nvSpPr>
        <p:spPr>
          <a:xfrm>
            <a:off x="11268075" y="4724400"/>
            <a:ext cx="285750" cy="1181100"/>
          </a:xfrm>
          <a:prstGeom prst="rect">
            <a:avLst/>
          </a:prstGeom>
          <a:solidFill>
            <a:srgbClr val="545454"/>
          </a:solidFill>
          <a:ln w="12700">
            <a:solidFill>
              <a:srgbClr val="545454">
                <a:alpha val="0"/>
              </a:srgbClr>
            </a:solidFill>
            <a:prstDash val="solid"/>
          </a:ln>
        </p:spPr>
      </p:sp>
      <p:sp>
        <p:nvSpPr>
          <p:cNvPr id="74" name="Spine band"/>
          <p:cNvSpPr/>
          <p:nvPr/>
        </p:nvSpPr>
        <p:spPr>
          <a:xfrm>
            <a:off x="11306175" y="4876800"/>
            <a:ext cx="209550" cy="38100"/>
          </a:xfrm>
          <a:prstGeom prst="rect">
            <a:avLst/>
          </a:prstGeom>
          <a:solidFill>
            <a:srgbClr val="000000"/>
          </a:solidFill>
          <a:ln w="12700">
            <a:solidFill>
              <a:srgbClr val="000000">
                <a:alpha val="0"/>
              </a:srgbClr>
            </a:solidFill>
            <a:prstDash val="solid"/>
          </a:ln>
        </p:spPr>
      </p:sp>
      <p:sp>
        <p:nvSpPr>
          <p:cNvPr id="75" name="Book spine"/>
          <p:cNvSpPr/>
          <p:nvPr/>
        </p:nvSpPr>
        <p:spPr>
          <a:xfrm>
            <a:off x="11591925" y="4476750"/>
            <a:ext cx="171450" cy="1428750"/>
          </a:xfrm>
          <a:prstGeom prst="rect">
            <a:avLst/>
          </a:prstGeom>
          <a:solidFill>
            <a:srgbClr val="262626"/>
          </a:solidFill>
          <a:ln w="12700">
            <a:solidFill>
              <a:srgbClr val="262626">
                <a:alpha val="0"/>
              </a:srgbClr>
            </a:solidFill>
            <a:prstDash val="solid"/>
          </a:ln>
        </p:spPr>
      </p:sp>
      <p:sp>
        <p:nvSpPr>
          <p:cNvPr id="76" name="Shelf plank"/>
          <p:cNvSpPr/>
          <p:nvPr/>
        </p:nvSpPr>
        <p:spPr>
          <a:xfrm>
            <a:off x="7048500" y="5905500"/>
            <a:ext cx="4762500" cy="95250"/>
          </a:xfrm>
          <a:prstGeom prst="rect">
            <a:avLst/>
          </a:prstGeom>
          <a:solidFill>
            <a:srgbClr val="757575"/>
          </a:solidFill>
          <a:ln w="12700">
            <a:solidFill>
              <a:srgbClr val="757575">
                <a:alpha val="0"/>
              </a:srgbClr>
            </a:solidFill>
            <a:prstDash val="solid"/>
          </a:ln>
        </p:spPr>
      </p:sp>
      <p:sp>
        <p:nvSpPr>
          <p:cNvPr id="77" name="Pill Search the catalog: “algorithms”"/>
          <p:cNvSpPr/>
          <p:nvPr/>
        </p:nvSpPr>
        <p:spPr>
          <a:xfrm>
            <a:off x="7124700" y="381000"/>
            <a:ext cx="2476500" cy="304800"/>
          </a:xfrm>
          <a:prstGeom prst="roundRect">
            <a:avLst>
              <a:gd name="adj" fmla="val 18750"/>
            </a:avLst>
          </a:prstGeom>
          <a:solidFill>
            <a:srgbClr val="FFFFFF"/>
          </a:solidFill>
          <a:ln w="12700">
            <a:solidFill>
              <a:srgbClr val="FFFFFF">
                <a:alpha val="0"/>
              </a:srgbClr>
            </a:solidFill>
            <a:prstDash val="solid"/>
          </a:ln>
        </p:spPr>
      </p:sp>
      <p:sp>
        <p:nvSpPr>
          <p:cNvPr id="78" name="Text 76"/>
          <p:cNvSpPr txBox="1"/>
          <p:nvPr/>
        </p:nvSpPr>
        <p:spPr>
          <a:xfrm>
            <a:off x="7239000" y="447675"/>
            <a:ext cx="2247900" cy="171450"/>
          </a:xfrm>
          <a:prstGeom prst="rect">
            <a:avLst/>
          </a:prstGeom>
          <a:noFill/>
          <a:ln/>
        </p:spPr>
        <p:txBody>
          <a:bodyPr wrap="square" lIns="0" tIns="0" rIns="0" bIns="0" rtlCol="0" anchor="t"/>
          <a:lstStyle/>
          <a:p>
            <a:pPr algn="l" indent="0" marL="0">
              <a:lnSpc>
                <a:spcPts val="1268"/>
              </a:lnSpc>
              <a:buNone/>
            </a:pPr>
            <a:r>
              <a:rPr lang="en-US" sz="975" b="1" dirty="0">
                <a:solidFill>
                  <a:srgbClr val="000000"/>
                </a:solidFill>
                <a:latin typeface="Manrope" pitchFamily="34" charset="0"/>
                <a:ea typeface="Manrope" pitchFamily="34" charset="-122"/>
                <a:cs typeface="Manrope" pitchFamily="34" charset="-120"/>
              </a:rPr>
              <a:t>Search the catalog: “algorithms”</a:t>
            </a:r>
            <a:endParaRPr lang="en-US" sz="975" dirty="0"/>
          </a:p>
        </p:txBody>
      </p:sp>
      <p:sp>
        <p:nvSpPr>
          <p:cNvPr id="79" name="Tag pointer"/>
          <p:cNvSpPr/>
          <p:nvPr/>
        </p:nvSpPr>
        <p:spPr>
          <a:xfrm>
            <a:off x="9020175" y="3505200"/>
            <a:ext cx="152400" cy="0"/>
          </a:xfrm>
          <a:prstGeom prst="line">
            <a:avLst/>
          </a:prstGeom>
          <a:noFill/>
          <a:ln w="19050">
            <a:solidFill>
              <a:srgbClr val="FFFFFF"/>
            </a:solidFill>
            <a:prstDash val="solid"/>
          </a:ln>
        </p:spPr>
      </p:sp>
      <p:sp>
        <p:nvSpPr>
          <p:cNvPr id="80" name="Book card"/>
          <p:cNvSpPr/>
          <p:nvPr/>
        </p:nvSpPr>
        <p:spPr>
          <a:xfrm>
            <a:off x="9172575" y="3219450"/>
            <a:ext cx="2247900" cy="590550"/>
          </a:xfrm>
          <a:prstGeom prst="roundRect">
            <a:avLst>
              <a:gd name="adj" fmla="val 9677"/>
            </a:avLst>
          </a:prstGeom>
          <a:solidFill>
            <a:srgbClr val="FFFFFF"/>
          </a:solidFill>
          <a:ln w="12700">
            <a:solidFill>
              <a:srgbClr val="FFFFFF">
                <a:alpha val="0"/>
              </a:srgbClr>
            </a:solidFill>
            <a:prstDash val="solid"/>
          </a:ln>
        </p:spPr>
      </p:sp>
      <p:sp>
        <p:nvSpPr>
          <p:cNvPr id="81" name="Text 79"/>
          <p:cNvSpPr txBox="1"/>
          <p:nvPr/>
        </p:nvSpPr>
        <p:spPr>
          <a:xfrm>
            <a:off x="9286875" y="3295650"/>
            <a:ext cx="2019300" cy="171450"/>
          </a:xfrm>
          <a:prstGeom prst="rect">
            <a:avLst/>
          </a:prstGeom>
          <a:noFill/>
          <a:ln/>
        </p:spPr>
        <p:txBody>
          <a:bodyPr wrap="square" lIns="0" tIns="0" rIns="0" bIns="0" rtlCol="0" anchor="t"/>
          <a:lstStyle/>
          <a:p>
            <a:pPr algn="l" indent="0" marL="0">
              <a:lnSpc>
                <a:spcPts val="1268"/>
              </a:lnSpc>
              <a:buNone/>
            </a:pPr>
            <a:r>
              <a:rPr lang="en-US" sz="975" b="1" dirty="0">
                <a:solidFill>
                  <a:srgbClr val="000000"/>
                </a:solidFill>
                <a:latin typeface="Manrope" pitchFamily="34" charset="0"/>
                <a:ea typeface="Manrope" pitchFamily="34" charset="-122"/>
                <a:cs typeface="Manrope" pitchFamily="34" charset="-120"/>
              </a:rPr>
              <a:t>Introduction to Algorithms</a:t>
            </a:r>
            <a:endParaRPr lang="en-US" sz="975" dirty="0"/>
          </a:p>
        </p:txBody>
      </p:sp>
      <p:sp>
        <p:nvSpPr>
          <p:cNvPr id="82" name="Text 80"/>
          <p:cNvSpPr txBox="1"/>
          <p:nvPr/>
        </p:nvSpPr>
        <p:spPr>
          <a:xfrm>
            <a:off x="9286875" y="3524250"/>
            <a:ext cx="1143000" cy="152400"/>
          </a:xfrm>
          <a:prstGeom prst="rect">
            <a:avLst/>
          </a:prstGeom>
          <a:noFill/>
          <a:ln/>
        </p:spPr>
        <p:txBody>
          <a:bodyPr wrap="square" lIns="0" tIns="0" rIns="0" bIns="0" rtlCol="0" anchor="t"/>
          <a:lstStyle/>
          <a:p>
            <a:pPr algn="l" indent="0" marL="0">
              <a:lnSpc>
                <a:spcPts val="1114"/>
              </a:lnSpc>
              <a:buNone/>
            </a:pPr>
            <a:r>
              <a:rPr lang="en-US" sz="825" dirty="0">
                <a:solidFill>
                  <a:srgbClr val="757575"/>
                </a:solidFill>
                <a:latin typeface="Manrope" pitchFamily="34" charset="0"/>
                <a:ea typeface="Manrope" pitchFamily="34" charset="-122"/>
                <a:cs typeface="Manrope" pitchFamily="34" charset="-120"/>
              </a:rPr>
              <a:t>Thomas H. Cormen</a:t>
            </a:r>
            <a:endParaRPr lang="en-US" sz="825" dirty="0"/>
          </a:p>
        </p:txBody>
      </p:sp>
      <p:sp>
        <p:nvSpPr>
          <p:cNvPr id="83" name="Shelf tag"/>
          <p:cNvSpPr/>
          <p:nvPr/>
        </p:nvSpPr>
        <p:spPr>
          <a:xfrm>
            <a:off x="10620375" y="3505200"/>
            <a:ext cx="685800" cy="209550"/>
          </a:xfrm>
          <a:prstGeom prst="roundRect">
            <a:avLst>
              <a:gd name="adj" fmla="val 18182"/>
            </a:avLst>
          </a:prstGeom>
          <a:solidFill>
            <a:srgbClr val="000000"/>
          </a:solidFill>
          <a:ln w="12700">
            <a:solidFill>
              <a:srgbClr val="000000">
                <a:alpha val="0"/>
              </a:srgbClr>
            </a:solidFill>
            <a:prstDash val="solid"/>
          </a:ln>
        </p:spPr>
      </p:sp>
      <p:sp>
        <p:nvSpPr>
          <p:cNvPr id="84" name="Text 82"/>
          <p:cNvSpPr txBox="1"/>
          <p:nvPr/>
        </p:nvSpPr>
        <p:spPr>
          <a:xfrm>
            <a:off x="10620375" y="3533775"/>
            <a:ext cx="685800" cy="152400"/>
          </a:xfrm>
          <a:prstGeom prst="rect">
            <a:avLst/>
          </a:prstGeom>
          <a:noFill/>
          <a:ln/>
        </p:spPr>
        <p:txBody>
          <a:bodyPr wrap="square" lIns="0" tIns="0" rIns="0" bIns="0" rtlCol="0" anchor="t"/>
          <a:lstStyle/>
          <a:p>
            <a:pPr algn="ctr" indent="0" marL="0">
              <a:lnSpc>
                <a:spcPts val="975"/>
              </a:lnSpc>
              <a:buNone/>
            </a:pPr>
            <a:r>
              <a:rPr lang="en-US" sz="750" b="1" dirty="0">
                <a:solidFill>
                  <a:srgbClr val="FFFFFF"/>
                </a:solidFill>
                <a:latin typeface="Manrope" pitchFamily="34" charset="0"/>
                <a:ea typeface="Manrope" pitchFamily="34" charset="-122"/>
                <a:cs typeface="Manrope" pitchFamily="34" charset="-120"/>
              </a:rPr>
              <a:t>Shelf A-03</a:t>
            </a:r>
            <a:endParaRPr lang="en-US" sz="750" dirty="0"/>
          </a:p>
        </p:txBody>
      </p:sp>
      <p:sp>
        <p:nvSpPr>
          <p:cNvPr id="85" name="Pill Issued"/>
          <p:cNvSpPr/>
          <p:nvPr/>
        </p:nvSpPr>
        <p:spPr>
          <a:xfrm>
            <a:off x="7124700" y="6153150"/>
            <a:ext cx="2190750" cy="304800"/>
          </a:xfrm>
          <a:prstGeom prst="roundRect">
            <a:avLst>
              <a:gd name="adj" fmla="val 18750"/>
            </a:avLst>
          </a:prstGeom>
          <a:solidFill>
            <a:srgbClr val="FFFFFF"/>
          </a:solidFill>
          <a:ln w="12700">
            <a:solidFill>
              <a:srgbClr val="FFFFFF">
                <a:alpha val="0"/>
              </a:srgbClr>
            </a:solidFill>
            <a:prstDash val="solid"/>
          </a:ln>
        </p:spPr>
      </p:sp>
      <p:sp>
        <p:nvSpPr>
          <p:cNvPr id="86" name="Text 84"/>
          <p:cNvSpPr txBox="1"/>
          <p:nvPr/>
        </p:nvSpPr>
        <p:spPr>
          <a:xfrm>
            <a:off x="7239000" y="6219825"/>
            <a:ext cx="1047750" cy="171450"/>
          </a:xfrm>
          <a:prstGeom prst="rect">
            <a:avLst/>
          </a:prstGeom>
          <a:noFill/>
          <a:ln/>
        </p:spPr>
        <p:txBody>
          <a:bodyPr wrap="square" lIns="0" tIns="0" rIns="0" bIns="0" rtlCol="0" anchor="t"/>
          <a:lstStyle/>
          <a:p>
            <a:pPr algn="l" indent="0" marL="0">
              <a:lnSpc>
                <a:spcPts val="1268"/>
              </a:lnSpc>
              <a:buNone/>
            </a:pPr>
            <a:r>
              <a:rPr lang="en-US" sz="975" b="1" dirty="0">
                <a:solidFill>
                  <a:srgbClr val="000000"/>
                </a:solidFill>
                <a:latin typeface="Manrope" pitchFamily="34" charset="0"/>
                <a:ea typeface="Manrope" pitchFamily="34" charset="-122"/>
                <a:cs typeface="Manrope" pitchFamily="34" charset="-120"/>
              </a:rPr>
              <a:t>Issued at desk</a:t>
            </a:r>
            <a:endParaRPr lang="en-US" sz="975" dirty="0"/>
          </a:p>
        </p:txBody>
      </p:sp>
      <p:sp>
        <p:nvSpPr>
          <p:cNvPr id="87" name="Due tag"/>
          <p:cNvSpPr/>
          <p:nvPr/>
        </p:nvSpPr>
        <p:spPr>
          <a:xfrm>
            <a:off x="8401050" y="6191250"/>
            <a:ext cx="838200" cy="228600"/>
          </a:xfrm>
          <a:prstGeom prst="roundRect">
            <a:avLst>
              <a:gd name="adj" fmla="val 16667"/>
            </a:avLst>
          </a:prstGeom>
          <a:solidFill>
            <a:srgbClr val="000000"/>
          </a:solidFill>
          <a:ln w="12700">
            <a:solidFill>
              <a:srgbClr val="000000">
                <a:alpha val="0"/>
              </a:srgbClr>
            </a:solidFill>
            <a:prstDash val="solid"/>
          </a:ln>
        </p:spPr>
      </p:sp>
      <p:sp>
        <p:nvSpPr>
          <p:cNvPr id="88" name="Text 86"/>
          <p:cNvSpPr txBox="1"/>
          <p:nvPr/>
        </p:nvSpPr>
        <p:spPr>
          <a:xfrm>
            <a:off x="8401050" y="6229350"/>
            <a:ext cx="838200" cy="152400"/>
          </a:xfrm>
          <a:prstGeom prst="rect">
            <a:avLst/>
          </a:prstGeom>
          <a:noFill/>
          <a:ln/>
        </p:spPr>
        <p:txBody>
          <a:bodyPr wrap="square" lIns="0" tIns="0" rIns="0" bIns="0" rtlCol="0" anchor="t"/>
          <a:lstStyle/>
          <a:p>
            <a:pPr algn="ctr" indent="0" marL="0">
              <a:lnSpc>
                <a:spcPts val="975"/>
              </a:lnSpc>
              <a:buNone/>
            </a:pPr>
            <a:r>
              <a:rPr lang="en-US" sz="750" b="1" dirty="0">
                <a:solidFill>
                  <a:srgbClr val="FFFFFF"/>
                </a:solidFill>
                <a:latin typeface="Manrope" pitchFamily="34" charset="0"/>
                <a:ea typeface="Manrope" pitchFamily="34" charset="-122"/>
                <a:cs typeface="Manrope" pitchFamily="34" charset="-120"/>
              </a:rPr>
              <a:t>Due in 14 days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Paper registers and Excel sheets make every loan error-prone</a:t>
            </a:r>
            <a:endParaRPr lang="en-US" sz="2550" dirty="0"/>
          </a:p>
        </p:txBody>
      </p:sp>
      <p:sp>
        <p:nvSpPr>
          <p:cNvPr id="3" name="Trip line"/>
          <p:cNvSpPr/>
          <p:nvPr/>
        </p:nvSpPr>
        <p:spPr>
          <a:xfrm>
            <a:off x="762000" y="1600200"/>
            <a:ext cx="0" cy="2876550"/>
          </a:xfrm>
          <a:prstGeom prst="line">
            <a:avLst/>
          </a:prstGeom>
          <a:noFill/>
          <a:ln w="28575">
            <a:solidFill>
              <a:srgbClr val="000000"/>
            </a:solidFill>
            <a:prstDash val="solid"/>
          </a:ln>
        </p:spPr>
      </p:sp>
      <p:sp>
        <p:nvSpPr>
          <p:cNvPr id="4" name="Trip start"/>
          <p:cNvSpPr/>
          <p:nvPr/>
        </p:nvSpPr>
        <p:spPr>
          <a:xfrm>
            <a:off x="676275" y="1514475"/>
            <a:ext cx="171450" cy="171450"/>
          </a:xfrm>
          <a:prstGeom prst="ellipse">
            <a:avLst/>
          </a:prstGeom>
          <a:solidFill>
            <a:srgbClr val="FFFFFF"/>
          </a:solidFill>
          <a:ln w="28575">
            <a:solidFill>
              <a:srgbClr val="000000"/>
            </a:solidFill>
            <a:prstDash val="solid"/>
          </a:ln>
        </p:spPr>
      </p:sp>
      <p:sp>
        <p:nvSpPr>
          <p:cNvPr id="5" name="Text 3"/>
          <p:cNvSpPr txBox="1"/>
          <p:nvPr/>
        </p:nvSpPr>
        <p:spPr>
          <a:xfrm>
            <a:off x="1047750" y="1466850"/>
            <a:ext cx="3810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Today</a:t>
            </a:r>
            <a:endParaRPr lang="en-US" sz="1500" dirty="0"/>
          </a:p>
        </p:txBody>
      </p:sp>
      <p:sp>
        <p:nvSpPr>
          <p:cNvPr id="6" name="Problem Paper register"/>
          <p:cNvSpPr/>
          <p:nvPr/>
        </p:nvSpPr>
        <p:spPr>
          <a:xfrm>
            <a:off x="1047750" y="1866900"/>
            <a:ext cx="5238750" cy="1962150"/>
          </a:xfrm>
          <a:prstGeom prst="roundRect">
            <a:avLst>
              <a:gd name="adj" fmla="val 5825"/>
            </a:avLst>
          </a:prstGeom>
          <a:solidFill>
            <a:srgbClr val="F6F6F6"/>
          </a:solidFill>
          <a:ln w="12700">
            <a:solidFill>
              <a:srgbClr val="F6F6F6">
                <a:alpha val="0"/>
              </a:srgbClr>
            </a:solidFill>
            <a:prstDash val="solid"/>
          </a:ln>
        </p:spPr>
      </p:sp>
      <p:sp>
        <p:nvSpPr>
          <p:cNvPr id="7" name="Text 5"/>
          <p:cNvSpPr txBox="1"/>
          <p:nvPr/>
        </p:nvSpPr>
        <p:spPr>
          <a:xfrm>
            <a:off x="1295400" y="2076450"/>
            <a:ext cx="4743450" cy="26670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Paper register</a:t>
            </a:r>
            <a:endParaRPr lang="en-US" sz="1350" dirty="0"/>
          </a:p>
        </p:txBody>
      </p:sp>
      <p:sp>
        <p:nvSpPr>
          <p:cNvPr id="8" name="Item marker"/>
          <p:cNvSpPr/>
          <p:nvPr/>
        </p:nvSpPr>
        <p:spPr>
          <a:xfrm>
            <a:off x="1295400" y="2533650"/>
            <a:ext cx="76200" cy="76200"/>
          </a:xfrm>
          <a:prstGeom prst="rect">
            <a:avLst/>
          </a:prstGeom>
          <a:solidFill>
            <a:srgbClr val="AFAFAF"/>
          </a:solidFill>
          <a:ln w="12700">
            <a:solidFill>
              <a:srgbClr val="AFAFAF">
                <a:alpha val="0"/>
              </a:srgbClr>
            </a:solidFill>
            <a:prstDash val="solid"/>
          </a:ln>
        </p:spPr>
      </p:sp>
      <p:sp>
        <p:nvSpPr>
          <p:cNvPr id="9" name="Text 7"/>
          <p:cNvSpPr txBox="1"/>
          <p:nvPr/>
        </p:nvSpPr>
        <p:spPr>
          <a:xfrm>
            <a:off x="1485900" y="2438400"/>
            <a:ext cx="4552950" cy="247650"/>
          </a:xfrm>
          <a:prstGeom prst="rect">
            <a:avLst/>
          </a:prstGeom>
          <a:noFill/>
          <a:ln/>
        </p:spPr>
        <p:txBody>
          <a:bodyPr wrap="square" lIns="0" tIns="0" rIns="0" bIns="0" rtlCol="0" anchor="t"/>
          <a:lstStyle/>
          <a:p>
            <a:pPr algn="l" indent="0" marL="0">
              <a:lnSpc>
                <a:spcPts val="1680"/>
              </a:lnSpc>
              <a:buNone/>
            </a:pPr>
            <a:r>
              <a:rPr lang="en-US" sz="1200" dirty="0">
                <a:solidFill>
                  <a:srgbClr val="545454"/>
                </a:solidFill>
                <a:latin typeface="Manrope" pitchFamily="34" charset="0"/>
                <a:ea typeface="Manrope" pitchFamily="34" charset="-122"/>
                <a:cs typeface="Manrope" pitchFamily="34" charset="-120"/>
              </a:rPr>
              <a:t>Every issue and return is handwritten</a:t>
            </a:r>
            <a:endParaRPr lang="en-US" sz="1200" dirty="0"/>
          </a:p>
        </p:txBody>
      </p:sp>
      <p:sp>
        <p:nvSpPr>
          <p:cNvPr id="10" name="Item marker"/>
          <p:cNvSpPr/>
          <p:nvPr/>
        </p:nvSpPr>
        <p:spPr>
          <a:xfrm>
            <a:off x="1295400" y="2914650"/>
            <a:ext cx="76200" cy="76200"/>
          </a:xfrm>
          <a:prstGeom prst="rect">
            <a:avLst/>
          </a:prstGeom>
          <a:solidFill>
            <a:srgbClr val="AFAFAF"/>
          </a:solidFill>
          <a:ln w="12700">
            <a:solidFill>
              <a:srgbClr val="AFAFAF">
                <a:alpha val="0"/>
              </a:srgbClr>
            </a:solidFill>
            <a:prstDash val="solid"/>
          </a:ln>
        </p:spPr>
      </p:sp>
      <p:sp>
        <p:nvSpPr>
          <p:cNvPr id="11" name="Text 9"/>
          <p:cNvSpPr txBox="1"/>
          <p:nvPr/>
        </p:nvSpPr>
        <p:spPr>
          <a:xfrm>
            <a:off x="1485900" y="2819400"/>
            <a:ext cx="4552950" cy="247650"/>
          </a:xfrm>
          <a:prstGeom prst="rect">
            <a:avLst/>
          </a:prstGeom>
          <a:noFill/>
          <a:ln/>
        </p:spPr>
        <p:txBody>
          <a:bodyPr wrap="square" lIns="0" tIns="0" rIns="0" bIns="0" rtlCol="0" anchor="t"/>
          <a:lstStyle/>
          <a:p>
            <a:pPr algn="l" indent="0" marL="0">
              <a:lnSpc>
                <a:spcPts val="1680"/>
              </a:lnSpc>
              <a:buNone/>
            </a:pPr>
            <a:r>
              <a:rPr lang="en-US" sz="1200" dirty="0">
                <a:solidFill>
                  <a:srgbClr val="545454"/>
                </a:solidFill>
                <a:latin typeface="Manrope" pitchFamily="34" charset="0"/>
                <a:ea typeface="Manrope" pitchFamily="34" charset="-122"/>
                <a:cs typeface="Manrope" pitchFamily="34" charset="-120"/>
              </a:rPr>
              <a:t>Overdue days and fines are counted by hand</a:t>
            </a:r>
            <a:endParaRPr lang="en-US" sz="1200" dirty="0"/>
          </a:p>
        </p:txBody>
      </p:sp>
      <p:sp>
        <p:nvSpPr>
          <p:cNvPr id="12" name="Item marker"/>
          <p:cNvSpPr/>
          <p:nvPr/>
        </p:nvSpPr>
        <p:spPr>
          <a:xfrm>
            <a:off x="1295400" y="3295650"/>
            <a:ext cx="76200" cy="76200"/>
          </a:xfrm>
          <a:prstGeom prst="rect">
            <a:avLst/>
          </a:prstGeom>
          <a:solidFill>
            <a:srgbClr val="AFAFAF"/>
          </a:solidFill>
          <a:ln w="12700">
            <a:solidFill>
              <a:srgbClr val="AFAFAF">
                <a:alpha val="0"/>
              </a:srgbClr>
            </a:solidFill>
            <a:prstDash val="solid"/>
          </a:ln>
        </p:spPr>
      </p:sp>
      <p:sp>
        <p:nvSpPr>
          <p:cNvPr id="13" name="Text 11"/>
          <p:cNvSpPr txBox="1"/>
          <p:nvPr/>
        </p:nvSpPr>
        <p:spPr>
          <a:xfrm>
            <a:off x="1485900" y="3200400"/>
            <a:ext cx="4552950" cy="247650"/>
          </a:xfrm>
          <a:prstGeom prst="rect">
            <a:avLst/>
          </a:prstGeom>
          <a:noFill/>
          <a:ln/>
        </p:spPr>
        <p:txBody>
          <a:bodyPr wrap="square" lIns="0" tIns="0" rIns="0" bIns="0" rtlCol="0" anchor="t"/>
          <a:lstStyle/>
          <a:p>
            <a:pPr algn="l" indent="0" marL="0">
              <a:lnSpc>
                <a:spcPts val="1680"/>
              </a:lnSpc>
              <a:buNone/>
            </a:pPr>
            <a:r>
              <a:rPr lang="en-US" sz="1200" dirty="0">
                <a:solidFill>
                  <a:srgbClr val="545454"/>
                </a:solidFill>
                <a:latin typeface="Manrope" pitchFamily="34" charset="0"/>
                <a:ea typeface="Manrope" pitchFamily="34" charset="-122"/>
                <a:cs typeface="Manrope" pitchFamily="34" charset="-120"/>
              </a:rPr>
              <a:t>Finding who has a book means flipping pages</a:t>
            </a:r>
            <a:endParaRPr lang="en-US" sz="1200" dirty="0"/>
          </a:p>
        </p:txBody>
      </p:sp>
      <p:sp>
        <p:nvSpPr>
          <p:cNvPr id="14" name="Problem Excel sheet"/>
          <p:cNvSpPr/>
          <p:nvPr/>
        </p:nvSpPr>
        <p:spPr>
          <a:xfrm>
            <a:off x="6419850" y="1866900"/>
            <a:ext cx="5238750" cy="1962150"/>
          </a:xfrm>
          <a:prstGeom prst="roundRect">
            <a:avLst>
              <a:gd name="adj" fmla="val 5825"/>
            </a:avLst>
          </a:prstGeom>
          <a:solidFill>
            <a:srgbClr val="F6F6F6"/>
          </a:solidFill>
          <a:ln w="12700">
            <a:solidFill>
              <a:srgbClr val="F6F6F6">
                <a:alpha val="0"/>
              </a:srgbClr>
            </a:solidFill>
            <a:prstDash val="solid"/>
          </a:ln>
        </p:spPr>
      </p:sp>
      <p:sp>
        <p:nvSpPr>
          <p:cNvPr id="15" name="Text 13"/>
          <p:cNvSpPr txBox="1"/>
          <p:nvPr/>
        </p:nvSpPr>
        <p:spPr>
          <a:xfrm>
            <a:off x="6667500" y="2076450"/>
            <a:ext cx="4743450" cy="26670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Excel sheet</a:t>
            </a:r>
            <a:endParaRPr lang="en-US" sz="1350" dirty="0"/>
          </a:p>
        </p:txBody>
      </p:sp>
      <p:sp>
        <p:nvSpPr>
          <p:cNvPr id="16" name="Item marker"/>
          <p:cNvSpPr/>
          <p:nvPr/>
        </p:nvSpPr>
        <p:spPr>
          <a:xfrm>
            <a:off x="6667500" y="2533650"/>
            <a:ext cx="76200" cy="76200"/>
          </a:xfrm>
          <a:prstGeom prst="rect">
            <a:avLst/>
          </a:prstGeom>
          <a:solidFill>
            <a:srgbClr val="AFAFAF"/>
          </a:solidFill>
          <a:ln w="12700">
            <a:solidFill>
              <a:srgbClr val="AFAFAF">
                <a:alpha val="0"/>
              </a:srgbClr>
            </a:solidFill>
            <a:prstDash val="solid"/>
          </a:ln>
        </p:spPr>
      </p:sp>
      <p:sp>
        <p:nvSpPr>
          <p:cNvPr id="17" name="Text 15"/>
          <p:cNvSpPr txBox="1"/>
          <p:nvPr/>
        </p:nvSpPr>
        <p:spPr>
          <a:xfrm>
            <a:off x="6858000" y="2438400"/>
            <a:ext cx="4552950" cy="247650"/>
          </a:xfrm>
          <a:prstGeom prst="rect">
            <a:avLst/>
          </a:prstGeom>
          <a:noFill/>
          <a:ln/>
        </p:spPr>
        <p:txBody>
          <a:bodyPr wrap="square" lIns="0" tIns="0" rIns="0" bIns="0" rtlCol="0" anchor="t"/>
          <a:lstStyle/>
          <a:p>
            <a:pPr algn="l" indent="0" marL="0">
              <a:lnSpc>
                <a:spcPts val="1680"/>
              </a:lnSpc>
              <a:buNone/>
            </a:pPr>
            <a:r>
              <a:rPr lang="en-US" sz="1200" dirty="0">
                <a:solidFill>
                  <a:srgbClr val="545454"/>
                </a:solidFill>
                <a:latin typeface="Manrope" pitchFamily="34" charset="0"/>
                <a:ea typeface="Manrope" pitchFamily="34" charset="-122"/>
                <a:cs typeface="Manrope" pitchFamily="34" charset="-120"/>
              </a:rPr>
              <a:t>Anyone with the file can change any row</a:t>
            </a:r>
            <a:endParaRPr lang="en-US" sz="1200" dirty="0"/>
          </a:p>
        </p:txBody>
      </p:sp>
      <p:sp>
        <p:nvSpPr>
          <p:cNvPr id="18" name="Item marker"/>
          <p:cNvSpPr/>
          <p:nvPr/>
        </p:nvSpPr>
        <p:spPr>
          <a:xfrm>
            <a:off x="6667500" y="2914650"/>
            <a:ext cx="76200" cy="76200"/>
          </a:xfrm>
          <a:prstGeom prst="rect">
            <a:avLst/>
          </a:prstGeom>
          <a:solidFill>
            <a:srgbClr val="AFAFAF"/>
          </a:solidFill>
          <a:ln w="12700">
            <a:solidFill>
              <a:srgbClr val="AFAFAF">
                <a:alpha val="0"/>
              </a:srgbClr>
            </a:solidFill>
            <a:prstDash val="solid"/>
          </a:ln>
        </p:spPr>
      </p:sp>
      <p:sp>
        <p:nvSpPr>
          <p:cNvPr id="19" name="Text 17"/>
          <p:cNvSpPr txBox="1"/>
          <p:nvPr/>
        </p:nvSpPr>
        <p:spPr>
          <a:xfrm>
            <a:off x="6858000" y="2819400"/>
            <a:ext cx="4552950" cy="247650"/>
          </a:xfrm>
          <a:prstGeom prst="rect">
            <a:avLst/>
          </a:prstGeom>
          <a:noFill/>
          <a:ln/>
        </p:spPr>
        <p:txBody>
          <a:bodyPr wrap="square" lIns="0" tIns="0" rIns="0" bIns="0" rtlCol="0" anchor="t"/>
          <a:lstStyle/>
          <a:p>
            <a:pPr algn="l" indent="0" marL="0">
              <a:lnSpc>
                <a:spcPts val="1680"/>
              </a:lnSpc>
              <a:buNone/>
            </a:pPr>
            <a:r>
              <a:rPr lang="en-US" sz="1200" dirty="0">
                <a:solidFill>
                  <a:srgbClr val="545454"/>
                </a:solidFill>
                <a:latin typeface="Manrope" pitchFamily="34" charset="0"/>
                <a:ea typeface="Manrope" pitchFamily="34" charset="-122"/>
                <a:cs typeface="Manrope" pitchFamily="34" charset="-120"/>
              </a:rPr>
              <a:t>No rules: limits and due dates are not enforced</a:t>
            </a:r>
            <a:endParaRPr lang="en-US" sz="1200" dirty="0"/>
          </a:p>
        </p:txBody>
      </p:sp>
      <p:sp>
        <p:nvSpPr>
          <p:cNvPr id="20" name="Item marker"/>
          <p:cNvSpPr/>
          <p:nvPr/>
        </p:nvSpPr>
        <p:spPr>
          <a:xfrm>
            <a:off x="6667500" y="3295650"/>
            <a:ext cx="76200" cy="76200"/>
          </a:xfrm>
          <a:prstGeom prst="rect">
            <a:avLst/>
          </a:prstGeom>
          <a:solidFill>
            <a:srgbClr val="AFAFAF"/>
          </a:solidFill>
          <a:ln w="12700">
            <a:solidFill>
              <a:srgbClr val="AFAFAF">
                <a:alpha val="0"/>
              </a:srgbClr>
            </a:solidFill>
            <a:prstDash val="solid"/>
          </a:ln>
        </p:spPr>
      </p:sp>
      <p:sp>
        <p:nvSpPr>
          <p:cNvPr id="21" name="Text 19"/>
          <p:cNvSpPr txBox="1"/>
          <p:nvPr/>
        </p:nvSpPr>
        <p:spPr>
          <a:xfrm>
            <a:off x="6858000" y="3200400"/>
            <a:ext cx="4552950" cy="247650"/>
          </a:xfrm>
          <a:prstGeom prst="rect">
            <a:avLst/>
          </a:prstGeom>
          <a:noFill/>
          <a:ln/>
        </p:spPr>
        <p:txBody>
          <a:bodyPr wrap="square" lIns="0" tIns="0" rIns="0" bIns="0" rtlCol="0" anchor="t"/>
          <a:lstStyle/>
          <a:p>
            <a:pPr algn="l" indent="0" marL="0">
              <a:lnSpc>
                <a:spcPts val="1680"/>
              </a:lnSpc>
              <a:buNone/>
            </a:pPr>
            <a:r>
              <a:rPr lang="en-US" sz="1200" dirty="0">
                <a:solidFill>
                  <a:srgbClr val="545454"/>
                </a:solidFill>
                <a:latin typeface="Manrope" pitchFamily="34" charset="0"/>
                <a:ea typeface="Manrope" pitchFamily="34" charset="-122"/>
                <a:cs typeface="Manrope" pitchFamily="34" charset="-120"/>
              </a:rPr>
              <a:t>Copies on different PCs drift out of sync</a:t>
            </a:r>
            <a:endParaRPr lang="en-US" sz="1200" dirty="0"/>
          </a:p>
        </p:txBody>
      </p:sp>
      <p:sp>
        <p:nvSpPr>
          <p:cNvPr id="22" name="Trip end"/>
          <p:cNvSpPr/>
          <p:nvPr/>
        </p:nvSpPr>
        <p:spPr>
          <a:xfrm>
            <a:off x="685800" y="4400550"/>
            <a:ext cx="152400" cy="152400"/>
          </a:xfrm>
          <a:prstGeom prst="rect">
            <a:avLst/>
          </a:prstGeom>
          <a:solidFill>
            <a:srgbClr val="000000"/>
          </a:solidFill>
          <a:ln w="12700">
            <a:solidFill>
              <a:srgbClr val="000000">
                <a:alpha val="0"/>
              </a:srgbClr>
            </a:solidFill>
            <a:prstDash val="solid"/>
          </a:ln>
        </p:spPr>
      </p:sp>
      <p:sp>
        <p:nvSpPr>
          <p:cNvPr id="23" name="Text 21"/>
          <p:cNvSpPr txBox="1"/>
          <p:nvPr/>
        </p:nvSpPr>
        <p:spPr>
          <a:xfrm>
            <a:off x="1047750" y="4343400"/>
            <a:ext cx="3810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With BookVerse</a:t>
            </a:r>
            <a:endParaRPr lang="en-US" sz="1500" dirty="0"/>
          </a:p>
        </p:txBody>
      </p:sp>
      <p:sp>
        <p:nvSpPr>
          <p:cNvPr id="24" name="Text 22"/>
          <p:cNvSpPr txBox="1"/>
          <p:nvPr/>
        </p:nvSpPr>
        <p:spPr>
          <a:xfrm>
            <a:off x="1047750" y="4762500"/>
            <a:ext cx="3295650" cy="495300"/>
          </a:xfrm>
          <a:prstGeom prst="rect">
            <a:avLst/>
          </a:prstGeom>
          <a:noFill/>
          <a:ln/>
        </p:spPr>
        <p:txBody>
          <a:bodyPr wrap="square" lIns="0" tIns="0" rIns="0" bIns="0" rtlCol="0" anchor="t"/>
          <a:lstStyle/>
          <a:p>
            <a:pPr algn="l" indent="0" marL="0">
              <a:lnSpc>
                <a:spcPts val="1740"/>
              </a:lnSpc>
              <a:buNone/>
            </a:pPr>
            <a:r>
              <a:rPr lang="en-US" sz="1200" dirty="0">
                <a:solidFill>
                  <a:srgbClr val="000000"/>
                </a:solidFill>
                <a:latin typeface="Manrope" pitchFamily="34" charset="0"/>
                <a:ea typeface="Manrope" pitchFamily="34" charset="-122"/>
                <a:cs typeface="Manrope" pitchFamily="34" charset="-120"/>
              </a:rPr>
              <a:t>Each loan is recorded instantly, with the rules checked</a:t>
            </a:r>
            <a:endParaRPr lang="en-US" sz="1200" dirty="0"/>
          </a:p>
        </p:txBody>
      </p:sp>
      <p:sp>
        <p:nvSpPr>
          <p:cNvPr id="25" name="Text 23"/>
          <p:cNvSpPr txBox="1"/>
          <p:nvPr/>
        </p:nvSpPr>
        <p:spPr>
          <a:xfrm>
            <a:off x="4629150" y="4762500"/>
            <a:ext cx="3295650" cy="495300"/>
          </a:xfrm>
          <a:prstGeom prst="rect">
            <a:avLst/>
          </a:prstGeom>
          <a:noFill/>
          <a:ln/>
        </p:spPr>
        <p:txBody>
          <a:bodyPr wrap="square" lIns="0" tIns="0" rIns="0" bIns="0" rtlCol="0" anchor="t"/>
          <a:lstStyle/>
          <a:p>
            <a:pPr algn="l" indent="0" marL="0">
              <a:lnSpc>
                <a:spcPts val="1740"/>
              </a:lnSpc>
              <a:buNone/>
            </a:pPr>
            <a:r>
              <a:rPr lang="en-US" sz="1200" dirty="0">
                <a:solidFill>
                  <a:srgbClr val="000000"/>
                </a:solidFill>
                <a:latin typeface="Manrope" pitchFamily="34" charset="0"/>
                <a:ea typeface="Manrope" pitchFamily="34" charset="-122"/>
                <a:cs typeface="Manrope" pitchFamily="34" charset="-120"/>
              </a:rPr>
              <a:t>Due dates, overdue days and fines are calculated for you</a:t>
            </a:r>
            <a:endParaRPr lang="en-US" sz="1200" dirty="0"/>
          </a:p>
        </p:txBody>
      </p:sp>
      <p:sp>
        <p:nvSpPr>
          <p:cNvPr id="26" name="Text 24"/>
          <p:cNvSpPr txBox="1"/>
          <p:nvPr/>
        </p:nvSpPr>
        <p:spPr>
          <a:xfrm>
            <a:off x="8210550" y="4762500"/>
            <a:ext cx="3295650" cy="495300"/>
          </a:xfrm>
          <a:prstGeom prst="rect">
            <a:avLst/>
          </a:prstGeom>
          <a:noFill/>
          <a:ln/>
        </p:spPr>
        <p:txBody>
          <a:bodyPr wrap="square" lIns="0" tIns="0" rIns="0" bIns="0" rtlCol="0" anchor="t"/>
          <a:lstStyle/>
          <a:p>
            <a:pPr algn="l" indent="0" marL="0">
              <a:lnSpc>
                <a:spcPts val="1740"/>
              </a:lnSpc>
              <a:buNone/>
            </a:pPr>
            <a:r>
              <a:rPr lang="en-US" sz="1200" dirty="0">
                <a:solidFill>
                  <a:srgbClr val="000000"/>
                </a:solidFill>
                <a:latin typeface="Manrope" pitchFamily="34" charset="0"/>
                <a:ea typeface="Manrope" pitchFamily="34" charset="-122"/>
                <a:cs typeface="Manrope" pitchFamily="34" charset="-120"/>
              </a:rPr>
              <a:t>One shared library, with a login and permissions for every role</a:t>
            </a:r>
            <a:endParaRPr lang="en-US" sz="120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BookVerse is one web app with a desk for every role</a:t>
            </a:r>
            <a:endParaRPr lang="en-US" sz="2550" dirty="0"/>
          </a:p>
        </p:txBody>
      </p:sp>
      <p:sp>
        <p:nvSpPr>
          <p:cNvPr id="3" name="Shape 1"/>
          <p:cNvSpPr/>
          <p:nvPr/>
        </p:nvSpPr>
        <p:spPr>
          <a:xfrm>
            <a:off x="3676650" y="2247900"/>
            <a:ext cx="1085850" cy="895350"/>
          </a:xfrm>
          <a:prstGeom prst="line">
            <a:avLst/>
          </a:prstGeom>
          <a:noFill/>
          <a:ln w="19050">
            <a:solidFill>
              <a:srgbClr val="AFAFAF"/>
            </a:solidFill>
            <a:prstDash val="solid"/>
          </a:ln>
        </p:spPr>
      </p:sp>
      <p:sp>
        <p:nvSpPr>
          <p:cNvPr id="4" name="Shape 2"/>
          <p:cNvSpPr/>
          <p:nvPr/>
        </p:nvSpPr>
        <p:spPr>
          <a:xfrm flipV="1">
            <a:off x="7429500" y="2247900"/>
            <a:ext cx="1085850" cy="895350"/>
          </a:xfrm>
          <a:prstGeom prst="line">
            <a:avLst/>
          </a:prstGeom>
          <a:noFill/>
          <a:ln w="19050">
            <a:solidFill>
              <a:srgbClr val="AFAFAF"/>
            </a:solidFill>
            <a:prstDash val="solid"/>
          </a:ln>
        </p:spPr>
      </p:sp>
      <p:sp>
        <p:nvSpPr>
          <p:cNvPr id="5" name="Shape 3"/>
          <p:cNvSpPr/>
          <p:nvPr/>
        </p:nvSpPr>
        <p:spPr>
          <a:xfrm flipV="1">
            <a:off x="3676650" y="4095750"/>
            <a:ext cx="1085850" cy="895350"/>
          </a:xfrm>
          <a:prstGeom prst="line">
            <a:avLst/>
          </a:prstGeom>
          <a:noFill/>
          <a:ln w="19050">
            <a:solidFill>
              <a:srgbClr val="AFAFAF"/>
            </a:solidFill>
            <a:prstDash val="solid"/>
          </a:ln>
        </p:spPr>
      </p:sp>
      <p:sp>
        <p:nvSpPr>
          <p:cNvPr id="6" name="Shape 4"/>
          <p:cNvSpPr/>
          <p:nvPr/>
        </p:nvSpPr>
        <p:spPr>
          <a:xfrm>
            <a:off x="7429500" y="4095750"/>
            <a:ext cx="1085850" cy="895350"/>
          </a:xfrm>
          <a:prstGeom prst="line">
            <a:avLst/>
          </a:prstGeom>
          <a:noFill/>
          <a:ln w="19050">
            <a:solidFill>
              <a:srgbClr val="AFAFAF"/>
            </a:solidFill>
            <a:prstDash val="solid"/>
          </a:ln>
        </p:spPr>
      </p:sp>
      <p:sp>
        <p:nvSpPr>
          <p:cNvPr id="7" name="Role Visitor"/>
          <p:cNvSpPr/>
          <p:nvPr/>
        </p:nvSpPr>
        <p:spPr>
          <a:xfrm>
            <a:off x="533400" y="1619250"/>
            <a:ext cx="3143250" cy="1257300"/>
          </a:xfrm>
          <a:prstGeom prst="roundRect">
            <a:avLst>
              <a:gd name="adj" fmla="val 9091"/>
            </a:avLst>
          </a:prstGeom>
          <a:solidFill>
            <a:srgbClr val="F6F6F6"/>
          </a:solidFill>
          <a:ln w="12700">
            <a:solidFill>
              <a:srgbClr val="F6F6F6">
                <a:alpha val="0"/>
              </a:srgbClr>
            </a:solidFill>
            <a:prstDash val="solid"/>
          </a:ln>
        </p:spPr>
      </p:sp>
      <p:sp>
        <p:nvSpPr>
          <p:cNvPr id="8" name="Text 6"/>
          <p:cNvSpPr txBox="1"/>
          <p:nvPr/>
        </p:nvSpPr>
        <p:spPr>
          <a:xfrm>
            <a:off x="762000" y="1847850"/>
            <a:ext cx="2667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Visitor</a:t>
            </a:r>
            <a:endParaRPr lang="en-US" sz="1500" dirty="0"/>
          </a:p>
        </p:txBody>
      </p:sp>
      <p:sp>
        <p:nvSpPr>
          <p:cNvPr id="9" name="Text 7"/>
          <p:cNvSpPr txBox="1"/>
          <p:nvPr/>
        </p:nvSpPr>
        <p:spPr>
          <a:xfrm>
            <a:off x="762000" y="2171700"/>
            <a:ext cx="2686050" cy="571500"/>
          </a:xfrm>
          <a:prstGeom prst="rect">
            <a:avLst/>
          </a:prstGeom>
          <a:noFill/>
          <a:ln/>
        </p:spPr>
        <p:txBody>
          <a:bodyPr wrap="square" lIns="0" tIns="0" rIns="0" bIns="0" rtlCol="0" anchor="t"/>
          <a:lstStyle/>
          <a:p>
            <a:pPr algn="l" indent="0" marL="0">
              <a:lnSpc>
                <a:spcPts val="1575"/>
              </a:lnSpc>
              <a:buNone/>
            </a:pPr>
            <a:r>
              <a:rPr lang="en-US" sz="1125" dirty="0">
                <a:solidFill>
                  <a:srgbClr val="545454"/>
                </a:solidFill>
                <a:latin typeface="Manrope" pitchFamily="34" charset="0"/>
                <a:ea typeface="Manrope" pitchFamily="34" charset="-122"/>
                <a:cs typeface="Manrope" pitchFamily="34" charset="-120"/>
              </a:rPr>
              <a:t>Reads about the library, sends a message, asks to join.</a:t>
            </a:r>
            <a:endParaRPr lang="en-US" sz="1125" dirty="0"/>
          </a:p>
        </p:txBody>
      </p:sp>
      <p:sp>
        <p:nvSpPr>
          <p:cNvPr id="10" name="Role Student"/>
          <p:cNvSpPr/>
          <p:nvPr/>
        </p:nvSpPr>
        <p:spPr>
          <a:xfrm>
            <a:off x="8515350" y="1619250"/>
            <a:ext cx="3143250" cy="1257300"/>
          </a:xfrm>
          <a:prstGeom prst="roundRect">
            <a:avLst>
              <a:gd name="adj" fmla="val 9091"/>
            </a:avLst>
          </a:prstGeom>
          <a:solidFill>
            <a:srgbClr val="F6F6F6"/>
          </a:solidFill>
          <a:ln w="12700">
            <a:solidFill>
              <a:srgbClr val="F6F6F6">
                <a:alpha val="0"/>
              </a:srgbClr>
            </a:solidFill>
            <a:prstDash val="solid"/>
          </a:ln>
        </p:spPr>
      </p:sp>
      <p:sp>
        <p:nvSpPr>
          <p:cNvPr id="11" name="Text 9"/>
          <p:cNvSpPr txBox="1"/>
          <p:nvPr/>
        </p:nvSpPr>
        <p:spPr>
          <a:xfrm>
            <a:off x="8743950" y="1847850"/>
            <a:ext cx="2667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Student</a:t>
            </a:r>
            <a:endParaRPr lang="en-US" sz="1500" dirty="0"/>
          </a:p>
        </p:txBody>
      </p:sp>
      <p:sp>
        <p:nvSpPr>
          <p:cNvPr id="12" name="Text 10"/>
          <p:cNvSpPr txBox="1"/>
          <p:nvPr/>
        </p:nvSpPr>
        <p:spPr>
          <a:xfrm>
            <a:off x="8743950" y="2171700"/>
            <a:ext cx="2686050" cy="571500"/>
          </a:xfrm>
          <a:prstGeom prst="rect">
            <a:avLst/>
          </a:prstGeom>
          <a:noFill/>
          <a:ln/>
        </p:spPr>
        <p:txBody>
          <a:bodyPr wrap="square" lIns="0" tIns="0" rIns="0" bIns="0" rtlCol="0" anchor="t"/>
          <a:lstStyle/>
          <a:p>
            <a:pPr algn="l" indent="0" marL="0">
              <a:lnSpc>
                <a:spcPts val="1575"/>
              </a:lnSpc>
              <a:buNone/>
            </a:pPr>
            <a:r>
              <a:rPr lang="en-US" sz="1125" dirty="0">
                <a:solidFill>
                  <a:srgbClr val="545454"/>
                </a:solidFill>
                <a:latin typeface="Manrope" pitchFamily="34" charset="0"/>
                <a:ea typeface="Manrope" pitchFamily="34" charset="-122"/>
                <a:cs typeface="Manrope" pitchFamily="34" charset="-120"/>
              </a:rPr>
              <a:t>Browses, reserves, renews, tracks due dates and fines.</a:t>
            </a:r>
            <a:endParaRPr lang="en-US" sz="1125" dirty="0"/>
          </a:p>
        </p:txBody>
      </p:sp>
      <p:sp>
        <p:nvSpPr>
          <p:cNvPr id="13" name="Role Librarian"/>
          <p:cNvSpPr/>
          <p:nvPr/>
        </p:nvSpPr>
        <p:spPr>
          <a:xfrm>
            <a:off x="533400" y="4362450"/>
            <a:ext cx="3143250" cy="1257300"/>
          </a:xfrm>
          <a:prstGeom prst="roundRect">
            <a:avLst>
              <a:gd name="adj" fmla="val 9091"/>
            </a:avLst>
          </a:prstGeom>
          <a:solidFill>
            <a:srgbClr val="F6F6F6"/>
          </a:solidFill>
          <a:ln w="12700">
            <a:solidFill>
              <a:srgbClr val="F6F6F6">
                <a:alpha val="0"/>
              </a:srgbClr>
            </a:solidFill>
            <a:prstDash val="solid"/>
          </a:ln>
        </p:spPr>
      </p:sp>
      <p:sp>
        <p:nvSpPr>
          <p:cNvPr id="14" name="Text 12"/>
          <p:cNvSpPr txBox="1"/>
          <p:nvPr/>
        </p:nvSpPr>
        <p:spPr>
          <a:xfrm>
            <a:off x="762000" y="4591050"/>
            <a:ext cx="2667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Librarian</a:t>
            </a:r>
            <a:endParaRPr lang="en-US" sz="1500" dirty="0"/>
          </a:p>
        </p:txBody>
      </p:sp>
      <p:sp>
        <p:nvSpPr>
          <p:cNvPr id="15" name="Text 13"/>
          <p:cNvSpPr txBox="1"/>
          <p:nvPr/>
        </p:nvSpPr>
        <p:spPr>
          <a:xfrm>
            <a:off x="762000" y="4914900"/>
            <a:ext cx="2686050" cy="571500"/>
          </a:xfrm>
          <a:prstGeom prst="rect">
            <a:avLst/>
          </a:prstGeom>
          <a:noFill/>
          <a:ln/>
        </p:spPr>
        <p:txBody>
          <a:bodyPr wrap="square" lIns="0" tIns="0" rIns="0" bIns="0" rtlCol="0" anchor="t"/>
          <a:lstStyle/>
          <a:p>
            <a:pPr algn="l" indent="0" marL="0">
              <a:lnSpc>
                <a:spcPts val="1575"/>
              </a:lnSpc>
              <a:buNone/>
            </a:pPr>
            <a:r>
              <a:rPr lang="en-US" sz="1125" dirty="0">
                <a:solidFill>
                  <a:srgbClr val="545454"/>
                </a:solidFill>
                <a:latin typeface="Manrope" pitchFamily="34" charset="0"/>
                <a:ea typeface="Manrope" pitchFamily="34" charset="-122"/>
                <a:cs typeface="Manrope" pitchFamily="34" charset="-120"/>
              </a:rPr>
              <a:t>Issues and returns books and follows up overdue loans.</a:t>
            </a:r>
            <a:endParaRPr lang="en-US" sz="1125" dirty="0"/>
          </a:p>
        </p:txBody>
      </p:sp>
      <p:sp>
        <p:nvSpPr>
          <p:cNvPr id="16" name="Role Admin"/>
          <p:cNvSpPr/>
          <p:nvPr/>
        </p:nvSpPr>
        <p:spPr>
          <a:xfrm>
            <a:off x="8515350" y="4362450"/>
            <a:ext cx="3143250" cy="1257300"/>
          </a:xfrm>
          <a:prstGeom prst="roundRect">
            <a:avLst>
              <a:gd name="adj" fmla="val 9091"/>
            </a:avLst>
          </a:prstGeom>
          <a:solidFill>
            <a:srgbClr val="F6F6F6"/>
          </a:solidFill>
          <a:ln w="12700">
            <a:solidFill>
              <a:srgbClr val="F6F6F6">
                <a:alpha val="0"/>
              </a:srgbClr>
            </a:solidFill>
            <a:prstDash val="solid"/>
          </a:ln>
        </p:spPr>
      </p:sp>
      <p:sp>
        <p:nvSpPr>
          <p:cNvPr id="17" name="Text 15"/>
          <p:cNvSpPr txBox="1"/>
          <p:nvPr/>
        </p:nvSpPr>
        <p:spPr>
          <a:xfrm>
            <a:off x="8743950" y="4591050"/>
            <a:ext cx="2667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Admin</a:t>
            </a:r>
            <a:endParaRPr lang="en-US" sz="1500" dirty="0"/>
          </a:p>
        </p:txBody>
      </p:sp>
      <p:sp>
        <p:nvSpPr>
          <p:cNvPr id="18" name="Text 16"/>
          <p:cNvSpPr txBox="1"/>
          <p:nvPr/>
        </p:nvSpPr>
        <p:spPr>
          <a:xfrm>
            <a:off x="8743950" y="4914900"/>
            <a:ext cx="2686050" cy="571500"/>
          </a:xfrm>
          <a:prstGeom prst="rect">
            <a:avLst/>
          </a:prstGeom>
          <a:noFill/>
          <a:ln/>
        </p:spPr>
        <p:txBody>
          <a:bodyPr wrap="square" lIns="0" tIns="0" rIns="0" bIns="0" rtlCol="0" anchor="t"/>
          <a:lstStyle/>
          <a:p>
            <a:pPr algn="l" indent="0" marL="0">
              <a:lnSpc>
                <a:spcPts val="1575"/>
              </a:lnSpc>
              <a:buNone/>
            </a:pPr>
            <a:r>
              <a:rPr lang="en-US" sz="1125" dirty="0">
                <a:solidFill>
                  <a:srgbClr val="545454"/>
                </a:solidFill>
                <a:latin typeface="Manrope" pitchFamily="34" charset="0"/>
                <a:ea typeface="Manrope" pitchFamily="34" charset="-122"/>
                <a:cs typeface="Manrope" pitchFamily="34" charset="-120"/>
              </a:rPr>
              <a:t>Runs the catalog, members, staff, fines, reports and settings.</a:t>
            </a:r>
            <a:endParaRPr lang="en-US" sz="1125" dirty="0"/>
          </a:p>
        </p:txBody>
      </p:sp>
      <p:sp>
        <p:nvSpPr>
          <p:cNvPr id="19" name="Shared data core"/>
          <p:cNvSpPr/>
          <p:nvPr/>
        </p:nvSpPr>
        <p:spPr>
          <a:xfrm>
            <a:off x="4762500" y="3009900"/>
            <a:ext cx="2667000" cy="1219200"/>
          </a:xfrm>
          <a:prstGeom prst="roundRect">
            <a:avLst>
              <a:gd name="adj" fmla="val 9375"/>
            </a:avLst>
          </a:prstGeom>
          <a:solidFill>
            <a:srgbClr val="000000"/>
          </a:solidFill>
          <a:ln w="12700">
            <a:solidFill>
              <a:srgbClr val="000000">
                <a:alpha val="0"/>
              </a:srgbClr>
            </a:solidFill>
            <a:prstDash val="solid"/>
          </a:ln>
        </p:spPr>
      </p:sp>
      <p:sp>
        <p:nvSpPr>
          <p:cNvPr id="20" name="Text 18"/>
          <p:cNvSpPr txBox="1"/>
          <p:nvPr/>
        </p:nvSpPr>
        <p:spPr>
          <a:xfrm>
            <a:off x="4991100" y="3238500"/>
            <a:ext cx="2209800" cy="266700"/>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Manrope" pitchFamily="34" charset="0"/>
                <a:ea typeface="Manrope" pitchFamily="34" charset="-122"/>
                <a:cs typeface="Manrope" pitchFamily="34" charset="-120"/>
              </a:rPr>
              <a:t>Shared library data</a:t>
            </a:r>
            <a:endParaRPr lang="en-US" sz="1500" dirty="0"/>
          </a:p>
        </p:txBody>
      </p:sp>
      <p:sp>
        <p:nvSpPr>
          <p:cNvPr id="21" name="Text 19"/>
          <p:cNvSpPr txBox="1"/>
          <p:nvPr/>
        </p:nvSpPr>
        <p:spPr>
          <a:xfrm>
            <a:off x="4991100" y="3562350"/>
            <a:ext cx="2209800" cy="533400"/>
          </a:xfrm>
          <a:prstGeom prst="rect">
            <a:avLst/>
          </a:prstGeom>
          <a:noFill/>
          <a:ln/>
        </p:spPr>
        <p:txBody>
          <a:bodyPr wrap="square" lIns="0" tIns="0" rIns="0" bIns="0" rtlCol="0" anchor="t"/>
          <a:lstStyle/>
          <a:p>
            <a:pPr algn="l" indent="0" marL="0">
              <a:lnSpc>
                <a:spcPts val="1470"/>
              </a:lnSpc>
              <a:buNone/>
            </a:pPr>
            <a:r>
              <a:rPr lang="en-US" sz="1050" dirty="0">
                <a:solidFill>
                  <a:srgbClr val="FFFFFF"/>
                </a:solidFill>
                <a:latin typeface="Manrope" pitchFamily="34" charset="0"/>
                <a:ea typeface="Manrope" pitchFamily="34" charset="-122"/>
                <a:cs typeface="Manrope" pitchFamily="34" charset="-120"/>
              </a:rPr>
              <a:t>Books, members, loans, holds, fines and messages</a:t>
            </a:r>
            <a:endParaRPr lang="en-US" sz="10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A student goes from sign-up to a book in hand in four stops</a:t>
            </a:r>
            <a:endParaRPr lang="en-US" sz="2550" dirty="0"/>
          </a:p>
        </p:txBody>
      </p:sp>
      <p:sp>
        <p:nvSpPr>
          <p:cNvPr id="3" name="Trip line"/>
          <p:cNvSpPr/>
          <p:nvPr/>
        </p:nvSpPr>
        <p:spPr>
          <a:xfrm>
            <a:off x="914400" y="2857500"/>
            <a:ext cx="10058400" cy="0"/>
          </a:xfrm>
          <a:prstGeom prst="line">
            <a:avLst/>
          </a:prstGeom>
          <a:noFill/>
          <a:ln w="28575">
            <a:solidFill>
              <a:srgbClr val="000000"/>
            </a:solidFill>
            <a:prstDash val="solid"/>
          </a:ln>
        </p:spPr>
      </p:sp>
      <p:sp>
        <p:nvSpPr>
          <p:cNvPr id="4" name="Trip start"/>
          <p:cNvSpPr/>
          <p:nvPr/>
        </p:nvSpPr>
        <p:spPr>
          <a:xfrm>
            <a:off x="828675" y="2771775"/>
            <a:ext cx="171450" cy="171450"/>
          </a:xfrm>
          <a:prstGeom prst="ellipse">
            <a:avLst/>
          </a:prstGeom>
          <a:solidFill>
            <a:srgbClr val="FFFFFF"/>
          </a:solidFill>
          <a:ln w="28575">
            <a:solidFill>
              <a:srgbClr val="000000"/>
            </a:solidFill>
            <a:prstDash val="solid"/>
          </a:ln>
        </p:spPr>
      </p:sp>
      <p:sp>
        <p:nvSpPr>
          <p:cNvPr id="5" name="Shape 3"/>
          <p:cNvSpPr/>
          <p:nvPr/>
        </p:nvSpPr>
        <p:spPr>
          <a:xfrm>
            <a:off x="4124325" y="2790825"/>
            <a:ext cx="133350" cy="133350"/>
          </a:xfrm>
          <a:prstGeom prst="ellipse">
            <a:avLst/>
          </a:prstGeom>
          <a:solidFill>
            <a:srgbClr val="000000"/>
          </a:solidFill>
          <a:ln w="12700">
            <a:solidFill>
              <a:srgbClr val="000000">
                <a:alpha val="0"/>
              </a:srgbClr>
            </a:solidFill>
            <a:prstDash val="solid"/>
          </a:ln>
        </p:spPr>
      </p:sp>
      <p:sp>
        <p:nvSpPr>
          <p:cNvPr id="6" name="Shape 4"/>
          <p:cNvSpPr/>
          <p:nvPr/>
        </p:nvSpPr>
        <p:spPr>
          <a:xfrm>
            <a:off x="7400925" y="2790825"/>
            <a:ext cx="133350" cy="133350"/>
          </a:xfrm>
          <a:prstGeom prst="ellipse">
            <a:avLst/>
          </a:prstGeom>
          <a:solidFill>
            <a:srgbClr val="000000"/>
          </a:solidFill>
          <a:ln w="12700">
            <a:solidFill>
              <a:srgbClr val="000000">
                <a:alpha val="0"/>
              </a:srgbClr>
            </a:solidFill>
            <a:prstDash val="solid"/>
          </a:ln>
        </p:spPr>
      </p:sp>
      <p:sp>
        <p:nvSpPr>
          <p:cNvPr id="7" name="Trip end"/>
          <p:cNvSpPr/>
          <p:nvPr/>
        </p:nvSpPr>
        <p:spPr>
          <a:xfrm>
            <a:off x="10896600" y="2781300"/>
            <a:ext cx="152400" cy="152400"/>
          </a:xfrm>
          <a:prstGeom prst="rect">
            <a:avLst/>
          </a:prstGeom>
          <a:solidFill>
            <a:srgbClr val="000000"/>
          </a:solidFill>
          <a:ln w="12700">
            <a:solidFill>
              <a:srgbClr val="000000">
                <a:alpha val="0"/>
              </a:srgbClr>
            </a:solidFill>
            <a:prstDash val="solid"/>
          </a:ln>
        </p:spPr>
      </p:sp>
      <p:sp>
        <p:nvSpPr>
          <p:cNvPr id="8" name="Text 6"/>
          <p:cNvSpPr txBox="1"/>
          <p:nvPr/>
        </p:nvSpPr>
        <p:spPr>
          <a:xfrm>
            <a:off x="800100" y="2324100"/>
            <a:ext cx="2095500" cy="190500"/>
          </a:xfrm>
          <a:prstGeom prst="rect">
            <a:avLst/>
          </a:prstGeom>
          <a:noFill/>
          <a:ln/>
        </p:spPr>
        <p:txBody>
          <a:bodyPr wrap="square" lIns="0" tIns="0" rIns="0" bIns="0" rtlCol="0" anchor="t"/>
          <a:lstStyle/>
          <a:p>
            <a:pPr algn="l" indent="0" marL="0">
              <a:lnSpc>
                <a:spcPts val="1268"/>
              </a:lnSpc>
              <a:buNone/>
            </a:pPr>
            <a:r>
              <a:rPr lang="en-US" sz="975" b="1" dirty="0">
                <a:solidFill>
                  <a:srgbClr val="757575"/>
                </a:solidFill>
                <a:latin typeface="Manrope" pitchFamily="34" charset="0"/>
                <a:ea typeface="Manrope" pitchFamily="34" charset="-122"/>
                <a:cs typeface="Manrope" pitchFamily="34" charset="-120"/>
              </a:rPr>
              <a:t>0 min</a:t>
            </a:r>
            <a:endParaRPr lang="en-US" sz="975" dirty="0"/>
          </a:p>
        </p:txBody>
      </p:sp>
      <p:sp>
        <p:nvSpPr>
          <p:cNvPr id="9" name="Text 7"/>
          <p:cNvSpPr txBox="1"/>
          <p:nvPr/>
        </p:nvSpPr>
        <p:spPr>
          <a:xfrm>
            <a:off x="800100" y="3162300"/>
            <a:ext cx="20955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Register</a:t>
            </a:r>
            <a:endParaRPr lang="en-US" sz="1500" dirty="0"/>
          </a:p>
        </p:txBody>
      </p:sp>
      <p:sp>
        <p:nvSpPr>
          <p:cNvPr id="10" name="Text 8"/>
          <p:cNvSpPr txBox="1"/>
          <p:nvPr/>
        </p:nvSpPr>
        <p:spPr>
          <a:xfrm>
            <a:off x="800100" y="3486150"/>
            <a:ext cx="2095500" cy="62865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Fills the form and solves the captcha; the account waits for approval.</a:t>
            </a:r>
            <a:endParaRPr lang="en-US" sz="1050" dirty="0"/>
          </a:p>
        </p:txBody>
      </p:sp>
      <p:sp>
        <p:nvSpPr>
          <p:cNvPr id="11" name="Text 9"/>
          <p:cNvSpPr txBox="1"/>
          <p:nvPr/>
        </p:nvSpPr>
        <p:spPr>
          <a:xfrm>
            <a:off x="4076700" y="2324100"/>
            <a:ext cx="2095500" cy="190500"/>
          </a:xfrm>
          <a:prstGeom prst="rect">
            <a:avLst/>
          </a:prstGeom>
          <a:noFill/>
          <a:ln/>
        </p:spPr>
        <p:txBody>
          <a:bodyPr wrap="square" lIns="0" tIns="0" rIns="0" bIns="0" rtlCol="0" anchor="t"/>
          <a:lstStyle/>
          <a:p>
            <a:pPr algn="l" indent="0" marL="0">
              <a:lnSpc>
                <a:spcPts val="1268"/>
              </a:lnSpc>
              <a:buNone/>
            </a:pPr>
            <a:r>
              <a:rPr lang="en-US" sz="975" b="1" dirty="0">
                <a:solidFill>
                  <a:srgbClr val="757575"/>
                </a:solidFill>
                <a:latin typeface="Manrope" pitchFamily="34" charset="0"/>
                <a:ea typeface="Manrope" pitchFamily="34" charset="-122"/>
                <a:cs typeface="Manrope" pitchFamily="34" charset="-120"/>
              </a:rPr>
              <a:t>Same day</a:t>
            </a:r>
            <a:endParaRPr lang="en-US" sz="975" dirty="0"/>
          </a:p>
        </p:txBody>
      </p:sp>
      <p:sp>
        <p:nvSpPr>
          <p:cNvPr id="12" name="Text 10"/>
          <p:cNvSpPr txBox="1"/>
          <p:nvPr/>
        </p:nvSpPr>
        <p:spPr>
          <a:xfrm>
            <a:off x="4076700" y="3162300"/>
            <a:ext cx="20955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Approved</a:t>
            </a:r>
            <a:endParaRPr lang="en-US" sz="1500" dirty="0"/>
          </a:p>
        </p:txBody>
      </p:sp>
      <p:sp>
        <p:nvSpPr>
          <p:cNvPr id="13" name="Text 11"/>
          <p:cNvSpPr txBox="1"/>
          <p:nvPr/>
        </p:nvSpPr>
        <p:spPr>
          <a:xfrm>
            <a:off x="4076700" y="3486150"/>
            <a:ext cx="2095500" cy="62865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An admin approves the request on the Members page.</a:t>
            </a:r>
            <a:endParaRPr lang="en-US" sz="1050" dirty="0"/>
          </a:p>
        </p:txBody>
      </p:sp>
      <p:sp>
        <p:nvSpPr>
          <p:cNvPr id="14" name="Text 12"/>
          <p:cNvSpPr txBox="1"/>
          <p:nvPr/>
        </p:nvSpPr>
        <p:spPr>
          <a:xfrm>
            <a:off x="7353300" y="2324100"/>
            <a:ext cx="2095500" cy="190500"/>
          </a:xfrm>
          <a:prstGeom prst="rect">
            <a:avLst/>
          </a:prstGeom>
          <a:noFill/>
          <a:ln/>
        </p:spPr>
        <p:txBody>
          <a:bodyPr wrap="square" lIns="0" tIns="0" rIns="0" bIns="0" rtlCol="0" anchor="t"/>
          <a:lstStyle/>
          <a:p>
            <a:pPr algn="l" indent="0" marL="0">
              <a:lnSpc>
                <a:spcPts val="1268"/>
              </a:lnSpc>
              <a:buNone/>
            </a:pPr>
            <a:r>
              <a:rPr lang="en-US" sz="975" b="1" dirty="0">
                <a:solidFill>
                  <a:srgbClr val="757575"/>
                </a:solidFill>
                <a:latin typeface="Manrope" pitchFamily="34" charset="0"/>
                <a:ea typeface="Manrope" pitchFamily="34" charset="-122"/>
                <a:cs typeface="Manrope" pitchFamily="34" charset="-120"/>
              </a:rPr>
              <a:t>+2 min</a:t>
            </a:r>
            <a:endParaRPr lang="en-US" sz="975" dirty="0"/>
          </a:p>
        </p:txBody>
      </p:sp>
      <p:sp>
        <p:nvSpPr>
          <p:cNvPr id="15" name="Text 13"/>
          <p:cNvSpPr txBox="1"/>
          <p:nvPr/>
        </p:nvSpPr>
        <p:spPr>
          <a:xfrm>
            <a:off x="7353300" y="3162300"/>
            <a:ext cx="20955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Reserve</a:t>
            </a:r>
            <a:endParaRPr lang="en-US" sz="1500" dirty="0"/>
          </a:p>
        </p:txBody>
      </p:sp>
      <p:sp>
        <p:nvSpPr>
          <p:cNvPr id="16" name="Text 14"/>
          <p:cNvSpPr txBox="1"/>
          <p:nvPr/>
        </p:nvSpPr>
        <p:spPr>
          <a:xfrm>
            <a:off x="7353300" y="3486150"/>
            <a:ext cx="2095500" cy="62865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Searches the catalog, opens the book page and reserves a copy.</a:t>
            </a:r>
            <a:endParaRPr lang="en-US" sz="1050" dirty="0"/>
          </a:p>
        </p:txBody>
      </p:sp>
      <p:sp>
        <p:nvSpPr>
          <p:cNvPr id="17" name="Text 15"/>
          <p:cNvSpPr txBox="1"/>
          <p:nvPr/>
        </p:nvSpPr>
        <p:spPr>
          <a:xfrm>
            <a:off x="9563100" y="2324100"/>
            <a:ext cx="2095500" cy="190500"/>
          </a:xfrm>
          <a:prstGeom prst="rect">
            <a:avLst/>
          </a:prstGeom>
          <a:noFill/>
          <a:ln/>
        </p:spPr>
        <p:txBody>
          <a:bodyPr wrap="square" lIns="0" tIns="0" rIns="0" bIns="0" rtlCol="0" anchor="t"/>
          <a:lstStyle/>
          <a:p>
            <a:pPr algn="r" indent="0" marL="0">
              <a:lnSpc>
                <a:spcPts val="1268"/>
              </a:lnSpc>
              <a:buNone/>
            </a:pPr>
            <a:r>
              <a:rPr lang="en-US" sz="975" b="1" dirty="0">
                <a:solidFill>
                  <a:srgbClr val="757575"/>
                </a:solidFill>
                <a:latin typeface="Manrope" pitchFamily="34" charset="0"/>
                <a:ea typeface="Manrope" pitchFamily="34" charset="-122"/>
                <a:cs typeface="Manrope" pitchFamily="34" charset="-120"/>
              </a:rPr>
              <a:t>14 days</a:t>
            </a:r>
            <a:endParaRPr lang="en-US" sz="975" dirty="0"/>
          </a:p>
        </p:txBody>
      </p:sp>
      <p:sp>
        <p:nvSpPr>
          <p:cNvPr id="18" name="Text 16"/>
          <p:cNvSpPr txBox="1"/>
          <p:nvPr/>
        </p:nvSpPr>
        <p:spPr>
          <a:xfrm>
            <a:off x="9563100" y="3162300"/>
            <a:ext cx="2095500" cy="266700"/>
          </a:xfrm>
          <a:prstGeom prst="rect">
            <a:avLst/>
          </a:prstGeom>
          <a:noFill/>
          <a:ln/>
        </p:spPr>
        <p:txBody>
          <a:bodyPr wrap="square" lIns="0" tIns="0" rIns="0" bIns="0" rtlCol="0" anchor="t"/>
          <a:lstStyle/>
          <a:p>
            <a:pPr algn="r" indent="0" marL="0">
              <a:lnSpc>
                <a:spcPts val="1950"/>
              </a:lnSpc>
              <a:buNone/>
            </a:pPr>
            <a:r>
              <a:rPr lang="en-US" sz="1500" b="1" dirty="0">
                <a:solidFill>
                  <a:srgbClr val="000000"/>
                </a:solidFill>
                <a:latin typeface="Manrope" pitchFamily="34" charset="0"/>
                <a:ea typeface="Manrope" pitchFamily="34" charset="-122"/>
                <a:cs typeface="Manrope" pitchFamily="34" charset="-120"/>
              </a:rPr>
              <a:t>Return or renew</a:t>
            </a:r>
            <a:endParaRPr lang="en-US" sz="1500" dirty="0"/>
          </a:p>
        </p:txBody>
      </p:sp>
      <p:sp>
        <p:nvSpPr>
          <p:cNvPr id="19" name="Text 17"/>
          <p:cNvSpPr txBox="1"/>
          <p:nvPr/>
        </p:nvSpPr>
        <p:spPr>
          <a:xfrm>
            <a:off x="9563100" y="3486150"/>
            <a:ext cx="2095500" cy="628650"/>
          </a:xfrm>
          <a:prstGeom prst="rect">
            <a:avLst/>
          </a:prstGeom>
          <a:noFill/>
          <a:ln/>
        </p:spPr>
        <p:txBody>
          <a:bodyPr wrap="square" lIns="0" tIns="0" rIns="0" bIns="0" rtlCol="0" anchor="t"/>
          <a:lstStyle/>
          <a:p>
            <a:pPr algn="r" indent="0" marL="0">
              <a:lnSpc>
                <a:spcPts val="1470"/>
              </a:lnSpc>
              <a:buNone/>
            </a:pPr>
            <a:r>
              <a:rPr lang="en-US" sz="1050" dirty="0">
                <a:solidFill>
                  <a:srgbClr val="545454"/>
                </a:solidFill>
                <a:latin typeface="Manrope" pitchFamily="34" charset="0"/>
                <a:ea typeface="Manrope" pitchFamily="34" charset="-122"/>
                <a:cs typeface="Manrope" pitchFamily="34" charset="-120"/>
              </a:rPr>
              <a:t>Collects at the desk; one renewal adds another 14 days.</a:t>
            </a:r>
            <a:endParaRPr lang="en-US" sz="1050" dirty="0"/>
          </a:p>
        </p:txBody>
      </p:sp>
      <p:sp>
        <p:nvSpPr>
          <p:cNvPr id="20" name="Shape 18"/>
          <p:cNvSpPr/>
          <p:nvPr/>
        </p:nvSpPr>
        <p:spPr>
          <a:xfrm>
            <a:off x="533400" y="4629150"/>
            <a:ext cx="11125200" cy="933450"/>
          </a:xfrm>
          <a:prstGeom prst="roundRect">
            <a:avLst>
              <a:gd name="adj" fmla="val 12245"/>
            </a:avLst>
          </a:prstGeom>
          <a:solidFill>
            <a:srgbClr val="F6F6F6"/>
          </a:solidFill>
          <a:ln w="12700">
            <a:solidFill>
              <a:srgbClr val="F6F6F6">
                <a:alpha val="0"/>
              </a:srgbClr>
            </a:solidFill>
            <a:prstDash val="solid"/>
          </a:ln>
        </p:spPr>
      </p:sp>
      <p:sp>
        <p:nvSpPr>
          <p:cNvPr id="21" name="Text 19"/>
          <p:cNvSpPr txBox="1"/>
          <p:nvPr/>
        </p:nvSpPr>
        <p:spPr>
          <a:xfrm>
            <a:off x="800100" y="4838700"/>
            <a:ext cx="38100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RULES THE APP ENFORCES</a:t>
            </a:r>
            <a:endParaRPr lang="en-US" sz="900" dirty="0"/>
          </a:p>
        </p:txBody>
      </p:sp>
      <p:sp>
        <p:nvSpPr>
          <p:cNvPr id="22" name="Text 20"/>
          <p:cNvSpPr txBox="1"/>
          <p:nvPr/>
        </p:nvSpPr>
        <p:spPr>
          <a:xfrm>
            <a:off x="800100" y="5086350"/>
            <a:ext cx="2476500" cy="28575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Up to 3 books at once</a:t>
            </a:r>
            <a:endParaRPr lang="en-US" sz="1350" dirty="0"/>
          </a:p>
        </p:txBody>
      </p:sp>
      <p:sp>
        <p:nvSpPr>
          <p:cNvPr id="23" name="Text 21"/>
          <p:cNvSpPr txBox="1"/>
          <p:nvPr/>
        </p:nvSpPr>
        <p:spPr>
          <a:xfrm>
            <a:off x="3619500" y="5086350"/>
            <a:ext cx="2476500" cy="28575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Holds kept for 3 days</a:t>
            </a:r>
            <a:endParaRPr lang="en-US" sz="1350" dirty="0"/>
          </a:p>
        </p:txBody>
      </p:sp>
      <p:sp>
        <p:nvSpPr>
          <p:cNvPr id="24" name="Text 22"/>
          <p:cNvSpPr txBox="1"/>
          <p:nvPr/>
        </p:nvSpPr>
        <p:spPr>
          <a:xfrm>
            <a:off x="6438900" y="5086350"/>
            <a:ext cx="2476500" cy="28575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₹10 per late day</a:t>
            </a:r>
            <a:endParaRPr lang="en-US" sz="1350" dirty="0"/>
          </a:p>
        </p:txBody>
      </p:sp>
      <p:sp>
        <p:nvSpPr>
          <p:cNvPr id="25" name="Text 23"/>
          <p:cNvSpPr txBox="1"/>
          <p:nvPr/>
        </p:nvSpPr>
        <p:spPr>
          <a:xfrm>
            <a:off x="9258300" y="5086350"/>
            <a:ext cx="2190750" cy="28575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Admin can change all</a:t>
            </a:r>
            <a:endParaRPr lang="en-US" sz="13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Each role gets its own pages and its own permissions</a:t>
            </a:r>
            <a:endParaRPr lang="en-US" sz="2550" dirty="0"/>
          </a:p>
        </p:txBody>
      </p:sp>
      <p:sp>
        <p:nvSpPr>
          <p:cNvPr id="3" name="Text 1"/>
          <p:cNvSpPr txBox="1"/>
          <p:nvPr/>
        </p:nvSpPr>
        <p:spPr>
          <a:xfrm>
            <a:off x="533400" y="1600200"/>
            <a:ext cx="19050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ROLE</a:t>
            </a:r>
            <a:endParaRPr lang="en-US" sz="900" dirty="0"/>
          </a:p>
        </p:txBody>
      </p:sp>
      <p:sp>
        <p:nvSpPr>
          <p:cNvPr id="4" name="Text 2"/>
          <p:cNvSpPr txBox="1"/>
          <p:nvPr/>
        </p:nvSpPr>
        <p:spPr>
          <a:xfrm>
            <a:off x="2628900" y="1600200"/>
            <a:ext cx="38100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PAGES</a:t>
            </a:r>
            <a:endParaRPr lang="en-US" sz="900" dirty="0"/>
          </a:p>
        </p:txBody>
      </p:sp>
      <p:sp>
        <p:nvSpPr>
          <p:cNvPr id="5" name="Text 3"/>
          <p:cNvSpPr txBox="1"/>
          <p:nvPr/>
        </p:nvSpPr>
        <p:spPr>
          <a:xfrm>
            <a:off x="8229600" y="1600200"/>
            <a:ext cx="34290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ONLY THIS ROLE CAN</a:t>
            </a:r>
            <a:endParaRPr lang="en-US" sz="900" dirty="0"/>
          </a:p>
        </p:txBody>
      </p:sp>
      <p:sp>
        <p:nvSpPr>
          <p:cNvPr id="6" name="Shape 4"/>
          <p:cNvSpPr/>
          <p:nvPr/>
        </p:nvSpPr>
        <p:spPr>
          <a:xfrm>
            <a:off x="533400" y="1866900"/>
            <a:ext cx="11125200" cy="9525"/>
          </a:xfrm>
          <a:prstGeom prst="rect">
            <a:avLst/>
          </a:prstGeom>
          <a:solidFill>
            <a:srgbClr val="E2E2E2"/>
          </a:solidFill>
          <a:ln w="12700">
            <a:solidFill>
              <a:srgbClr val="E2E2E2">
                <a:alpha val="0"/>
              </a:srgbClr>
            </a:solidFill>
            <a:prstDash val="solid"/>
          </a:ln>
        </p:spPr>
      </p:sp>
      <p:sp>
        <p:nvSpPr>
          <p:cNvPr id="7" name="Text 5"/>
          <p:cNvSpPr txBox="1"/>
          <p:nvPr/>
        </p:nvSpPr>
        <p:spPr>
          <a:xfrm>
            <a:off x="533400" y="2095500"/>
            <a:ext cx="1905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Student</a:t>
            </a:r>
            <a:endParaRPr lang="en-US" sz="1500" dirty="0"/>
          </a:p>
        </p:txBody>
      </p:sp>
      <p:sp>
        <p:nvSpPr>
          <p:cNvPr id="8" name="Text 6"/>
          <p:cNvSpPr txBox="1"/>
          <p:nvPr/>
        </p:nvSpPr>
        <p:spPr>
          <a:xfrm>
            <a:off x="2628900" y="2114550"/>
            <a:ext cx="5334000" cy="495300"/>
          </a:xfrm>
          <a:prstGeom prst="rect">
            <a:avLst/>
          </a:prstGeom>
          <a:noFill/>
          <a:ln/>
        </p:spPr>
        <p:txBody>
          <a:bodyPr wrap="square" lIns="0" tIns="0" rIns="0" bIns="0" rtlCol="0" anchor="t"/>
          <a:lstStyle/>
          <a:p>
            <a:pPr algn="l" indent="0" marL="0">
              <a:lnSpc>
                <a:spcPts val="1688"/>
              </a:lnSpc>
              <a:buNone/>
            </a:pPr>
            <a:r>
              <a:rPr lang="en-US" sz="1125" dirty="0">
                <a:solidFill>
                  <a:srgbClr val="545454"/>
                </a:solidFill>
                <a:latin typeface="Manrope" pitchFamily="34" charset="0"/>
                <a:ea typeface="Manrope" pitchFamily="34" charset="-122"/>
                <a:cs typeface="Manrope" pitchFamily="34" charset="-120"/>
              </a:rPr>
              <a:t>Dashboard · Browse Books · Book details · My Books · Reservations · Fines · Profile</a:t>
            </a:r>
            <a:endParaRPr lang="en-US" sz="1125" dirty="0"/>
          </a:p>
        </p:txBody>
      </p:sp>
      <p:sp>
        <p:nvSpPr>
          <p:cNvPr id="9" name="Text 7"/>
          <p:cNvSpPr txBox="1"/>
          <p:nvPr/>
        </p:nvSpPr>
        <p:spPr>
          <a:xfrm>
            <a:off x="8229600" y="2114550"/>
            <a:ext cx="3429000" cy="495300"/>
          </a:xfrm>
          <a:prstGeom prst="rect">
            <a:avLst/>
          </a:prstGeom>
          <a:noFill/>
          <a:ln/>
        </p:spPr>
        <p:txBody>
          <a:bodyPr wrap="square" lIns="0" tIns="0" rIns="0" bIns="0" rtlCol="0" anchor="t"/>
          <a:lstStyle/>
          <a:p>
            <a:pPr algn="l" indent="0" marL="0">
              <a:lnSpc>
                <a:spcPts val="1688"/>
              </a:lnSpc>
              <a:buNone/>
            </a:pPr>
            <a:r>
              <a:rPr lang="en-US" sz="1125" dirty="0">
                <a:solidFill>
                  <a:srgbClr val="000000"/>
                </a:solidFill>
                <a:latin typeface="Manrope" pitchFamily="34" charset="0"/>
                <a:ea typeface="Manrope" pitchFamily="34" charset="-122"/>
                <a:cs typeface="Manrope" pitchFamily="34" charset="-120"/>
              </a:rPr>
              <a:t>Reserve and renew their own books, pay their fines</a:t>
            </a:r>
            <a:endParaRPr lang="en-US" sz="1125" dirty="0"/>
          </a:p>
        </p:txBody>
      </p:sp>
      <p:sp>
        <p:nvSpPr>
          <p:cNvPr id="10" name="Shape 8"/>
          <p:cNvSpPr/>
          <p:nvPr/>
        </p:nvSpPr>
        <p:spPr>
          <a:xfrm>
            <a:off x="533400" y="2857500"/>
            <a:ext cx="11125200" cy="9525"/>
          </a:xfrm>
          <a:prstGeom prst="rect">
            <a:avLst/>
          </a:prstGeom>
          <a:solidFill>
            <a:srgbClr val="E2E2E2"/>
          </a:solidFill>
          <a:ln w="12700">
            <a:solidFill>
              <a:srgbClr val="E2E2E2">
                <a:alpha val="0"/>
              </a:srgbClr>
            </a:solidFill>
            <a:prstDash val="solid"/>
          </a:ln>
        </p:spPr>
      </p:sp>
      <p:sp>
        <p:nvSpPr>
          <p:cNvPr id="11" name="Text 9"/>
          <p:cNvSpPr txBox="1"/>
          <p:nvPr/>
        </p:nvSpPr>
        <p:spPr>
          <a:xfrm>
            <a:off x="533400" y="3086100"/>
            <a:ext cx="1905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Librarian</a:t>
            </a:r>
            <a:endParaRPr lang="en-US" sz="1500" dirty="0"/>
          </a:p>
        </p:txBody>
      </p:sp>
      <p:sp>
        <p:nvSpPr>
          <p:cNvPr id="12" name="Text 10"/>
          <p:cNvSpPr txBox="1"/>
          <p:nvPr/>
        </p:nvSpPr>
        <p:spPr>
          <a:xfrm>
            <a:off x="2628900" y="3105150"/>
            <a:ext cx="5334000" cy="495300"/>
          </a:xfrm>
          <a:prstGeom prst="rect">
            <a:avLst/>
          </a:prstGeom>
          <a:noFill/>
          <a:ln/>
        </p:spPr>
        <p:txBody>
          <a:bodyPr wrap="square" lIns="0" tIns="0" rIns="0" bIns="0" rtlCol="0" anchor="t"/>
          <a:lstStyle/>
          <a:p>
            <a:pPr algn="l" indent="0" marL="0">
              <a:lnSpc>
                <a:spcPts val="1688"/>
              </a:lnSpc>
              <a:buNone/>
            </a:pPr>
            <a:r>
              <a:rPr lang="en-US" sz="1125" dirty="0">
                <a:solidFill>
                  <a:srgbClr val="545454"/>
                </a:solidFill>
                <a:latin typeface="Manrope" pitchFamily="34" charset="0"/>
                <a:ea typeface="Manrope" pitchFamily="34" charset="-122"/>
                <a:cs typeface="Manrope" pitchFamily="34" charset="-120"/>
              </a:rPr>
              <a:t>Dashboard · Students · Books · Book details · Issue Book · Return Book · Transactions · Profile</a:t>
            </a:r>
            <a:endParaRPr lang="en-US" sz="1125" dirty="0"/>
          </a:p>
        </p:txBody>
      </p:sp>
      <p:sp>
        <p:nvSpPr>
          <p:cNvPr id="13" name="Text 11"/>
          <p:cNvSpPr txBox="1"/>
          <p:nvPr/>
        </p:nvSpPr>
        <p:spPr>
          <a:xfrm>
            <a:off x="8229600" y="3105150"/>
            <a:ext cx="3429000" cy="495300"/>
          </a:xfrm>
          <a:prstGeom prst="rect">
            <a:avLst/>
          </a:prstGeom>
          <a:noFill/>
          <a:ln/>
        </p:spPr>
        <p:txBody>
          <a:bodyPr wrap="square" lIns="0" tIns="0" rIns="0" bIns="0" rtlCol="0" anchor="t"/>
          <a:lstStyle/>
          <a:p>
            <a:pPr algn="l" indent="0" marL="0">
              <a:lnSpc>
                <a:spcPts val="1688"/>
              </a:lnSpc>
              <a:buNone/>
            </a:pPr>
            <a:r>
              <a:rPr lang="en-US" sz="1125" dirty="0">
                <a:solidFill>
                  <a:srgbClr val="000000"/>
                </a:solidFill>
                <a:latin typeface="Manrope" pitchFamily="34" charset="0"/>
                <a:ea typeface="Manrope" pitchFamily="34" charset="-122"/>
                <a:cs typeface="Manrope" pitchFamily="34" charset="-120"/>
              </a:rPr>
              <a:t>Issue and return books, send due-date reminders</a:t>
            </a:r>
            <a:endParaRPr lang="en-US" sz="1125" dirty="0"/>
          </a:p>
        </p:txBody>
      </p:sp>
      <p:sp>
        <p:nvSpPr>
          <p:cNvPr id="14" name="Shape 12"/>
          <p:cNvSpPr/>
          <p:nvPr/>
        </p:nvSpPr>
        <p:spPr>
          <a:xfrm>
            <a:off x="533400" y="3848100"/>
            <a:ext cx="11125200" cy="9525"/>
          </a:xfrm>
          <a:prstGeom prst="rect">
            <a:avLst/>
          </a:prstGeom>
          <a:solidFill>
            <a:srgbClr val="E2E2E2"/>
          </a:solidFill>
          <a:ln w="12700">
            <a:solidFill>
              <a:srgbClr val="E2E2E2">
                <a:alpha val="0"/>
              </a:srgbClr>
            </a:solidFill>
            <a:prstDash val="solid"/>
          </a:ln>
        </p:spPr>
      </p:sp>
      <p:sp>
        <p:nvSpPr>
          <p:cNvPr id="15" name="Text 13"/>
          <p:cNvSpPr txBox="1"/>
          <p:nvPr/>
        </p:nvSpPr>
        <p:spPr>
          <a:xfrm>
            <a:off x="533400" y="4076700"/>
            <a:ext cx="1905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Admin</a:t>
            </a:r>
            <a:endParaRPr lang="en-US" sz="1500" dirty="0"/>
          </a:p>
        </p:txBody>
      </p:sp>
      <p:sp>
        <p:nvSpPr>
          <p:cNvPr id="16" name="Text 14"/>
          <p:cNvSpPr txBox="1"/>
          <p:nvPr/>
        </p:nvSpPr>
        <p:spPr>
          <a:xfrm>
            <a:off x="2628900" y="4095750"/>
            <a:ext cx="5334000" cy="495300"/>
          </a:xfrm>
          <a:prstGeom prst="rect">
            <a:avLst/>
          </a:prstGeom>
          <a:noFill/>
          <a:ln/>
        </p:spPr>
        <p:txBody>
          <a:bodyPr wrap="square" lIns="0" tIns="0" rIns="0" bIns="0" rtlCol="0" anchor="t"/>
          <a:lstStyle/>
          <a:p>
            <a:pPr algn="l" indent="0" marL="0">
              <a:lnSpc>
                <a:spcPts val="1688"/>
              </a:lnSpc>
              <a:buNone/>
            </a:pPr>
            <a:r>
              <a:rPr lang="en-US" sz="1125" dirty="0">
                <a:solidFill>
                  <a:srgbClr val="545454"/>
                </a:solidFill>
                <a:latin typeface="Manrope" pitchFamily="34" charset="0"/>
                <a:ea typeface="Manrope" pitchFamily="34" charset="-122"/>
                <a:cs typeface="Manrope" pitchFamily="34" charset="-120"/>
              </a:rPr>
              <a:t>Dashboard · Books · Members · Staff · Transactions · Fines · Inbox · Reports · Settings · Profile</a:t>
            </a:r>
            <a:endParaRPr lang="en-US" sz="1125" dirty="0"/>
          </a:p>
        </p:txBody>
      </p:sp>
      <p:sp>
        <p:nvSpPr>
          <p:cNvPr id="17" name="Text 15"/>
          <p:cNvSpPr txBox="1"/>
          <p:nvPr/>
        </p:nvSpPr>
        <p:spPr>
          <a:xfrm>
            <a:off x="8229600" y="4095750"/>
            <a:ext cx="3429000" cy="495300"/>
          </a:xfrm>
          <a:prstGeom prst="rect">
            <a:avLst/>
          </a:prstGeom>
          <a:noFill/>
          <a:ln/>
        </p:spPr>
        <p:txBody>
          <a:bodyPr wrap="square" lIns="0" tIns="0" rIns="0" bIns="0" rtlCol="0" anchor="t"/>
          <a:lstStyle/>
          <a:p>
            <a:pPr algn="l" indent="0" marL="0">
              <a:lnSpc>
                <a:spcPts val="1688"/>
              </a:lnSpc>
              <a:buNone/>
            </a:pPr>
            <a:r>
              <a:rPr lang="en-US" sz="1125" dirty="0">
                <a:solidFill>
                  <a:srgbClr val="000000"/>
                </a:solidFill>
                <a:latin typeface="Manrope" pitchFamily="34" charset="0"/>
                <a:ea typeface="Manrope" pitchFamily="34" charset="-122"/>
                <a:cs typeface="Manrope" pitchFamily="34" charset="-120"/>
              </a:rPr>
              <a:t>Approve students, create staff, reset passwords, change rules</a:t>
            </a:r>
            <a:endParaRPr lang="en-US" sz="1125" dirty="0"/>
          </a:p>
        </p:txBody>
      </p:sp>
      <p:sp>
        <p:nvSpPr>
          <p:cNvPr id="18" name="Shape 16"/>
          <p:cNvSpPr/>
          <p:nvPr/>
        </p:nvSpPr>
        <p:spPr>
          <a:xfrm>
            <a:off x="533400" y="4838700"/>
            <a:ext cx="11125200" cy="9525"/>
          </a:xfrm>
          <a:prstGeom prst="rect">
            <a:avLst/>
          </a:prstGeom>
          <a:solidFill>
            <a:srgbClr val="E2E2E2"/>
          </a:solidFill>
          <a:ln w="12700">
            <a:solidFill>
              <a:srgbClr val="E2E2E2">
                <a:alpha val="0"/>
              </a:srgbClr>
            </a:solidFill>
            <a:prstDash val="solid"/>
          </a:ln>
        </p:spPr>
      </p:sp>
      <p:sp>
        <p:nvSpPr>
          <p:cNvPr id="19" name="Shape 17"/>
          <p:cNvSpPr/>
          <p:nvPr/>
        </p:nvSpPr>
        <p:spPr>
          <a:xfrm>
            <a:off x="533400" y="5086350"/>
            <a:ext cx="11125200" cy="685800"/>
          </a:xfrm>
          <a:prstGeom prst="roundRect">
            <a:avLst>
              <a:gd name="adj" fmla="val 16667"/>
            </a:avLst>
          </a:prstGeom>
          <a:solidFill>
            <a:srgbClr val="F6F6F6"/>
          </a:solidFill>
          <a:ln w="12700">
            <a:solidFill>
              <a:srgbClr val="F6F6F6">
                <a:alpha val="0"/>
              </a:srgbClr>
            </a:solidFill>
            <a:prstDash val="solid"/>
          </a:ln>
        </p:spPr>
      </p:sp>
      <p:sp>
        <p:nvSpPr>
          <p:cNvPr id="20" name="Text 18"/>
          <p:cNvSpPr txBox="1"/>
          <p:nvPr/>
        </p:nvSpPr>
        <p:spPr>
          <a:xfrm>
            <a:off x="800100" y="5295900"/>
            <a:ext cx="10572750" cy="285750"/>
          </a:xfrm>
          <a:prstGeom prst="rect">
            <a:avLst/>
          </a:prstGeom>
          <a:noFill/>
          <a:ln/>
        </p:spPr>
        <p:txBody>
          <a:bodyPr wrap="square" lIns="0" tIns="0" rIns="0" bIns="0" rtlCol="0" anchor="t"/>
          <a:lstStyle/>
          <a:p>
            <a:pPr algn="l" indent="0" marL="0">
              <a:lnSpc>
                <a:spcPts val="1575"/>
              </a:lnSpc>
              <a:buNone/>
            </a:pPr>
            <a:r>
              <a:rPr lang="en-US" sz="1125" dirty="0">
                <a:solidFill>
                  <a:srgbClr val="000000"/>
                </a:solidFill>
                <a:latin typeface="Manrope" pitchFamily="34" charset="0"/>
                <a:ea typeface="Manrope" pitchFamily="34" charset="-122"/>
                <a:cs typeface="Manrope" pitchFamily="34" charset="-120"/>
              </a:rPr>
              <a:t>Staff accounts are created only by an admin, with a temporary password the person must replace on first login.</a:t>
            </a:r>
            <a:endParaRPr lang="en-US" sz="1125"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Every page talks to a small promise-based server in the browser</a:t>
            </a:r>
            <a:endParaRPr lang="en-US" sz="2550" dirty="0"/>
          </a:p>
        </p:txBody>
      </p:sp>
      <p:sp>
        <p:nvSpPr>
          <p:cNvPr id="3" name="Layer React pages"/>
          <p:cNvSpPr/>
          <p:nvPr/>
        </p:nvSpPr>
        <p:spPr>
          <a:xfrm>
            <a:off x="533400" y="1714500"/>
            <a:ext cx="2381250" cy="2000250"/>
          </a:xfrm>
          <a:prstGeom prst="roundRect">
            <a:avLst>
              <a:gd name="adj" fmla="val 5714"/>
            </a:avLst>
          </a:prstGeom>
          <a:solidFill>
            <a:srgbClr val="F6F6F6"/>
          </a:solidFill>
          <a:ln w="12700">
            <a:solidFill>
              <a:srgbClr val="F6F6F6">
                <a:alpha val="0"/>
              </a:srgbClr>
            </a:solidFill>
            <a:prstDash val="solid"/>
          </a:ln>
        </p:spPr>
      </p:sp>
      <p:sp>
        <p:nvSpPr>
          <p:cNvPr id="4" name="Text 2"/>
          <p:cNvSpPr txBox="1"/>
          <p:nvPr/>
        </p:nvSpPr>
        <p:spPr>
          <a:xfrm>
            <a:off x="742950" y="1924050"/>
            <a:ext cx="200025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React pages</a:t>
            </a:r>
            <a:endParaRPr lang="en-US" sz="1500" dirty="0"/>
          </a:p>
        </p:txBody>
      </p:sp>
      <p:sp>
        <p:nvSpPr>
          <p:cNvPr id="5" name="Text 3"/>
          <p:cNvSpPr txBox="1"/>
          <p:nvPr/>
        </p:nvSpPr>
        <p:spPr>
          <a:xfrm>
            <a:off x="742950" y="2228850"/>
            <a:ext cx="200025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src/pages · 37 components</a:t>
            </a:r>
            <a:endParaRPr lang="en-US" sz="900" dirty="0"/>
          </a:p>
        </p:txBody>
      </p:sp>
      <p:sp>
        <p:nvSpPr>
          <p:cNvPr id="6" name="Text 4"/>
          <p:cNvSpPr txBox="1"/>
          <p:nvPr/>
        </p:nvSpPr>
        <p:spPr>
          <a:xfrm>
            <a:off x="742950" y="2533650"/>
            <a:ext cx="2000250" cy="1047750"/>
          </a:xfrm>
          <a:prstGeom prst="rect">
            <a:avLst/>
          </a:prstGeom>
          <a:noFill/>
          <a:ln/>
        </p:spPr>
        <p:txBody>
          <a:bodyPr wrap="square" lIns="0" tIns="0" rIns="0" bIns="0" rtlCol="0" anchor="t"/>
          <a:lstStyle/>
          <a:p>
            <a:pPr algn="l" indent="0" marL="0">
              <a:lnSpc>
                <a:spcPts val="1523"/>
              </a:lnSpc>
              <a:buNone/>
            </a:pPr>
            <a:r>
              <a:rPr lang="en-US" sz="1050" dirty="0">
                <a:solidFill>
                  <a:srgbClr val="545454"/>
                </a:solidFill>
                <a:latin typeface="Manrope" pitchFamily="34" charset="0"/>
                <a:ea typeface="Manrope" pitchFamily="34" charset="-122"/>
                <a:cs typeface="Manrope" pitchFamily="34" charset="-120"/>
              </a:rPr>
              <a:t>One component per page, lazy-loaded by React Router and guarded by role.</a:t>
            </a:r>
            <a:endParaRPr lang="en-US" sz="1050" dirty="0"/>
          </a:p>
        </p:txBody>
      </p:sp>
      <p:sp>
        <p:nvSpPr>
          <p:cNvPr id="7" name="Flow arrow"/>
          <p:cNvSpPr/>
          <p:nvPr/>
        </p:nvSpPr>
        <p:spPr>
          <a:xfrm>
            <a:off x="2952750" y="2714625"/>
            <a:ext cx="533400" cy="0"/>
          </a:xfrm>
          <a:prstGeom prst="line">
            <a:avLst/>
          </a:prstGeom>
          <a:noFill/>
          <a:ln w="28575">
            <a:solidFill>
              <a:srgbClr val="000000"/>
            </a:solidFill>
            <a:prstDash val="solid"/>
            <a:tailEnd type="triangle"/>
          </a:ln>
        </p:spPr>
      </p:sp>
      <p:sp>
        <p:nvSpPr>
          <p:cNvPr id="8" name="Layer LibraryContext"/>
          <p:cNvSpPr/>
          <p:nvPr/>
        </p:nvSpPr>
        <p:spPr>
          <a:xfrm>
            <a:off x="3448050" y="1714500"/>
            <a:ext cx="2381250" cy="2000250"/>
          </a:xfrm>
          <a:prstGeom prst="roundRect">
            <a:avLst>
              <a:gd name="adj" fmla="val 5714"/>
            </a:avLst>
          </a:prstGeom>
          <a:solidFill>
            <a:srgbClr val="F6F6F6"/>
          </a:solidFill>
          <a:ln w="12700">
            <a:solidFill>
              <a:srgbClr val="F6F6F6">
                <a:alpha val="0"/>
              </a:srgbClr>
            </a:solidFill>
            <a:prstDash val="solid"/>
          </a:ln>
        </p:spPr>
      </p:sp>
      <p:sp>
        <p:nvSpPr>
          <p:cNvPr id="9" name="Text 7"/>
          <p:cNvSpPr txBox="1"/>
          <p:nvPr/>
        </p:nvSpPr>
        <p:spPr>
          <a:xfrm>
            <a:off x="3657600" y="1924050"/>
            <a:ext cx="200025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LibraryContext</a:t>
            </a:r>
            <a:endParaRPr lang="en-US" sz="1500" dirty="0"/>
          </a:p>
        </p:txBody>
      </p:sp>
      <p:sp>
        <p:nvSpPr>
          <p:cNvPr id="10" name="Text 8"/>
          <p:cNvSpPr txBox="1"/>
          <p:nvPr/>
        </p:nvSpPr>
        <p:spPr>
          <a:xfrm>
            <a:off x="3657600" y="2228850"/>
            <a:ext cx="200025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src/context</a:t>
            </a:r>
            <a:endParaRPr lang="en-US" sz="900" dirty="0"/>
          </a:p>
        </p:txBody>
      </p:sp>
      <p:sp>
        <p:nvSpPr>
          <p:cNvPr id="11" name="Text 9"/>
          <p:cNvSpPr txBox="1"/>
          <p:nvPr/>
        </p:nvSpPr>
        <p:spPr>
          <a:xfrm>
            <a:off x="3657600" y="2533650"/>
            <a:ext cx="2000250" cy="1047750"/>
          </a:xfrm>
          <a:prstGeom prst="rect">
            <a:avLst/>
          </a:prstGeom>
          <a:noFill/>
          <a:ln/>
        </p:spPr>
        <p:txBody>
          <a:bodyPr wrap="square" lIns="0" tIns="0" rIns="0" bIns="0" rtlCol="0" anchor="t"/>
          <a:lstStyle/>
          <a:p>
            <a:pPr algn="l" indent="0" marL="0">
              <a:lnSpc>
                <a:spcPts val="1523"/>
              </a:lnSpc>
              <a:buNone/>
            </a:pPr>
            <a:r>
              <a:rPr lang="en-US" sz="1050" dirty="0">
                <a:solidFill>
                  <a:srgbClr val="545454"/>
                </a:solidFill>
                <a:latin typeface="Manrope" pitchFamily="34" charset="0"/>
                <a:ea typeface="Manrope" pitchFamily="34" charset="-122"/>
                <a:cs typeface="Manrope" pitchFamily="34" charset="-120"/>
              </a:rPr>
              <a:t>Gives pages the data and turns every button press into an API call.</a:t>
            </a:r>
            <a:endParaRPr lang="en-US" sz="1050" dirty="0"/>
          </a:p>
        </p:txBody>
      </p:sp>
      <p:sp>
        <p:nvSpPr>
          <p:cNvPr id="12" name="Flow arrow"/>
          <p:cNvSpPr/>
          <p:nvPr/>
        </p:nvSpPr>
        <p:spPr>
          <a:xfrm>
            <a:off x="5867400" y="2714625"/>
            <a:ext cx="533400" cy="0"/>
          </a:xfrm>
          <a:prstGeom prst="line">
            <a:avLst/>
          </a:prstGeom>
          <a:noFill/>
          <a:ln w="28575">
            <a:solidFill>
              <a:srgbClr val="000000"/>
            </a:solidFill>
            <a:prstDash val="solid"/>
            <a:tailEnd type="triangle"/>
          </a:ln>
        </p:spPr>
      </p:sp>
      <p:sp>
        <p:nvSpPr>
          <p:cNvPr id="13" name="Layer Fake server"/>
          <p:cNvSpPr/>
          <p:nvPr/>
        </p:nvSpPr>
        <p:spPr>
          <a:xfrm>
            <a:off x="6362700" y="1714500"/>
            <a:ext cx="2381250" cy="2000250"/>
          </a:xfrm>
          <a:prstGeom prst="roundRect">
            <a:avLst>
              <a:gd name="adj" fmla="val 5714"/>
            </a:avLst>
          </a:prstGeom>
          <a:solidFill>
            <a:srgbClr val="F6F6F6"/>
          </a:solidFill>
          <a:ln w="12700">
            <a:solidFill>
              <a:srgbClr val="F6F6F6">
                <a:alpha val="0"/>
              </a:srgbClr>
            </a:solidFill>
            <a:prstDash val="solid"/>
          </a:ln>
        </p:spPr>
      </p:sp>
      <p:sp>
        <p:nvSpPr>
          <p:cNvPr id="14" name="Text 12"/>
          <p:cNvSpPr txBox="1"/>
          <p:nvPr/>
        </p:nvSpPr>
        <p:spPr>
          <a:xfrm>
            <a:off x="6572250" y="1924050"/>
            <a:ext cx="200025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Fake server</a:t>
            </a:r>
            <a:endParaRPr lang="en-US" sz="1500" dirty="0"/>
          </a:p>
        </p:txBody>
      </p:sp>
      <p:sp>
        <p:nvSpPr>
          <p:cNvPr id="15" name="Text 13"/>
          <p:cNvSpPr txBox="1"/>
          <p:nvPr/>
        </p:nvSpPr>
        <p:spPr>
          <a:xfrm>
            <a:off x="6572250" y="2228850"/>
            <a:ext cx="200025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src/api</a:t>
            </a:r>
            <a:endParaRPr lang="en-US" sz="900" dirty="0"/>
          </a:p>
        </p:txBody>
      </p:sp>
      <p:sp>
        <p:nvSpPr>
          <p:cNvPr id="16" name="Text 14"/>
          <p:cNvSpPr txBox="1"/>
          <p:nvPr/>
        </p:nvSpPr>
        <p:spPr>
          <a:xfrm>
            <a:off x="6572250" y="2533650"/>
            <a:ext cx="2000250" cy="1047750"/>
          </a:xfrm>
          <a:prstGeom prst="rect">
            <a:avLst/>
          </a:prstGeom>
          <a:noFill/>
          <a:ln/>
        </p:spPr>
        <p:txBody>
          <a:bodyPr wrap="square" lIns="0" tIns="0" rIns="0" bIns="0" rtlCol="0" anchor="t"/>
          <a:lstStyle/>
          <a:p>
            <a:pPr algn="l" indent="0" marL="0">
              <a:lnSpc>
                <a:spcPts val="1523"/>
              </a:lnSpc>
              <a:buNone/>
            </a:pPr>
            <a:r>
              <a:rPr lang="en-US" sz="1050" dirty="0">
                <a:solidFill>
                  <a:srgbClr val="545454"/>
                </a:solidFill>
                <a:latin typeface="Manrope" pitchFamily="34" charset="0"/>
                <a:ea typeface="Manrope" pitchFamily="34" charset="-122"/>
                <a:cs typeface="Manrope" pitchFamily="34" charset="-120"/>
              </a:rPr>
              <a:t>index.js checks who is asking · engine.js holds the rules · captcha.js · db.js</a:t>
            </a:r>
            <a:endParaRPr lang="en-US" sz="1050" dirty="0"/>
          </a:p>
        </p:txBody>
      </p:sp>
      <p:sp>
        <p:nvSpPr>
          <p:cNvPr id="17" name="Flow arrow"/>
          <p:cNvSpPr/>
          <p:nvPr/>
        </p:nvSpPr>
        <p:spPr>
          <a:xfrm>
            <a:off x="8782050" y="2714625"/>
            <a:ext cx="533400" cy="0"/>
          </a:xfrm>
          <a:prstGeom prst="line">
            <a:avLst/>
          </a:prstGeom>
          <a:noFill/>
          <a:ln w="28575">
            <a:solidFill>
              <a:srgbClr val="000000"/>
            </a:solidFill>
            <a:prstDash val="solid"/>
            <a:tailEnd type="triangle"/>
          </a:ln>
        </p:spPr>
      </p:sp>
      <p:sp>
        <p:nvSpPr>
          <p:cNvPr id="18" name="Layer localStorage"/>
          <p:cNvSpPr/>
          <p:nvPr/>
        </p:nvSpPr>
        <p:spPr>
          <a:xfrm>
            <a:off x="9277350" y="1714500"/>
            <a:ext cx="2381250" cy="2000250"/>
          </a:xfrm>
          <a:prstGeom prst="roundRect">
            <a:avLst>
              <a:gd name="adj" fmla="val 5714"/>
            </a:avLst>
          </a:prstGeom>
          <a:solidFill>
            <a:srgbClr val="000000"/>
          </a:solidFill>
          <a:ln w="12700">
            <a:solidFill>
              <a:srgbClr val="000000">
                <a:alpha val="0"/>
              </a:srgbClr>
            </a:solidFill>
            <a:prstDash val="solid"/>
          </a:ln>
        </p:spPr>
      </p:sp>
      <p:sp>
        <p:nvSpPr>
          <p:cNvPr id="19" name="Text 17"/>
          <p:cNvSpPr txBox="1"/>
          <p:nvPr/>
        </p:nvSpPr>
        <p:spPr>
          <a:xfrm>
            <a:off x="9486900" y="1924050"/>
            <a:ext cx="2000250" cy="266700"/>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Manrope" pitchFamily="34" charset="0"/>
                <a:ea typeface="Manrope" pitchFamily="34" charset="-122"/>
                <a:cs typeface="Manrope" pitchFamily="34" charset="-120"/>
              </a:rPr>
              <a:t>localStorage</a:t>
            </a:r>
            <a:endParaRPr lang="en-US" sz="1500" dirty="0"/>
          </a:p>
        </p:txBody>
      </p:sp>
      <p:sp>
        <p:nvSpPr>
          <p:cNvPr id="20" name="Text 18"/>
          <p:cNvSpPr txBox="1"/>
          <p:nvPr/>
        </p:nvSpPr>
        <p:spPr>
          <a:xfrm>
            <a:off x="9486900" y="2228850"/>
            <a:ext cx="2000250" cy="171450"/>
          </a:xfrm>
          <a:prstGeom prst="rect">
            <a:avLst/>
          </a:prstGeom>
          <a:noFill/>
          <a:ln/>
        </p:spPr>
        <p:txBody>
          <a:bodyPr wrap="square" lIns="0" tIns="0" rIns="0" bIns="0" rtlCol="0" anchor="t"/>
          <a:lstStyle/>
          <a:p>
            <a:pPr algn="l" indent="0" marL="0">
              <a:lnSpc>
                <a:spcPts val="1215"/>
              </a:lnSpc>
              <a:buNone/>
            </a:pPr>
            <a:r>
              <a:rPr lang="en-US" sz="900" b="1" dirty="0">
                <a:solidFill>
                  <a:srgbClr val="AFAFAF"/>
                </a:solidFill>
                <a:latin typeface="Manrope" pitchFamily="34" charset="0"/>
                <a:ea typeface="Manrope" pitchFamily="34" charset="-122"/>
                <a:cs typeface="Manrope" pitchFamily="34" charset="-120"/>
              </a:rPr>
              <a:t>the database</a:t>
            </a:r>
            <a:endParaRPr lang="en-US" sz="900" dirty="0"/>
          </a:p>
        </p:txBody>
      </p:sp>
      <p:sp>
        <p:nvSpPr>
          <p:cNvPr id="21" name="Text 19"/>
          <p:cNvSpPr txBox="1"/>
          <p:nvPr/>
        </p:nvSpPr>
        <p:spPr>
          <a:xfrm>
            <a:off x="9486900" y="2533650"/>
            <a:ext cx="2000250" cy="1047750"/>
          </a:xfrm>
          <a:prstGeom prst="rect">
            <a:avLst/>
          </a:prstGeom>
          <a:noFill/>
          <a:ln/>
        </p:spPr>
        <p:txBody>
          <a:bodyPr wrap="square" lIns="0" tIns="0" rIns="0" bIns="0" rtlCol="0" anchor="t"/>
          <a:lstStyle/>
          <a:p>
            <a:pPr algn="l" indent="0" marL="0">
              <a:lnSpc>
                <a:spcPts val="1523"/>
              </a:lnSpc>
              <a:buNone/>
            </a:pPr>
            <a:r>
              <a:rPr lang="en-US" sz="1050" dirty="0">
                <a:solidFill>
                  <a:srgbClr val="FFFFFF"/>
                </a:solidFill>
                <a:latin typeface="Manrope" pitchFamily="34" charset="0"/>
                <a:ea typeface="Manrope" pitchFamily="34" charset="-122"/>
                <a:cs typeface="Manrope" pitchFamily="34" charset="-120"/>
              </a:rPr>
              <a:t>One key per table: bookverse:books, :loans, :students, :messages …</a:t>
            </a:r>
            <a:endParaRPr lang="en-US" sz="1050" dirty="0"/>
          </a:p>
        </p:txBody>
      </p:sp>
      <p:sp>
        <p:nvSpPr>
          <p:cNvPr id="22" name="Text 20"/>
          <p:cNvSpPr txBox="1"/>
          <p:nvPr/>
        </p:nvSpPr>
        <p:spPr>
          <a:xfrm>
            <a:off x="533400" y="3981450"/>
            <a:ext cx="85725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BUILT WITH</a:t>
            </a:r>
            <a:endParaRPr lang="en-US" sz="900" dirty="0"/>
          </a:p>
        </p:txBody>
      </p:sp>
      <p:sp>
        <p:nvSpPr>
          <p:cNvPr id="23" name="Shape 21"/>
          <p:cNvSpPr/>
          <p:nvPr/>
        </p:nvSpPr>
        <p:spPr>
          <a:xfrm>
            <a:off x="533400" y="4229100"/>
            <a:ext cx="1524000" cy="419100"/>
          </a:xfrm>
          <a:prstGeom prst="roundRect">
            <a:avLst>
              <a:gd name="adj" fmla="val 18182"/>
            </a:avLst>
          </a:prstGeom>
          <a:solidFill>
            <a:srgbClr val="F6F6F6"/>
          </a:solidFill>
          <a:ln w="12700">
            <a:solidFill>
              <a:srgbClr val="F6F6F6">
                <a:alpha val="0"/>
              </a:srgbClr>
            </a:solidFill>
            <a:prstDash val="solid"/>
          </a:ln>
        </p:spPr>
      </p:sp>
      <p:sp>
        <p:nvSpPr>
          <p:cNvPr id="24" name="Text 22"/>
          <p:cNvSpPr txBox="1"/>
          <p:nvPr/>
        </p:nvSpPr>
        <p:spPr>
          <a:xfrm>
            <a:off x="533400" y="4343400"/>
            <a:ext cx="1524000" cy="209550"/>
          </a:xfrm>
          <a:prstGeom prst="rect">
            <a:avLst/>
          </a:prstGeom>
          <a:noFill/>
          <a:ln/>
        </p:spPr>
        <p:txBody>
          <a:bodyPr wrap="square" lIns="0" tIns="0" rIns="0" bIns="0" rtlCol="0" anchor="t"/>
          <a:lstStyle/>
          <a:p>
            <a:pPr algn="ctr" indent="0" marL="0">
              <a:lnSpc>
                <a:spcPts val="1463"/>
              </a:lnSpc>
              <a:buNone/>
            </a:pPr>
            <a:r>
              <a:rPr lang="en-US" sz="1125" b="1" dirty="0">
                <a:solidFill>
                  <a:srgbClr val="000000"/>
                </a:solidFill>
                <a:latin typeface="Manrope" pitchFamily="34" charset="0"/>
                <a:ea typeface="Manrope" pitchFamily="34" charset="-122"/>
                <a:cs typeface="Manrope" pitchFamily="34" charset="-120"/>
              </a:rPr>
              <a:t>React 19</a:t>
            </a:r>
            <a:endParaRPr lang="en-US" sz="1125" dirty="0"/>
          </a:p>
        </p:txBody>
      </p:sp>
      <p:sp>
        <p:nvSpPr>
          <p:cNvPr id="25" name="Shape 23"/>
          <p:cNvSpPr/>
          <p:nvPr/>
        </p:nvSpPr>
        <p:spPr>
          <a:xfrm>
            <a:off x="2209800" y="4229100"/>
            <a:ext cx="1524000" cy="419100"/>
          </a:xfrm>
          <a:prstGeom prst="roundRect">
            <a:avLst>
              <a:gd name="adj" fmla="val 18182"/>
            </a:avLst>
          </a:prstGeom>
          <a:solidFill>
            <a:srgbClr val="F6F6F6"/>
          </a:solidFill>
          <a:ln w="12700">
            <a:solidFill>
              <a:srgbClr val="F6F6F6">
                <a:alpha val="0"/>
              </a:srgbClr>
            </a:solidFill>
            <a:prstDash val="solid"/>
          </a:ln>
        </p:spPr>
      </p:sp>
      <p:sp>
        <p:nvSpPr>
          <p:cNvPr id="26" name="Text 24"/>
          <p:cNvSpPr txBox="1"/>
          <p:nvPr/>
        </p:nvSpPr>
        <p:spPr>
          <a:xfrm>
            <a:off x="2209800" y="4343400"/>
            <a:ext cx="1524000" cy="209550"/>
          </a:xfrm>
          <a:prstGeom prst="rect">
            <a:avLst/>
          </a:prstGeom>
          <a:noFill/>
          <a:ln/>
        </p:spPr>
        <p:txBody>
          <a:bodyPr wrap="square" lIns="0" tIns="0" rIns="0" bIns="0" rtlCol="0" anchor="t"/>
          <a:lstStyle/>
          <a:p>
            <a:pPr algn="ctr" indent="0" marL="0">
              <a:lnSpc>
                <a:spcPts val="1463"/>
              </a:lnSpc>
              <a:buNone/>
            </a:pPr>
            <a:r>
              <a:rPr lang="en-US" sz="1125" b="1" dirty="0">
                <a:solidFill>
                  <a:srgbClr val="000000"/>
                </a:solidFill>
                <a:latin typeface="Manrope" pitchFamily="34" charset="0"/>
                <a:ea typeface="Manrope" pitchFamily="34" charset="-122"/>
                <a:cs typeface="Manrope" pitchFamily="34" charset="-120"/>
              </a:rPr>
              <a:t>React Router 7</a:t>
            </a:r>
            <a:endParaRPr lang="en-US" sz="1125" dirty="0"/>
          </a:p>
        </p:txBody>
      </p:sp>
      <p:sp>
        <p:nvSpPr>
          <p:cNvPr id="27" name="Shape 25"/>
          <p:cNvSpPr/>
          <p:nvPr/>
        </p:nvSpPr>
        <p:spPr>
          <a:xfrm>
            <a:off x="3886200" y="4229100"/>
            <a:ext cx="1524000" cy="419100"/>
          </a:xfrm>
          <a:prstGeom prst="roundRect">
            <a:avLst>
              <a:gd name="adj" fmla="val 18182"/>
            </a:avLst>
          </a:prstGeom>
          <a:solidFill>
            <a:srgbClr val="F6F6F6"/>
          </a:solidFill>
          <a:ln w="12700">
            <a:solidFill>
              <a:srgbClr val="F6F6F6">
                <a:alpha val="0"/>
              </a:srgbClr>
            </a:solidFill>
            <a:prstDash val="solid"/>
          </a:ln>
        </p:spPr>
      </p:sp>
      <p:sp>
        <p:nvSpPr>
          <p:cNvPr id="28" name="Text 26"/>
          <p:cNvSpPr txBox="1"/>
          <p:nvPr/>
        </p:nvSpPr>
        <p:spPr>
          <a:xfrm>
            <a:off x="3886200" y="4343400"/>
            <a:ext cx="1524000" cy="209550"/>
          </a:xfrm>
          <a:prstGeom prst="rect">
            <a:avLst/>
          </a:prstGeom>
          <a:noFill/>
          <a:ln/>
        </p:spPr>
        <p:txBody>
          <a:bodyPr wrap="square" lIns="0" tIns="0" rIns="0" bIns="0" rtlCol="0" anchor="t"/>
          <a:lstStyle/>
          <a:p>
            <a:pPr algn="ctr" indent="0" marL="0">
              <a:lnSpc>
                <a:spcPts val="1463"/>
              </a:lnSpc>
              <a:buNone/>
            </a:pPr>
            <a:r>
              <a:rPr lang="en-US" sz="1125" b="1" dirty="0">
                <a:solidFill>
                  <a:srgbClr val="000000"/>
                </a:solidFill>
                <a:latin typeface="Manrope" pitchFamily="34" charset="0"/>
                <a:ea typeface="Manrope" pitchFamily="34" charset="-122"/>
                <a:cs typeface="Manrope" pitchFamily="34" charset="-120"/>
              </a:rPr>
              <a:t>Vite 8</a:t>
            </a:r>
            <a:endParaRPr lang="en-US" sz="1125" dirty="0"/>
          </a:p>
        </p:txBody>
      </p:sp>
      <p:sp>
        <p:nvSpPr>
          <p:cNvPr id="29" name="Shape 27"/>
          <p:cNvSpPr/>
          <p:nvPr/>
        </p:nvSpPr>
        <p:spPr>
          <a:xfrm>
            <a:off x="5562600" y="4229100"/>
            <a:ext cx="1524000" cy="419100"/>
          </a:xfrm>
          <a:prstGeom prst="roundRect">
            <a:avLst>
              <a:gd name="adj" fmla="val 18182"/>
            </a:avLst>
          </a:prstGeom>
          <a:solidFill>
            <a:srgbClr val="F6F6F6"/>
          </a:solidFill>
          <a:ln w="12700">
            <a:solidFill>
              <a:srgbClr val="F6F6F6">
                <a:alpha val="0"/>
              </a:srgbClr>
            </a:solidFill>
            <a:prstDash val="solid"/>
          </a:ln>
        </p:spPr>
      </p:sp>
      <p:sp>
        <p:nvSpPr>
          <p:cNvPr id="30" name="Text 28"/>
          <p:cNvSpPr txBox="1"/>
          <p:nvPr/>
        </p:nvSpPr>
        <p:spPr>
          <a:xfrm>
            <a:off x="5562600" y="4343400"/>
            <a:ext cx="1524000" cy="209550"/>
          </a:xfrm>
          <a:prstGeom prst="rect">
            <a:avLst/>
          </a:prstGeom>
          <a:noFill/>
          <a:ln/>
        </p:spPr>
        <p:txBody>
          <a:bodyPr wrap="square" lIns="0" tIns="0" rIns="0" bIns="0" rtlCol="0" anchor="t"/>
          <a:lstStyle/>
          <a:p>
            <a:pPr algn="ctr" indent="0" marL="0">
              <a:lnSpc>
                <a:spcPts val="1463"/>
              </a:lnSpc>
              <a:buNone/>
            </a:pPr>
            <a:r>
              <a:rPr lang="en-US" sz="1125" b="1" dirty="0">
                <a:solidFill>
                  <a:srgbClr val="000000"/>
                </a:solidFill>
                <a:latin typeface="Manrope" pitchFamily="34" charset="0"/>
                <a:ea typeface="Manrope" pitchFamily="34" charset="-122"/>
                <a:cs typeface="Manrope" pitchFamily="34" charset="-120"/>
              </a:rPr>
              <a:t>bcryptjs</a:t>
            </a:r>
            <a:endParaRPr lang="en-US" sz="1125" dirty="0"/>
          </a:p>
        </p:txBody>
      </p:sp>
      <p:sp>
        <p:nvSpPr>
          <p:cNvPr id="31" name="Shape 29"/>
          <p:cNvSpPr/>
          <p:nvPr/>
        </p:nvSpPr>
        <p:spPr>
          <a:xfrm>
            <a:off x="7239000" y="4229100"/>
            <a:ext cx="1524000" cy="419100"/>
          </a:xfrm>
          <a:prstGeom prst="roundRect">
            <a:avLst>
              <a:gd name="adj" fmla="val 18182"/>
            </a:avLst>
          </a:prstGeom>
          <a:solidFill>
            <a:srgbClr val="F6F6F6"/>
          </a:solidFill>
          <a:ln w="12700">
            <a:solidFill>
              <a:srgbClr val="F6F6F6">
                <a:alpha val="0"/>
              </a:srgbClr>
            </a:solidFill>
            <a:prstDash val="solid"/>
          </a:ln>
        </p:spPr>
      </p:sp>
      <p:sp>
        <p:nvSpPr>
          <p:cNvPr id="32" name="Text 30"/>
          <p:cNvSpPr txBox="1"/>
          <p:nvPr/>
        </p:nvSpPr>
        <p:spPr>
          <a:xfrm>
            <a:off x="7239000" y="4343400"/>
            <a:ext cx="1524000" cy="209550"/>
          </a:xfrm>
          <a:prstGeom prst="rect">
            <a:avLst/>
          </a:prstGeom>
          <a:noFill/>
          <a:ln/>
        </p:spPr>
        <p:txBody>
          <a:bodyPr wrap="square" lIns="0" tIns="0" rIns="0" bIns="0" rtlCol="0" anchor="t"/>
          <a:lstStyle/>
          <a:p>
            <a:pPr algn="ctr" indent="0" marL="0">
              <a:lnSpc>
                <a:spcPts val="1463"/>
              </a:lnSpc>
              <a:buNone/>
            </a:pPr>
            <a:r>
              <a:rPr lang="en-US" sz="1125" b="1" dirty="0">
                <a:solidFill>
                  <a:srgbClr val="000000"/>
                </a:solidFill>
                <a:latin typeface="Manrope" pitchFamily="34" charset="0"/>
                <a:ea typeface="Manrope" pitchFamily="34" charset="-122"/>
                <a:cs typeface="Manrope" pitchFamily="34" charset="-120"/>
              </a:rPr>
              <a:t>Hand-written CSS</a:t>
            </a:r>
            <a:endParaRPr lang="en-US" sz="1125" dirty="0"/>
          </a:p>
        </p:txBody>
      </p:sp>
      <p:sp>
        <p:nvSpPr>
          <p:cNvPr id="33" name="Shape 31"/>
          <p:cNvSpPr/>
          <p:nvPr/>
        </p:nvSpPr>
        <p:spPr>
          <a:xfrm>
            <a:off x="533400" y="4914900"/>
            <a:ext cx="11125200" cy="781050"/>
          </a:xfrm>
          <a:prstGeom prst="roundRect">
            <a:avLst>
              <a:gd name="adj" fmla="val 14634"/>
            </a:avLst>
          </a:prstGeom>
          <a:solidFill>
            <a:srgbClr val="F6F6F6"/>
          </a:solidFill>
          <a:ln w="12700">
            <a:solidFill>
              <a:srgbClr val="F6F6F6">
                <a:alpha val="0"/>
              </a:srgbClr>
            </a:solidFill>
            <a:prstDash val="solid"/>
          </a:ln>
        </p:spPr>
      </p:sp>
      <p:sp>
        <p:nvSpPr>
          <p:cNvPr id="34" name="Text 32"/>
          <p:cNvSpPr txBox="1"/>
          <p:nvPr/>
        </p:nvSpPr>
        <p:spPr>
          <a:xfrm>
            <a:off x="800100" y="5105400"/>
            <a:ext cx="10572750" cy="438150"/>
          </a:xfrm>
          <a:prstGeom prst="rect">
            <a:avLst/>
          </a:prstGeom>
          <a:noFill/>
          <a:ln/>
        </p:spPr>
        <p:txBody>
          <a:bodyPr wrap="square" lIns="0" tIns="0" rIns="0" bIns="0" rtlCol="0" anchor="t"/>
          <a:lstStyle/>
          <a:p>
            <a:pPr algn="l" indent="0" marL="0">
              <a:lnSpc>
                <a:spcPts val="1631"/>
              </a:lnSpc>
              <a:buNone/>
            </a:pPr>
            <a:r>
              <a:rPr lang="en-US" sz="1125" dirty="0">
                <a:solidFill>
                  <a:srgbClr val="000000"/>
                </a:solidFill>
                <a:latin typeface="Manrope" pitchFamily="34" charset="0"/>
                <a:ea typeface="Manrope" pitchFamily="34" charset="-122"/>
                <a:cs typeface="Manrope" pitchFamily="34" charset="-120"/>
              </a:rPr>
              <a:t>There is no real server, so src/api plays one: every call waits about 300 ms like a network trip, checks the role, applies the rules and saves the tables, then resolves or rejects.</a:t>
            </a:r>
            <a:endParaRPr lang="en-US" sz="1125"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A role is checked twice: in the router and in the API</a:t>
            </a:r>
            <a:endParaRPr lang="en-US" sz="2550" dirty="0"/>
          </a:p>
        </p:txBody>
      </p:sp>
      <p:sp>
        <p:nvSpPr>
          <p:cNvPr id="3" name="Code panel"/>
          <p:cNvSpPr/>
          <p:nvPr/>
        </p:nvSpPr>
        <p:spPr>
          <a:xfrm>
            <a:off x="533400" y="1428750"/>
            <a:ext cx="5905500" cy="4476750"/>
          </a:xfrm>
          <a:prstGeom prst="roundRect">
            <a:avLst>
              <a:gd name="adj" fmla="val 2553"/>
            </a:avLst>
          </a:prstGeom>
          <a:solidFill>
            <a:srgbClr val="F6F6F6"/>
          </a:solidFill>
          <a:ln w="12700">
            <a:solidFill>
              <a:srgbClr val="F6F6F6">
                <a:alpha val="0"/>
              </a:srgbClr>
            </a:solidFill>
            <a:prstDash val="solid"/>
          </a:ln>
        </p:spPr>
      </p:sp>
      <p:sp>
        <p:nvSpPr>
          <p:cNvPr id="4" name="Code file"/>
          <p:cNvSpPr txBox="1"/>
          <p:nvPr/>
        </p:nvSpPr>
        <p:spPr>
          <a:xfrm>
            <a:off x="723900" y="1562100"/>
            <a:ext cx="55245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src/components/RequireRole.jsx  ·  src/api/index.js</a:t>
            </a:r>
            <a:endParaRPr lang="en-US" sz="900" dirty="0"/>
          </a:p>
        </p:txBody>
      </p:sp>
      <p:sp>
        <p:nvSpPr>
          <p:cNvPr id="5" name="Code"/>
          <p:cNvSpPr txBox="1"/>
          <p:nvPr/>
        </p:nvSpPr>
        <p:spPr>
          <a:xfrm>
            <a:off x="952500" y="1828800"/>
            <a:ext cx="5295900" cy="3943350"/>
          </a:xfrm>
          <a:prstGeom prst="rect">
            <a:avLst/>
          </a:prstGeom>
          <a:noFill/>
          <a:ln/>
        </p:spPr>
        <p:txBody>
          <a:bodyPr wrap="none" lIns="0" tIns="0" rIns="0" bIns="0" rtlCol="0" anchor="t"/>
          <a:lstStyle/>
          <a:p>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export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default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function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RequireRole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children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const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ready</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session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me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useLibrary</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if</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session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session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me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me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status</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545454"/>
                </a:solidFill>
                <a:latin typeface="Courier New" pitchFamily="34" charset="0"/>
                <a:ea typeface="Courier New" pitchFamily="34" charset="-122"/>
                <a:cs typeface="Courier New" pitchFamily="34" charset="-120"/>
              </a:rPr>
              <a:t>'active'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return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&lt;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Navigate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to</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545454"/>
                </a:solidFill>
                <a:latin typeface="Courier New" pitchFamily="34" charset="0"/>
                <a:ea typeface="Courier New" pitchFamily="34" charset="-122"/>
                <a:cs typeface="Courier New" pitchFamily="34" charset="-120"/>
              </a:rPr>
              <a:t>"/login"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replace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state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from</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&gt;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if</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me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mustChangePassword</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return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&lt;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Navigate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to</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545454"/>
                </a:solidFill>
                <a:latin typeface="Courier New" pitchFamily="34" charset="0"/>
                <a:ea typeface="Courier New" pitchFamily="34" charset="-122"/>
                <a:cs typeface="Courier New" pitchFamily="34" charset="-120"/>
              </a:rPr>
              <a:t>"/set-password"</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replace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&gt;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return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children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endParaRPr lang="en-US" sz="975" dirty="0"/>
          </a:p>
          <a:p>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function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requireRole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state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roles</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const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user</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signedIn</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state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const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user</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545454"/>
                </a:solidFill>
                <a:latin typeface="Courier New" pitchFamily="34" charset="0"/>
                <a:ea typeface="Courier New" pitchFamily="34" charset="-122"/>
                <a:cs typeface="Courier New" pitchFamily="34" charset="-120"/>
              </a:rPr>
              <a:t>'student'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if</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user</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status</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545454"/>
                </a:solidFill>
                <a:latin typeface="Courier New" pitchFamily="34" charset="0"/>
                <a:ea typeface="Courier New" pitchFamily="34" charset="-122"/>
                <a:cs typeface="Courier New" pitchFamily="34" charset="-120"/>
              </a:rPr>
              <a:t>'active'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roles</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includes</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role</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throw</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b="1" dirty="0">
                <a:solidFill>
                  <a:srgbClr val="000000"/>
                </a:solidFill>
                <a:latin typeface="Courier New" pitchFamily="34" charset="0"/>
                <a:ea typeface="Courier New" pitchFamily="34" charset="-122"/>
                <a:cs typeface="Courier New" pitchFamily="34" charset="-120"/>
              </a:rPr>
              <a:t>new</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ApiError</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545454"/>
                </a:solidFill>
                <a:latin typeface="Courier New" pitchFamily="34" charset="0"/>
                <a:ea typeface="Courier New" pitchFamily="34" charset="-122"/>
                <a:cs typeface="Courier New" pitchFamily="34" charset="-120"/>
              </a:rPr>
              <a:t>'You are not allowed to do that.'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a:p>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  </a:t>
            </a:r>
            <a:pPr indent="0" marL="0">
              <a:lnSpc>
                <a:spcPts val="1350"/>
              </a:lnSpc>
              <a:buNone/>
            </a:pPr>
            <a:r>
              <a:rPr lang="en-US" sz="975" dirty="0">
                <a:solidFill>
                  <a:srgbClr val="000000"/>
                </a:solidFill>
                <a:latin typeface="Courier New" pitchFamily="34" charset="0"/>
                <a:ea typeface="Courier New" pitchFamily="34" charset="-122"/>
                <a:cs typeface="Courier New" pitchFamily="34" charset="-120"/>
              </a:rPr>
              <a:t>…</a:t>
            </a:r>
            <a:endParaRPr lang="en-US" sz="975" dirty="0"/>
          </a:p>
        </p:txBody>
      </p:sp>
      <p:sp>
        <p:nvSpPr>
          <p:cNvPr id="6" name="Code mark 1"/>
          <p:cNvSpPr/>
          <p:nvPr/>
        </p:nvSpPr>
        <p:spPr>
          <a:xfrm>
            <a:off x="666750" y="2333625"/>
            <a:ext cx="190500" cy="190500"/>
          </a:xfrm>
          <a:prstGeom prst="ellipse">
            <a:avLst/>
          </a:prstGeom>
          <a:solidFill>
            <a:srgbClr val="000000"/>
          </a:solidFill>
          <a:ln w="12700">
            <a:solidFill>
              <a:srgbClr val="000000"/>
            </a:solidFill>
            <a:prstDash val="solid"/>
          </a:ln>
        </p:spPr>
      </p:sp>
      <p:sp>
        <p:nvSpPr>
          <p:cNvPr id="7" name="Text 5"/>
          <p:cNvSpPr txBox="1"/>
          <p:nvPr/>
        </p:nvSpPr>
        <p:spPr>
          <a:xfrm>
            <a:off x="666750" y="2333625"/>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8" name="Code mark 2"/>
          <p:cNvSpPr/>
          <p:nvPr/>
        </p:nvSpPr>
        <p:spPr>
          <a:xfrm>
            <a:off x="666750" y="3019425"/>
            <a:ext cx="190500" cy="190500"/>
          </a:xfrm>
          <a:prstGeom prst="ellipse">
            <a:avLst/>
          </a:prstGeom>
          <a:solidFill>
            <a:srgbClr val="000000"/>
          </a:solidFill>
          <a:ln w="12700">
            <a:solidFill>
              <a:srgbClr val="000000"/>
            </a:solidFill>
            <a:prstDash val="solid"/>
          </a:ln>
        </p:spPr>
      </p:sp>
      <p:sp>
        <p:nvSpPr>
          <p:cNvPr id="9" name="Text 7"/>
          <p:cNvSpPr txBox="1"/>
          <p:nvPr/>
        </p:nvSpPr>
        <p:spPr>
          <a:xfrm>
            <a:off x="666750" y="3019425"/>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0" name="Code mark 3"/>
          <p:cNvSpPr/>
          <p:nvPr/>
        </p:nvSpPr>
        <p:spPr>
          <a:xfrm>
            <a:off x="666750" y="4391025"/>
            <a:ext cx="190500" cy="190500"/>
          </a:xfrm>
          <a:prstGeom prst="ellipse">
            <a:avLst/>
          </a:prstGeom>
          <a:solidFill>
            <a:srgbClr val="000000"/>
          </a:solidFill>
          <a:ln w="12700">
            <a:solidFill>
              <a:srgbClr val="000000"/>
            </a:solidFill>
            <a:prstDash val="solid"/>
          </a:ln>
        </p:spPr>
      </p:sp>
      <p:sp>
        <p:nvSpPr>
          <p:cNvPr id="11" name="Text 9"/>
          <p:cNvSpPr txBox="1"/>
          <p:nvPr/>
        </p:nvSpPr>
        <p:spPr>
          <a:xfrm>
            <a:off x="666750" y="4391025"/>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12" name="Screenshot frame"/>
          <p:cNvSpPr/>
          <p:nvPr/>
        </p:nvSpPr>
        <p:spPr>
          <a:xfrm>
            <a:off x="6705600" y="1428750"/>
            <a:ext cx="4953000" cy="1809750"/>
          </a:xfrm>
          <a:prstGeom prst="roundRect">
            <a:avLst>
              <a:gd name="adj" fmla="val 6316"/>
            </a:avLst>
          </a:prstGeom>
          <a:solidFill>
            <a:srgbClr val="F6F6F6"/>
          </a:solidFill>
          <a:ln w="12700">
            <a:solidFill>
              <a:srgbClr val="F6F6F6">
                <a:alpha val="0"/>
              </a:srgbClr>
            </a:solidFill>
            <a:prstDash val="solid"/>
          </a:ln>
        </p:spPr>
      </p:sp>
      <p:pic>
        <p:nvPicPr>
          <p:cNvPr id="13" name="Screenshot roles.png" descr="Screenshot roles.png">    </p:cNvPr>
          <p:cNvPicPr>
            <a:picLocks noChangeAspect="1"/>
          </p:cNvPicPr>
          <p:nvPr/>
        </p:nvPicPr>
        <p:blipFill>
          <a:blip r:embed="rId1"/>
          <a:stretch>
            <a:fillRect/>
          </a:stretch>
        </p:blipFill>
        <p:spPr>
          <a:xfrm>
            <a:off x="6838950" y="1609725"/>
            <a:ext cx="4686300" cy="1457325"/>
          </a:xfrm>
          <a:prstGeom prst="rect">
            <a:avLst/>
          </a:prstGeom>
        </p:spPr>
      </p:pic>
      <p:sp>
        <p:nvSpPr>
          <p:cNvPr id="14" name="Note 1 dot"/>
          <p:cNvSpPr/>
          <p:nvPr/>
        </p:nvSpPr>
        <p:spPr>
          <a:xfrm>
            <a:off x="6705600" y="3495675"/>
            <a:ext cx="190500" cy="190500"/>
          </a:xfrm>
          <a:prstGeom prst="ellipse">
            <a:avLst/>
          </a:prstGeom>
          <a:solidFill>
            <a:srgbClr val="000000"/>
          </a:solidFill>
          <a:ln w="12700">
            <a:solidFill>
              <a:srgbClr val="000000">
                <a:alpha val="0"/>
              </a:srgbClr>
            </a:solidFill>
            <a:prstDash val="solid"/>
          </a:ln>
        </p:spPr>
      </p:sp>
      <p:sp>
        <p:nvSpPr>
          <p:cNvPr id="15" name="Note 1 number"/>
          <p:cNvSpPr txBox="1"/>
          <p:nvPr/>
        </p:nvSpPr>
        <p:spPr>
          <a:xfrm>
            <a:off x="6705600" y="351472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16" name="Text 13"/>
          <p:cNvSpPr txBox="1"/>
          <p:nvPr/>
        </p:nvSpPr>
        <p:spPr>
          <a:xfrm>
            <a:off x="7029450" y="348615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Wrong role? Back to login</a:t>
            </a:r>
            <a:endParaRPr lang="en-US" sz="1125" dirty="0"/>
          </a:p>
        </p:txBody>
      </p:sp>
      <p:sp>
        <p:nvSpPr>
          <p:cNvPr id="17" name="Text 14"/>
          <p:cNvSpPr txBox="1"/>
          <p:nvPr/>
        </p:nvSpPr>
        <p:spPr>
          <a:xfrm>
            <a:off x="7029450" y="370522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A student opening /admin is redirected before the page loads.</a:t>
            </a:r>
            <a:endParaRPr lang="en-US" sz="1050" dirty="0"/>
          </a:p>
        </p:txBody>
      </p:sp>
      <p:sp>
        <p:nvSpPr>
          <p:cNvPr id="18" name="Note 2 dot"/>
          <p:cNvSpPr/>
          <p:nvPr/>
        </p:nvSpPr>
        <p:spPr>
          <a:xfrm>
            <a:off x="6705600" y="4152900"/>
            <a:ext cx="190500" cy="190500"/>
          </a:xfrm>
          <a:prstGeom prst="ellipse">
            <a:avLst/>
          </a:prstGeom>
          <a:solidFill>
            <a:srgbClr val="000000"/>
          </a:solidFill>
          <a:ln w="12700">
            <a:solidFill>
              <a:srgbClr val="000000">
                <a:alpha val="0"/>
              </a:srgbClr>
            </a:solidFill>
            <a:prstDash val="solid"/>
          </a:ln>
        </p:spPr>
      </p:sp>
      <p:sp>
        <p:nvSpPr>
          <p:cNvPr id="19" name="Note 2 number"/>
          <p:cNvSpPr txBox="1"/>
          <p:nvPr/>
        </p:nvSpPr>
        <p:spPr>
          <a:xfrm>
            <a:off x="6705600" y="4171950"/>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20" name="Text 17"/>
          <p:cNvSpPr txBox="1"/>
          <p:nvPr/>
        </p:nvSpPr>
        <p:spPr>
          <a:xfrm>
            <a:off x="7029450" y="4143375"/>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Temporary password</a:t>
            </a:r>
            <a:endParaRPr lang="en-US" sz="1125" dirty="0"/>
          </a:p>
        </p:txBody>
      </p:sp>
      <p:sp>
        <p:nvSpPr>
          <p:cNvPr id="21" name="Text 18"/>
          <p:cNvSpPr txBox="1"/>
          <p:nvPr/>
        </p:nvSpPr>
        <p:spPr>
          <a:xfrm>
            <a:off x="7029450" y="4362450"/>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A reset account must set a new password first.</a:t>
            </a:r>
            <a:endParaRPr lang="en-US" sz="1050" dirty="0"/>
          </a:p>
        </p:txBody>
      </p:sp>
      <p:sp>
        <p:nvSpPr>
          <p:cNvPr id="22" name="Note 3 dot"/>
          <p:cNvSpPr/>
          <p:nvPr/>
        </p:nvSpPr>
        <p:spPr>
          <a:xfrm>
            <a:off x="6705600" y="4810125"/>
            <a:ext cx="190500" cy="190500"/>
          </a:xfrm>
          <a:prstGeom prst="ellipse">
            <a:avLst/>
          </a:prstGeom>
          <a:solidFill>
            <a:srgbClr val="000000"/>
          </a:solidFill>
          <a:ln w="12700">
            <a:solidFill>
              <a:srgbClr val="000000">
                <a:alpha val="0"/>
              </a:srgbClr>
            </a:solidFill>
            <a:prstDash val="solid"/>
          </a:ln>
        </p:spPr>
      </p:sp>
      <p:sp>
        <p:nvSpPr>
          <p:cNvPr id="23" name="Note 3 number"/>
          <p:cNvSpPr txBox="1"/>
          <p:nvPr/>
        </p:nvSpPr>
        <p:spPr>
          <a:xfrm>
            <a:off x="6705600" y="482917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24" name="Text 21"/>
          <p:cNvSpPr txBox="1"/>
          <p:nvPr/>
        </p:nvSpPr>
        <p:spPr>
          <a:xfrm>
            <a:off x="7029450" y="480060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The API checks again</a:t>
            </a:r>
            <a:endParaRPr lang="en-US" sz="1125" dirty="0"/>
          </a:p>
        </p:txBody>
      </p:sp>
      <p:sp>
        <p:nvSpPr>
          <p:cNvPr id="25" name="Text 22"/>
          <p:cNvSpPr txBox="1"/>
          <p:nvPr/>
        </p:nvSpPr>
        <p:spPr>
          <a:xfrm>
            <a:off x="7029450" y="501967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Even a forged request is refused by the server layer.</a:t>
            </a:r>
            <a:endParaRPr lang="en-US" sz="10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The issue desk refuses a loan that breaks a rule</a:t>
            </a:r>
            <a:endParaRPr lang="en-US" sz="2550" dirty="0"/>
          </a:p>
        </p:txBody>
      </p:sp>
      <p:sp>
        <p:nvSpPr>
          <p:cNvPr id="3" name="Code panel"/>
          <p:cNvSpPr/>
          <p:nvPr/>
        </p:nvSpPr>
        <p:spPr>
          <a:xfrm>
            <a:off x="533400" y="1428750"/>
            <a:ext cx="6477000" cy="4476750"/>
          </a:xfrm>
          <a:prstGeom prst="roundRect">
            <a:avLst>
              <a:gd name="adj" fmla="val 2553"/>
            </a:avLst>
          </a:prstGeom>
          <a:solidFill>
            <a:srgbClr val="F6F6F6"/>
          </a:solidFill>
          <a:ln w="12700">
            <a:solidFill>
              <a:srgbClr val="F6F6F6">
                <a:alpha val="0"/>
              </a:srgbClr>
            </a:solidFill>
            <a:prstDash val="solid"/>
          </a:ln>
        </p:spPr>
      </p:sp>
      <p:sp>
        <p:nvSpPr>
          <p:cNvPr id="4" name="Code file"/>
          <p:cNvSpPr txBox="1"/>
          <p:nvPr/>
        </p:nvSpPr>
        <p:spPr>
          <a:xfrm>
            <a:off x="723900" y="1562100"/>
            <a:ext cx="60960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src/api/engine.js  ·  canIssue()</a:t>
            </a:r>
            <a:endParaRPr lang="en-US" sz="900" dirty="0"/>
          </a:p>
        </p:txBody>
      </p:sp>
      <p:sp>
        <p:nvSpPr>
          <p:cNvPr id="5" name="Code"/>
          <p:cNvSpPr txBox="1"/>
          <p:nvPr/>
        </p:nvSpPr>
        <p:spPr>
          <a:xfrm>
            <a:off x="952500" y="1828800"/>
            <a:ext cx="5867400" cy="3943350"/>
          </a:xfrm>
          <a:prstGeom prst="rect">
            <a:avLst/>
          </a:prstGeom>
          <a:noFill/>
          <a:ln/>
        </p:spPr>
        <p:txBody>
          <a:bodyPr wrap="none" lIns="0" tIns="0" rIns="0" bIns="0" rtlCol="0" anchor="t"/>
          <a:lstStyle/>
          <a:p>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export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canIssue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studentId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bookId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member</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students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find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studentId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member</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&amp;</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&amp;</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member</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status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545454"/>
                </a:solidFill>
                <a:latin typeface="Courier New" pitchFamily="34" charset="0"/>
                <a:ea typeface="Courier New" pitchFamily="34" charset="-122"/>
                <a:cs typeface="Courier New" pitchFamily="34" charset="-120"/>
              </a:rPr>
              <a:t>'active'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ok</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false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reason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545454"/>
                </a:solidFill>
                <a:latin typeface="Courier New" pitchFamily="34" charset="0"/>
                <a:ea typeface="Courier New" pitchFamily="34" charset="-122"/>
                <a:cs typeface="Courier New" pitchFamily="34" charset="-120"/>
              </a:rPr>
              <a:t>`Member is ${member.status}`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loans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some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studentId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studentId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&amp;</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&amp;</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daysUntil</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dueOn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0</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ok</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false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reason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545454"/>
                </a:solidFill>
                <a:latin typeface="Courier New" pitchFamily="34" charset="0"/>
                <a:ea typeface="Courier New" pitchFamily="34" charset="-122"/>
                <a:cs typeface="Courier New" pitchFamily="34" charset="-120"/>
              </a:rPr>
              <a:t>'Student has an overdue book'</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maxBooks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settings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loans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filter</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studentId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studentId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length</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maxBooks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ok</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false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reason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545454"/>
                </a:solidFill>
                <a:latin typeface="Courier New" pitchFamily="34" charset="0"/>
                <a:ea typeface="Courier New" pitchFamily="34" charset="-122"/>
                <a:cs typeface="Courier New" pitchFamily="34" charset="-120"/>
              </a:rPr>
              <a:t>`Student has reached the limit of ${plural(maxBooks, 'book')}`</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availableCopies</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bookId</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&lt;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1</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ok</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false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reason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545454"/>
                </a:solidFill>
                <a:latin typeface="Courier New" pitchFamily="34" charset="0"/>
                <a:ea typeface="Courier New" pitchFamily="34" charset="-122"/>
                <a:cs typeface="Courier New" pitchFamily="34" charset="-120"/>
              </a:rPr>
              <a:t>'No copies available'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ok</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true</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reason</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545454"/>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a:p>
            <a:pPr indent="0" marL="0">
              <a:lnSpc>
                <a:spcPts val="1275"/>
              </a:lnSpc>
              <a:buNone/>
            </a:pPr>
            <a:r>
              <a:rPr lang="en-US" sz="938" dirty="0">
                <a:solidFill>
                  <a:srgbClr val="000000"/>
                </a:solidFill>
                <a:latin typeface="Courier New" pitchFamily="34" charset="0"/>
                <a:ea typeface="Courier New" pitchFamily="34" charset="-122"/>
                <a:cs typeface="Courier New" pitchFamily="34" charset="-120"/>
              </a:rPr>
              <a:t>}</a:t>
            </a:r>
            <a:endParaRPr lang="en-US" sz="938" dirty="0"/>
          </a:p>
        </p:txBody>
      </p:sp>
      <p:sp>
        <p:nvSpPr>
          <p:cNvPr id="6" name="Code mark 1"/>
          <p:cNvSpPr/>
          <p:nvPr/>
        </p:nvSpPr>
        <p:spPr>
          <a:xfrm>
            <a:off x="666750" y="2786063"/>
            <a:ext cx="190500" cy="190500"/>
          </a:xfrm>
          <a:prstGeom prst="ellipse">
            <a:avLst/>
          </a:prstGeom>
          <a:solidFill>
            <a:srgbClr val="000000"/>
          </a:solidFill>
          <a:ln w="12700">
            <a:solidFill>
              <a:srgbClr val="000000"/>
            </a:solidFill>
            <a:prstDash val="solid"/>
          </a:ln>
        </p:spPr>
      </p:sp>
      <p:sp>
        <p:nvSpPr>
          <p:cNvPr id="7" name="Text 5"/>
          <p:cNvSpPr txBox="1"/>
          <p:nvPr/>
        </p:nvSpPr>
        <p:spPr>
          <a:xfrm>
            <a:off x="666750" y="278606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8" name="Code mark 2"/>
          <p:cNvSpPr/>
          <p:nvPr/>
        </p:nvSpPr>
        <p:spPr>
          <a:xfrm>
            <a:off x="666750" y="3433763"/>
            <a:ext cx="190500" cy="190500"/>
          </a:xfrm>
          <a:prstGeom prst="ellipse">
            <a:avLst/>
          </a:prstGeom>
          <a:solidFill>
            <a:srgbClr val="000000"/>
          </a:solidFill>
          <a:ln w="12700">
            <a:solidFill>
              <a:srgbClr val="000000"/>
            </a:solidFill>
            <a:prstDash val="solid"/>
          </a:ln>
        </p:spPr>
      </p:sp>
      <p:sp>
        <p:nvSpPr>
          <p:cNvPr id="9" name="Text 7"/>
          <p:cNvSpPr txBox="1"/>
          <p:nvPr/>
        </p:nvSpPr>
        <p:spPr>
          <a:xfrm>
            <a:off x="666750" y="343376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0" name="Code mark 3"/>
          <p:cNvSpPr/>
          <p:nvPr/>
        </p:nvSpPr>
        <p:spPr>
          <a:xfrm>
            <a:off x="666750" y="4567238"/>
            <a:ext cx="190500" cy="190500"/>
          </a:xfrm>
          <a:prstGeom prst="ellipse">
            <a:avLst/>
          </a:prstGeom>
          <a:solidFill>
            <a:srgbClr val="000000"/>
          </a:solidFill>
          <a:ln w="12700">
            <a:solidFill>
              <a:srgbClr val="000000"/>
            </a:solidFill>
            <a:prstDash val="solid"/>
          </a:ln>
        </p:spPr>
      </p:sp>
      <p:sp>
        <p:nvSpPr>
          <p:cNvPr id="11" name="Text 9"/>
          <p:cNvSpPr txBox="1"/>
          <p:nvPr/>
        </p:nvSpPr>
        <p:spPr>
          <a:xfrm>
            <a:off x="666750" y="4567238"/>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12" name="Screenshot frame"/>
          <p:cNvSpPr/>
          <p:nvPr/>
        </p:nvSpPr>
        <p:spPr>
          <a:xfrm>
            <a:off x="7277100" y="1428750"/>
            <a:ext cx="4381500" cy="2571750"/>
          </a:xfrm>
          <a:prstGeom prst="roundRect">
            <a:avLst>
              <a:gd name="adj" fmla="val 4444"/>
            </a:avLst>
          </a:prstGeom>
          <a:solidFill>
            <a:srgbClr val="F6F6F6"/>
          </a:solidFill>
          <a:ln w="12700">
            <a:solidFill>
              <a:srgbClr val="F6F6F6">
                <a:alpha val="0"/>
              </a:srgbClr>
            </a:solidFill>
            <a:prstDash val="solid"/>
          </a:ln>
        </p:spPr>
      </p:sp>
      <p:pic>
        <p:nvPicPr>
          <p:cNvPr id="13" name="Screenshot issue.png" descr="Screenshot issue.png">    </p:cNvPr>
          <p:cNvPicPr>
            <a:picLocks noChangeAspect="1"/>
          </p:cNvPicPr>
          <p:nvPr/>
        </p:nvPicPr>
        <p:blipFill>
          <a:blip r:embed="rId1"/>
          <a:stretch>
            <a:fillRect/>
          </a:stretch>
        </p:blipFill>
        <p:spPr>
          <a:xfrm>
            <a:off x="8582025" y="1562100"/>
            <a:ext cx="1781175" cy="2305050"/>
          </a:xfrm>
          <a:prstGeom prst="rect">
            <a:avLst/>
          </a:prstGeom>
        </p:spPr>
      </p:pic>
      <p:sp>
        <p:nvSpPr>
          <p:cNvPr id="14" name="Note 1 dot"/>
          <p:cNvSpPr/>
          <p:nvPr/>
        </p:nvSpPr>
        <p:spPr>
          <a:xfrm>
            <a:off x="7277100" y="4200525"/>
            <a:ext cx="190500" cy="190500"/>
          </a:xfrm>
          <a:prstGeom prst="ellipse">
            <a:avLst/>
          </a:prstGeom>
          <a:solidFill>
            <a:srgbClr val="000000"/>
          </a:solidFill>
          <a:ln w="12700">
            <a:solidFill>
              <a:srgbClr val="000000">
                <a:alpha val="0"/>
              </a:srgbClr>
            </a:solidFill>
            <a:prstDash val="solid"/>
          </a:ln>
        </p:spPr>
      </p:sp>
      <p:sp>
        <p:nvSpPr>
          <p:cNvPr id="15" name="Note 1 number"/>
          <p:cNvSpPr txBox="1"/>
          <p:nvPr/>
        </p:nvSpPr>
        <p:spPr>
          <a:xfrm>
            <a:off x="7277100" y="421957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16" name="Text 13"/>
          <p:cNvSpPr txBox="1"/>
          <p:nvPr/>
        </p:nvSpPr>
        <p:spPr>
          <a:xfrm>
            <a:off x="7600950" y="4191000"/>
            <a:ext cx="40576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Overdue blocks new loans</a:t>
            </a:r>
            <a:endParaRPr lang="en-US" sz="1125" dirty="0"/>
          </a:p>
        </p:txBody>
      </p:sp>
      <p:sp>
        <p:nvSpPr>
          <p:cNvPr id="17" name="Text 14"/>
          <p:cNvSpPr txBox="1"/>
          <p:nvPr/>
        </p:nvSpPr>
        <p:spPr>
          <a:xfrm>
            <a:off x="7600950" y="4410075"/>
            <a:ext cx="40576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Kabir is 6 days late, so the button stays disabled.</a:t>
            </a:r>
            <a:endParaRPr lang="en-US" sz="1050" dirty="0"/>
          </a:p>
        </p:txBody>
      </p:sp>
      <p:sp>
        <p:nvSpPr>
          <p:cNvPr id="18" name="Note 2 dot"/>
          <p:cNvSpPr/>
          <p:nvPr/>
        </p:nvSpPr>
        <p:spPr>
          <a:xfrm>
            <a:off x="7277100" y="4838700"/>
            <a:ext cx="190500" cy="190500"/>
          </a:xfrm>
          <a:prstGeom prst="ellipse">
            <a:avLst/>
          </a:prstGeom>
          <a:solidFill>
            <a:srgbClr val="000000"/>
          </a:solidFill>
          <a:ln w="12700">
            <a:solidFill>
              <a:srgbClr val="000000">
                <a:alpha val="0"/>
              </a:srgbClr>
            </a:solidFill>
            <a:prstDash val="solid"/>
          </a:ln>
        </p:spPr>
      </p:sp>
      <p:sp>
        <p:nvSpPr>
          <p:cNvPr id="19" name="Note 2 number"/>
          <p:cNvSpPr txBox="1"/>
          <p:nvPr/>
        </p:nvSpPr>
        <p:spPr>
          <a:xfrm>
            <a:off x="7277100" y="4857750"/>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20" name="Text 17"/>
          <p:cNvSpPr txBox="1"/>
          <p:nvPr/>
        </p:nvSpPr>
        <p:spPr>
          <a:xfrm>
            <a:off x="7600950" y="4829175"/>
            <a:ext cx="40576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Limit of 3 books</a:t>
            </a:r>
            <a:endParaRPr lang="en-US" sz="1125" dirty="0"/>
          </a:p>
        </p:txBody>
      </p:sp>
      <p:sp>
        <p:nvSpPr>
          <p:cNvPr id="21" name="Text 18"/>
          <p:cNvSpPr txBox="1"/>
          <p:nvPr/>
        </p:nvSpPr>
        <p:spPr>
          <a:xfrm>
            <a:off x="7600950" y="5048250"/>
            <a:ext cx="40576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Read from Settings, not hard-coded.</a:t>
            </a:r>
            <a:endParaRPr lang="en-US" sz="1050" dirty="0"/>
          </a:p>
        </p:txBody>
      </p:sp>
      <p:sp>
        <p:nvSpPr>
          <p:cNvPr id="22" name="Note 3 dot"/>
          <p:cNvSpPr/>
          <p:nvPr/>
        </p:nvSpPr>
        <p:spPr>
          <a:xfrm>
            <a:off x="7277100" y="5476875"/>
            <a:ext cx="190500" cy="190500"/>
          </a:xfrm>
          <a:prstGeom prst="ellipse">
            <a:avLst/>
          </a:prstGeom>
          <a:solidFill>
            <a:srgbClr val="000000"/>
          </a:solidFill>
          <a:ln w="12700">
            <a:solidFill>
              <a:srgbClr val="000000">
                <a:alpha val="0"/>
              </a:srgbClr>
            </a:solidFill>
            <a:prstDash val="solid"/>
          </a:ln>
        </p:spPr>
      </p:sp>
      <p:sp>
        <p:nvSpPr>
          <p:cNvPr id="23" name="Note 3 number"/>
          <p:cNvSpPr txBox="1"/>
          <p:nvPr/>
        </p:nvSpPr>
        <p:spPr>
          <a:xfrm>
            <a:off x="7277100" y="549592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24" name="Text 21"/>
          <p:cNvSpPr txBox="1"/>
          <p:nvPr/>
        </p:nvSpPr>
        <p:spPr>
          <a:xfrm>
            <a:off x="7600950" y="5467350"/>
            <a:ext cx="40576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No free copy, no loan</a:t>
            </a:r>
            <a:endParaRPr lang="en-US" sz="1125" dirty="0"/>
          </a:p>
        </p:txBody>
      </p:sp>
      <p:sp>
        <p:nvSpPr>
          <p:cNvPr id="25" name="Text 22"/>
          <p:cNvSpPr txBox="1"/>
          <p:nvPr/>
        </p:nvSpPr>
        <p:spPr>
          <a:xfrm>
            <a:off x="7600950" y="5686425"/>
            <a:ext cx="40576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Copies out or held for pickup are not on the shelf.</a:t>
            </a:r>
            <a:endParaRPr lang="en-US" sz="10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Reservations form a fair queue: first asked, first served</a:t>
            </a:r>
            <a:endParaRPr lang="en-US" sz="2550" dirty="0"/>
          </a:p>
        </p:txBody>
      </p:sp>
      <p:sp>
        <p:nvSpPr>
          <p:cNvPr id="3" name="Code panel"/>
          <p:cNvSpPr/>
          <p:nvPr/>
        </p:nvSpPr>
        <p:spPr>
          <a:xfrm>
            <a:off x="533400" y="1428750"/>
            <a:ext cx="5905500" cy="4152900"/>
          </a:xfrm>
          <a:prstGeom prst="roundRect">
            <a:avLst>
              <a:gd name="adj" fmla="val 2752"/>
            </a:avLst>
          </a:prstGeom>
          <a:solidFill>
            <a:srgbClr val="F6F6F6"/>
          </a:solidFill>
          <a:ln w="12700">
            <a:solidFill>
              <a:srgbClr val="F6F6F6">
                <a:alpha val="0"/>
              </a:srgbClr>
            </a:solidFill>
            <a:prstDash val="solid"/>
          </a:ln>
        </p:spPr>
      </p:sp>
      <p:sp>
        <p:nvSpPr>
          <p:cNvPr id="4" name="Code file"/>
          <p:cNvSpPr txBox="1"/>
          <p:nvPr/>
        </p:nvSpPr>
        <p:spPr>
          <a:xfrm>
            <a:off x="723900" y="1562100"/>
            <a:ext cx="55245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src/api/engine.js</a:t>
            </a:r>
            <a:endParaRPr lang="en-US" sz="900" dirty="0"/>
          </a:p>
        </p:txBody>
      </p:sp>
      <p:sp>
        <p:nvSpPr>
          <p:cNvPr id="5" name="Code"/>
          <p:cNvSpPr txBox="1"/>
          <p:nvPr/>
        </p:nvSpPr>
        <p:spPr>
          <a:xfrm>
            <a:off x="952500" y="1828800"/>
            <a:ext cx="5295900" cy="3619500"/>
          </a:xfrm>
          <a:prstGeom prst="rect">
            <a:avLst/>
          </a:prstGeom>
          <a:noFill/>
          <a:ln/>
        </p:spPr>
        <p:txBody>
          <a:bodyPr wrap="none" lIns="0" tIns="0" rIns="0" bIns="0" rtlCol="0" anchor="t"/>
          <a:lstStyle/>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export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waitingFor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bookId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reservations</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map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index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index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filter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bookId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bookId</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&amp;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&amp;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status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'waiting'</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sort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placedOn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localeCompare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placedOn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index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index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map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promoteWaiting</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for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next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of</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waitingFor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book</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free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1</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break</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free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1</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reservations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map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next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status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'ready'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expiresOn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addDays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today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settings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holdDays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p:txBody>
      </p:sp>
      <p:sp>
        <p:nvSpPr>
          <p:cNvPr id="6" name="Code mark 1"/>
          <p:cNvSpPr/>
          <p:nvPr/>
        </p:nvSpPr>
        <p:spPr>
          <a:xfrm>
            <a:off x="666750" y="2624138"/>
            <a:ext cx="190500" cy="190500"/>
          </a:xfrm>
          <a:prstGeom prst="ellipse">
            <a:avLst/>
          </a:prstGeom>
          <a:solidFill>
            <a:srgbClr val="000000"/>
          </a:solidFill>
          <a:ln w="12700">
            <a:solidFill>
              <a:srgbClr val="000000"/>
            </a:solidFill>
            <a:prstDash val="solid"/>
          </a:ln>
        </p:spPr>
      </p:sp>
      <p:sp>
        <p:nvSpPr>
          <p:cNvPr id="7" name="Text 5"/>
          <p:cNvSpPr txBox="1"/>
          <p:nvPr/>
        </p:nvSpPr>
        <p:spPr>
          <a:xfrm>
            <a:off x="666750" y="2624138"/>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8" name="Code mark 2"/>
          <p:cNvSpPr/>
          <p:nvPr/>
        </p:nvSpPr>
        <p:spPr>
          <a:xfrm>
            <a:off x="666750" y="3919537"/>
            <a:ext cx="190500" cy="190500"/>
          </a:xfrm>
          <a:prstGeom prst="ellipse">
            <a:avLst/>
          </a:prstGeom>
          <a:solidFill>
            <a:srgbClr val="000000"/>
          </a:solidFill>
          <a:ln w="12700">
            <a:solidFill>
              <a:srgbClr val="000000"/>
            </a:solidFill>
            <a:prstDash val="solid"/>
          </a:ln>
        </p:spPr>
      </p:sp>
      <p:sp>
        <p:nvSpPr>
          <p:cNvPr id="9" name="Text 7"/>
          <p:cNvSpPr txBox="1"/>
          <p:nvPr/>
        </p:nvSpPr>
        <p:spPr>
          <a:xfrm>
            <a:off x="666750" y="3919537"/>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0" name="Note 1 dot"/>
          <p:cNvSpPr/>
          <p:nvPr/>
        </p:nvSpPr>
        <p:spPr>
          <a:xfrm>
            <a:off x="533400" y="5743575"/>
            <a:ext cx="190500" cy="190500"/>
          </a:xfrm>
          <a:prstGeom prst="ellipse">
            <a:avLst/>
          </a:prstGeom>
          <a:solidFill>
            <a:srgbClr val="000000"/>
          </a:solidFill>
          <a:ln w="12700">
            <a:solidFill>
              <a:srgbClr val="000000">
                <a:alpha val="0"/>
              </a:srgbClr>
            </a:solidFill>
            <a:prstDash val="solid"/>
          </a:ln>
        </p:spPr>
      </p:sp>
      <p:sp>
        <p:nvSpPr>
          <p:cNvPr id="11" name="Note 1 number"/>
          <p:cNvSpPr txBox="1"/>
          <p:nvPr/>
        </p:nvSpPr>
        <p:spPr>
          <a:xfrm>
            <a:off x="533400" y="576262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12" name="Text 10"/>
          <p:cNvSpPr txBox="1"/>
          <p:nvPr/>
        </p:nvSpPr>
        <p:spPr>
          <a:xfrm>
            <a:off x="857250" y="5734050"/>
            <a:ext cx="55816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Queue order</a:t>
            </a:r>
            <a:endParaRPr lang="en-US" sz="1125" dirty="0"/>
          </a:p>
        </p:txBody>
      </p:sp>
      <p:sp>
        <p:nvSpPr>
          <p:cNvPr id="13" name="Text 11"/>
          <p:cNvSpPr txBox="1"/>
          <p:nvPr/>
        </p:nvSpPr>
        <p:spPr>
          <a:xfrm>
            <a:off x="857250" y="5953125"/>
            <a:ext cx="55816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Only waiting holds, oldest first; ties keep the order they were made.</a:t>
            </a:r>
            <a:endParaRPr lang="en-US" sz="1050" dirty="0"/>
          </a:p>
        </p:txBody>
      </p:sp>
      <p:sp>
        <p:nvSpPr>
          <p:cNvPr id="14" name="Screenshot frame"/>
          <p:cNvSpPr/>
          <p:nvPr/>
        </p:nvSpPr>
        <p:spPr>
          <a:xfrm>
            <a:off x="6705600" y="1428750"/>
            <a:ext cx="4953000" cy="4152900"/>
          </a:xfrm>
          <a:prstGeom prst="roundRect">
            <a:avLst>
              <a:gd name="adj" fmla="val 2752"/>
            </a:avLst>
          </a:prstGeom>
          <a:solidFill>
            <a:srgbClr val="F6F6F6"/>
          </a:solidFill>
          <a:ln w="12700">
            <a:solidFill>
              <a:srgbClr val="F6F6F6">
                <a:alpha val="0"/>
              </a:srgbClr>
            </a:solidFill>
            <a:prstDash val="solid"/>
          </a:ln>
        </p:spPr>
      </p:sp>
      <p:pic>
        <p:nvPicPr>
          <p:cNvPr id="15" name="Screenshot detail.png" descr="Screenshot detail.png">    </p:cNvPr>
          <p:cNvPicPr>
            <a:picLocks noChangeAspect="1"/>
          </p:cNvPicPr>
          <p:nvPr/>
        </p:nvPicPr>
        <p:blipFill>
          <a:blip r:embed="rId1"/>
          <a:stretch>
            <a:fillRect/>
          </a:stretch>
        </p:blipFill>
        <p:spPr>
          <a:xfrm>
            <a:off x="6838950" y="1571625"/>
            <a:ext cx="4686300" cy="3876675"/>
          </a:xfrm>
          <a:prstGeom prst="rect">
            <a:avLst/>
          </a:prstGeom>
        </p:spPr>
      </p:pic>
      <p:sp>
        <p:nvSpPr>
          <p:cNvPr id="16" name="Note 2 dot"/>
          <p:cNvSpPr/>
          <p:nvPr/>
        </p:nvSpPr>
        <p:spPr>
          <a:xfrm>
            <a:off x="6705600" y="5743575"/>
            <a:ext cx="190500" cy="190500"/>
          </a:xfrm>
          <a:prstGeom prst="ellipse">
            <a:avLst/>
          </a:prstGeom>
          <a:solidFill>
            <a:srgbClr val="000000"/>
          </a:solidFill>
          <a:ln w="12700">
            <a:solidFill>
              <a:srgbClr val="000000">
                <a:alpha val="0"/>
              </a:srgbClr>
            </a:solidFill>
            <a:prstDash val="solid"/>
          </a:ln>
        </p:spPr>
      </p:sp>
      <p:sp>
        <p:nvSpPr>
          <p:cNvPr id="17" name="Note 2 number"/>
          <p:cNvSpPr txBox="1"/>
          <p:nvPr/>
        </p:nvSpPr>
        <p:spPr>
          <a:xfrm>
            <a:off x="6705600" y="576262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8" name="Text 15"/>
          <p:cNvSpPr txBox="1"/>
          <p:nvPr/>
        </p:nvSpPr>
        <p:spPr>
          <a:xfrm>
            <a:off x="7029450" y="573405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Next in line gets the copy</a:t>
            </a:r>
            <a:endParaRPr lang="en-US" sz="1125" dirty="0"/>
          </a:p>
        </p:txBody>
      </p:sp>
      <p:sp>
        <p:nvSpPr>
          <p:cNvPr id="19" name="Text 16"/>
          <p:cNvSpPr txBox="1"/>
          <p:nvPr/>
        </p:nvSpPr>
        <p:spPr>
          <a:xfrm>
            <a:off x="7029450" y="595312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Arjun is first; when Riya returns it, his hold is ready for 3 days.</a:t>
            </a:r>
            <a:endParaRPr lang="en-US" sz="10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Passwords are checked as you type and stored only as hashes</a:t>
            </a:r>
            <a:endParaRPr lang="en-US" sz="2550" dirty="0"/>
          </a:p>
        </p:txBody>
      </p:sp>
      <p:sp>
        <p:nvSpPr>
          <p:cNvPr id="3" name="Code panel"/>
          <p:cNvSpPr/>
          <p:nvPr/>
        </p:nvSpPr>
        <p:spPr>
          <a:xfrm>
            <a:off x="533400" y="1428750"/>
            <a:ext cx="5905500" cy="3810000"/>
          </a:xfrm>
          <a:prstGeom prst="roundRect">
            <a:avLst>
              <a:gd name="adj" fmla="val 3000"/>
            </a:avLst>
          </a:prstGeom>
          <a:solidFill>
            <a:srgbClr val="F6F6F6"/>
          </a:solidFill>
          <a:ln w="12700">
            <a:solidFill>
              <a:srgbClr val="F6F6F6">
                <a:alpha val="0"/>
              </a:srgbClr>
            </a:solidFill>
            <a:prstDash val="solid"/>
          </a:ln>
        </p:spPr>
      </p:sp>
      <p:sp>
        <p:nvSpPr>
          <p:cNvPr id="4" name="Code file"/>
          <p:cNvSpPr txBox="1"/>
          <p:nvPr/>
        </p:nvSpPr>
        <p:spPr>
          <a:xfrm>
            <a:off x="723900" y="1562100"/>
            <a:ext cx="55245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src/api/engine.js  ·  src/api/index.js</a:t>
            </a:r>
            <a:endParaRPr lang="en-US" sz="900" dirty="0"/>
          </a:p>
        </p:txBody>
      </p:sp>
      <p:sp>
        <p:nvSpPr>
          <p:cNvPr id="5" name="Code"/>
          <p:cNvSpPr txBox="1"/>
          <p:nvPr/>
        </p:nvSpPr>
        <p:spPr>
          <a:xfrm>
            <a:off x="952500" y="1828800"/>
            <a:ext cx="5295900" cy="3276600"/>
          </a:xfrm>
          <a:prstGeom prst="rect">
            <a:avLst/>
          </a:prstGeom>
          <a:noFill/>
          <a:ln/>
        </p:spPr>
        <p:txBody>
          <a:bodyPr wrap="none" lIns="0" tIns="0" rIns="0" bIns="0" rtlCol="0" anchor="t"/>
          <a:lstStyle/>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export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PASSWORD_RULES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label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'At least 8 characters'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length</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8</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label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'An uppercase letter'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Z</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label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 lowercase letter'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z</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label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 number'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label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 symbol such as ! @ #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Za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z0</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9</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endParaRPr lang="en-US" sz="900" dirty="0"/>
          </a:p>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export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resetPassword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temp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request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async</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load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actor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requireRole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'admin'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credentials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await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bcrypt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hash</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temp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HASH_ROUNDS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apply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type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'resetPassword'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actor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p:txBody>
      </p:sp>
      <p:sp>
        <p:nvSpPr>
          <p:cNvPr id="6" name="Code mark 1"/>
          <p:cNvSpPr/>
          <p:nvPr/>
        </p:nvSpPr>
        <p:spPr>
          <a:xfrm>
            <a:off x="666750" y="1814513"/>
            <a:ext cx="190500" cy="190500"/>
          </a:xfrm>
          <a:prstGeom prst="ellipse">
            <a:avLst/>
          </a:prstGeom>
          <a:solidFill>
            <a:srgbClr val="000000"/>
          </a:solidFill>
          <a:ln w="12700">
            <a:solidFill>
              <a:srgbClr val="000000"/>
            </a:solidFill>
            <a:prstDash val="solid"/>
          </a:ln>
        </p:spPr>
      </p:sp>
      <p:sp>
        <p:nvSpPr>
          <p:cNvPr id="7" name="Text 5"/>
          <p:cNvSpPr txBox="1"/>
          <p:nvPr/>
        </p:nvSpPr>
        <p:spPr>
          <a:xfrm>
            <a:off x="666750" y="181451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8" name="Code mark 2"/>
          <p:cNvSpPr/>
          <p:nvPr/>
        </p:nvSpPr>
        <p:spPr>
          <a:xfrm>
            <a:off x="666750" y="4081463"/>
            <a:ext cx="190500" cy="190500"/>
          </a:xfrm>
          <a:prstGeom prst="ellipse">
            <a:avLst/>
          </a:prstGeom>
          <a:solidFill>
            <a:srgbClr val="000000"/>
          </a:solidFill>
          <a:ln w="12700">
            <a:solidFill>
              <a:srgbClr val="000000"/>
            </a:solidFill>
            <a:prstDash val="solid"/>
          </a:ln>
        </p:spPr>
      </p:sp>
      <p:sp>
        <p:nvSpPr>
          <p:cNvPr id="9" name="Text 7"/>
          <p:cNvSpPr txBox="1"/>
          <p:nvPr/>
        </p:nvSpPr>
        <p:spPr>
          <a:xfrm>
            <a:off x="666750" y="408146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0" name="Screenshot frame"/>
          <p:cNvSpPr/>
          <p:nvPr/>
        </p:nvSpPr>
        <p:spPr>
          <a:xfrm>
            <a:off x="6705600" y="1428750"/>
            <a:ext cx="4953000" cy="3810000"/>
          </a:xfrm>
          <a:prstGeom prst="roundRect">
            <a:avLst>
              <a:gd name="adj" fmla="val 3000"/>
            </a:avLst>
          </a:prstGeom>
          <a:solidFill>
            <a:srgbClr val="F6F6F6"/>
          </a:solidFill>
          <a:ln w="12700">
            <a:solidFill>
              <a:srgbClr val="F6F6F6">
                <a:alpha val="0"/>
              </a:srgbClr>
            </a:solidFill>
            <a:prstDash val="solid"/>
          </a:ln>
        </p:spPr>
      </p:sp>
      <p:pic>
        <p:nvPicPr>
          <p:cNvPr id="11" name="Screenshot setpw.png" descr="Screenshot setpw.png">    </p:cNvPr>
          <p:cNvPicPr>
            <a:picLocks noChangeAspect="1"/>
          </p:cNvPicPr>
          <p:nvPr/>
        </p:nvPicPr>
        <p:blipFill>
          <a:blip r:embed="rId1"/>
          <a:stretch>
            <a:fillRect/>
          </a:stretch>
        </p:blipFill>
        <p:spPr>
          <a:xfrm>
            <a:off x="6838950" y="1685925"/>
            <a:ext cx="4686300" cy="3305175"/>
          </a:xfrm>
          <a:prstGeom prst="rect">
            <a:avLst/>
          </a:prstGeom>
        </p:spPr>
      </p:pic>
      <p:sp>
        <p:nvSpPr>
          <p:cNvPr id="12" name="Note 1 dot"/>
          <p:cNvSpPr/>
          <p:nvPr/>
        </p:nvSpPr>
        <p:spPr>
          <a:xfrm>
            <a:off x="533400" y="5419725"/>
            <a:ext cx="190500" cy="190500"/>
          </a:xfrm>
          <a:prstGeom prst="ellipse">
            <a:avLst/>
          </a:prstGeom>
          <a:solidFill>
            <a:srgbClr val="000000"/>
          </a:solidFill>
          <a:ln w="12700">
            <a:solidFill>
              <a:srgbClr val="000000">
                <a:alpha val="0"/>
              </a:srgbClr>
            </a:solidFill>
            <a:prstDash val="solid"/>
          </a:ln>
        </p:spPr>
      </p:sp>
      <p:sp>
        <p:nvSpPr>
          <p:cNvPr id="13" name="Note 1 number"/>
          <p:cNvSpPr txBox="1"/>
          <p:nvPr/>
        </p:nvSpPr>
        <p:spPr>
          <a:xfrm>
            <a:off x="533400" y="543877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14" name="Text 11"/>
          <p:cNvSpPr txBox="1"/>
          <p:nvPr/>
        </p:nvSpPr>
        <p:spPr>
          <a:xfrm>
            <a:off x="857250" y="5410200"/>
            <a:ext cx="55816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One rule list, two jobs</a:t>
            </a:r>
            <a:endParaRPr lang="en-US" sz="1125" dirty="0"/>
          </a:p>
        </p:txBody>
      </p:sp>
      <p:sp>
        <p:nvSpPr>
          <p:cNvPr id="15" name="Text 12"/>
          <p:cNvSpPr txBox="1"/>
          <p:nvPr/>
        </p:nvSpPr>
        <p:spPr>
          <a:xfrm>
            <a:off x="857250" y="5629275"/>
            <a:ext cx="55816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Draws the live checklist and blocks weak passwords in the API.</a:t>
            </a:r>
            <a:endParaRPr lang="en-US" sz="1050" dirty="0"/>
          </a:p>
        </p:txBody>
      </p:sp>
      <p:sp>
        <p:nvSpPr>
          <p:cNvPr id="16" name="Note 2 dot"/>
          <p:cNvSpPr/>
          <p:nvPr/>
        </p:nvSpPr>
        <p:spPr>
          <a:xfrm>
            <a:off x="6705600" y="5419725"/>
            <a:ext cx="190500" cy="190500"/>
          </a:xfrm>
          <a:prstGeom prst="ellipse">
            <a:avLst/>
          </a:prstGeom>
          <a:solidFill>
            <a:srgbClr val="000000"/>
          </a:solidFill>
          <a:ln w="12700">
            <a:solidFill>
              <a:srgbClr val="000000">
                <a:alpha val="0"/>
              </a:srgbClr>
            </a:solidFill>
            <a:prstDash val="solid"/>
          </a:ln>
        </p:spPr>
      </p:sp>
      <p:sp>
        <p:nvSpPr>
          <p:cNvPr id="17" name="Note 2 number"/>
          <p:cNvSpPr txBox="1"/>
          <p:nvPr/>
        </p:nvSpPr>
        <p:spPr>
          <a:xfrm>
            <a:off x="6705600" y="543877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8" name="Text 15"/>
          <p:cNvSpPr txBox="1"/>
          <p:nvPr/>
        </p:nvSpPr>
        <p:spPr>
          <a:xfrm>
            <a:off x="7029450" y="541020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Never stored as text</a:t>
            </a:r>
            <a:endParaRPr lang="en-US" sz="1125" dirty="0"/>
          </a:p>
        </p:txBody>
      </p:sp>
      <p:sp>
        <p:nvSpPr>
          <p:cNvPr id="19" name="Text 16"/>
          <p:cNvSpPr txBox="1"/>
          <p:nvPr/>
        </p:nvSpPr>
        <p:spPr>
          <a:xfrm>
            <a:off x="7029450" y="562927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Only the bcrypt hash is saved; reset users must pick their own.</a:t>
            </a:r>
            <a:endParaRPr lang="en-US" sz="10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Promises keep the app responsive; a captcha keeps bots out</a:t>
            </a:r>
            <a:endParaRPr lang="en-US" sz="2550" dirty="0"/>
          </a:p>
        </p:txBody>
      </p:sp>
      <p:sp>
        <p:nvSpPr>
          <p:cNvPr id="3" name="Text 1"/>
          <p:cNvSpPr txBox="1"/>
          <p:nvPr/>
        </p:nvSpPr>
        <p:spPr>
          <a:xfrm>
            <a:off x="533400" y="1333500"/>
            <a:ext cx="5334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JavaScript Promises</a:t>
            </a:r>
            <a:endParaRPr lang="en-US" sz="1500" dirty="0"/>
          </a:p>
        </p:txBody>
      </p:sp>
      <p:sp>
        <p:nvSpPr>
          <p:cNvPr id="4" name="Text 2"/>
          <p:cNvSpPr txBox="1"/>
          <p:nvPr/>
        </p:nvSpPr>
        <p:spPr>
          <a:xfrm>
            <a:off x="533400" y="1619250"/>
            <a:ext cx="5334000" cy="4191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A Promise is a value that arrives later. Every BookVerse API call returns one, so the page can show “Reserving…” while it waits.</a:t>
            </a:r>
            <a:endParaRPr lang="en-US" sz="1050" dirty="0"/>
          </a:p>
        </p:txBody>
      </p:sp>
      <p:sp>
        <p:nvSpPr>
          <p:cNvPr id="5" name="Code panel"/>
          <p:cNvSpPr/>
          <p:nvPr/>
        </p:nvSpPr>
        <p:spPr>
          <a:xfrm>
            <a:off x="533400" y="2114550"/>
            <a:ext cx="5334000" cy="3009900"/>
          </a:xfrm>
          <a:prstGeom prst="roundRect">
            <a:avLst>
              <a:gd name="adj" fmla="val 3797"/>
            </a:avLst>
          </a:prstGeom>
          <a:solidFill>
            <a:srgbClr val="F6F6F6"/>
          </a:solidFill>
          <a:ln w="12700">
            <a:solidFill>
              <a:srgbClr val="F6F6F6">
                <a:alpha val="0"/>
              </a:srgbClr>
            </a:solidFill>
            <a:prstDash val="solid"/>
          </a:ln>
        </p:spPr>
      </p:sp>
      <p:sp>
        <p:nvSpPr>
          <p:cNvPr id="6" name="Code file"/>
          <p:cNvSpPr txBox="1"/>
          <p:nvPr/>
        </p:nvSpPr>
        <p:spPr>
          <a:xfrm>
            <a:off x="723900" y="2247900"/>
            <a:ext cx="49530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src/api/index.js  ·  src/pages/student/BookDetail.jsx</a:t>
            </a:r>
            <a:endParaRPr lang="en-US" sz="900" dirty="0"/>
          </a:p>
        </p:txBody>
      </p:sp>
      <p:sp>
        <p:nvSpPr>
          <p:cNvPr id="7" name="Code"/>
          <p:cNvSpPr txBox="1"/>
          <p:nvPr/>
        </p:nvSpPr>
        <p:spPr>
          <a:xfrm>
            <a:off x="952500" y="2514600"/>
            <a:ext cx="4724400" cy="2476500"/>
          </a:xfrm>
          <a:prstGeom prst="rect">
            <a:avLst/>
          </a:prstGeom>
          <a:noFill/>
          <a:ln/>
        </p:spPr>
        <p:txBody>
          <a:bodyPr wrap="none" lIns="0" tIns="0" rIns="0" bIns="0" rtlCol="0" anchor="t"/>
          <a:lstStyle/>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request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work</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new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Promise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resolve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reject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setTimeout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init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then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work</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then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resolve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reject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DELAY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async</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setBusy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true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try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await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reserveBook</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book</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catch</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err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setError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err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message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setBusy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false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p:txBody>
      </p:sp>
      <p:sp>
        <p:nvSpPr>
          <p:cNvPr id="8" name="Code mark 1"/>
          <p:cNvSpPr/>
          <p:nvPr/>
        </p:nvSpPr>
        <p:spPr>
          <a:xfrm>
            <a:off x="666750" y="2662238"/>
            <a:ext cx="190500" cy="190500"/>
          </a:xfrm>
          <a:prstGeom prst="ellipse">
            <a:avLst/>
          </a:prstGeom>
          <a:solidFill>
            <a:srgbClr val="000000"/>
          </a:solidFill>
          <a:ln w="12700">
            <a:solidFill>
              <a:srgbClr val="000000"/>
            </a:solidFill>
            <a:prstDash val="solid"/>
          </a:ln>
        </p:spPr>
      </p:sp>
      <p:sp>
        <p:nvSpPr>
          <p:cNvPr id="9" name="Text 7"/>
          <p:cNvSpPr txBox="1"/>
          <p:nvPr/>
        </p:nvSpPr>
        <p:spPr>
          <a:xfrm>
            <a:off x="666750" y="2662238"/>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10" name="Code mark 2"/>
          <p:cNvSpPr/>
          <p:nvPr/>
        </p:nvSpPr>
        <p:spPr>
          <a:xfrm>
            <a:off x="666750" y="4281488"/>
            <a:ext cx="190500" cy="190500"/>
          </a:xfrm>
          <a:prstGeom prst="ellipse">
            <a:avLst/>
          </a:prstGeom>
          <a:solidFill>
            <a:srgbClr val="000000"/>
          </a:solidFill>
          <a:ln w="12700">
            <a:solidFill>
              <a:srgbClr val="000000"/>
            </a:solidFill>
            <a:prstDash val="solid"/>
          </a:ln>
        </p:spPr>
      </p:sp>
      <p:sp>
        <p:nvSpPr>
          <p:cNvPr id="11" name="Text 9"/>
          <p:cNvSpPr txBox="1"/>
          <p:nvPr/>
        </p:nvSpPr>
        <p:spPr>
          <a:xfrm>
            <a:off x="666750" y="4281488"/>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2" name="Promise trip line"/>
          <p:cNvSpPr/>
          <p:nvPr/>
        </p:nvSpPr>
        <p:spPr>
          <a:xfrm>
            <a:off x="762000" y="5353050"/>
            <a:ext cx="4876800" cy="0"/>
          </a:xfrm>
          <a:prstGeom prst="line">
            <a:avLst/>
          </a:prstGeom>
          <a:noFill/>
          <a:ln w="28575">
            <a:solidFill>
              <a:srgbClr val="000000"/>
            </a:solidFill>
            <a:prstDash val="solid"/>
          </a:ln>
        </p:spPr>
      </p:sp>
      <p:sp>
        <p:nvSpPr>
          <p:cNvPr id="13" name="Trip start"/>
          <p:cNvSpPr/>
          <p:nvPr/>
        </p:nvSpPr>
        <p:spPr>
          <a:xfrm>
            <a:off x="676275" y="5267325"/>
            <a:ext cx="171450" cy="171450"/>
          </a:xfrm>
          <a:prstGeom prst="ellipse">
            <a:avLst/>
          </a:prstGeom>
          <a:solidFill>
            <a:srgbClr val="FFFFFF"/>
          </a:solidFill>
          <a:ln w="28575">
            <a:solidFill>
              <a:srgbClr val="000000"/>
            </a:solidFill>
            <a:prstDash val="solid"/>
          </a:ln>
        </p:spPr>
      </p:sp>
      <p:sp>
        <p:nvSpPr>
          <p:cNvPr id="14" name="Shape 12"/>
          <p:cNvSpPr/>
          <p:nvPr/>
        </p:nvSpPr>
        <p:spPr>
          <a:xfrm>
            <a:off x="3133725" y="5286375"/>
            <a:ext cx="133350" cy="133350"/>
          </a:xfrm>
          <a:prstGeom prst="ellipse">
            <a:avLst/>
          </a:prstGeom>
          <a:solidFill>
            <a:srgbClr val="000000"/>
          </a:solidFill>
          <a:ln w="12700">
            <a:solidFill>
              <a:srgbClr val="000000">
                <a:alpha val="0"/>
              </a:srgbClr>
            </a:solidFill>
            <a:prstDash val="solid"/>
          </a:ln>
        </p:spPr>
      </p:sp>
      <p:sp>
        <p:nvSpPr>
          <p:cNvPr id="15" name="Trip end"/>
          <p:cNvSpPr/>
          <p:nvPr/>
        </p:nvSpPr>
        <p:spPr>
          <a:xfrm>
            <a:off x="5562600" y="5276850"/>
            <a:ext cx="152400" cy="152400"/>
          </a:xfrm>
          <a:prstGeom prst="rect">
            <a:avLst/>
          </a:prstGeom>
          <a:solidFill>
            <a:srgbClr val="000000"/>
          </a:solidFill>
          <a:ln w="12700">
            <a:solidFill>
              <a:srgbClr val="000000">
                <a:alpha val="0"/>
              </a:srgbClr>
            </a:solidFill>
            <a:prstDash val="solid"/>
          </a:ln>
        </p:spPr>
      </p:sp>
      <p:sp>
        <p:nvSpPr>
          <p:cNvPr id="16" name="Text 14"/>
          <p:cNvSpPr txBox="1"/>
          <p:nvPr/>
        </p:nvSpPr>
        <p:spPr>
          <a:xfrm>
            <a:off x="533400" y="5524500"/>
            <a:ext cx="1714500" cy="190500"/>
          </a:xfrm>
          <a:prstGeom prst="rect">
            <a:avLst/>
          </a:prstGeom>
          <a:noFill/>
          <a:ln/>
        </p:spPr>
        <p:txBody>
          <a:bodyPr wrap="square" lIns="0" tIns="0" rIns="0" bIns="0" rtlCol="0" anchor="t"/>
          <a:lstStyle/>
          <a:p>
            <a:pPr algn="l" indent="0" marL="0">
              <a:lnSpc>
                <a:spcPts val="1365"/>
              </a:lnSpc>
              <a:buNone/>
            </a:pPr>
            <a:r>
              <a:rPr lang="en-US" sz="1050" b="1" dirty="0">
                <a:solidFill>
                  <a:srgbClr val="000000"/>
                </a:solidFill>
                <a:latin typeface="Manrope" pitchFamily="34" charset="0"/>
                <a:ea typeface="Manrope" pitchFamily="34" charset="-122"/>
                <a:cs typeface="Manrope" pitchFamily="34" charset="-120"/>
              </a:rPr>
              <a:t>Click “Reserve”</a:t>
            </a:r>
            <a:endParaRPr lang="en-US" sz="1050" dirty="0"/>
          </a:p>
        </p:txBody>
      </p:sp>
      <p:sp>
        <p:nvSpPr>
          <p:cNvPr id="17" name="Text 15"/>
          <p:cNvSpPr txBox="1"/>
          <p:nvPr/>
        </p:nvSpPr>
        <p:spPr>
          <a:xfrm>
            <a:off x="533400" y="5734050"/>
            <a:ext cx="1714500" cy="171450"/>
          </a:xfrm>
          <a:prstGeom prst="rect">
            <a:avLst/>
          </a:prstGeom>
          <a:noFill/>
          <a:ln/>
        </p:spPr>
        <p:txBody>
          <a:bodyPr wrap="square" lIns="0" tIns="0" rIns="0" bIns="0" rtlCol="0" anchor="t"/>
          <a:lstStyle/>
          <a:p>
            <a:pPr algn="l" indent="0" marL="0">
              <a:lnSpc>
                <a:spcPts val="1215"/>
              </a:lnSpc>
              <a:buNone/>
            </a:pPr>
            <a:r>
              <a:rPr lang="en-US" sz="900" dirty="0">
                <a:solidFill>
                  <a:srgbClr val="757575"/>
                </a:solidFill>
                <a:latin typeface="Manrope" pitchFamily="34" charset="0"/>
                <a:ea typeface="Manrope" pitchFamily="34" charset="-122"/>
                <a:cs typeface="Manrope" pitchFamily="34" charset="-120"/>
              </a:rPr>
              <a:t>1 · Promise created</a:t>
            </a:r>
            <a:endParaRPr lang="en-US" sz="900" dirty="0"/>
          </a:p>
        </p:txBody>
      </p:sp>
      <p:sp>
        <p:nvSpPr>
          <p:cNvPr id="18" name="Text 16"/>
          <p:cNvSpPr txBox="1"/>
          <p:nvPr/>
        </p:nvSpPr>
        <p:spPr>
          <a:xfrm>
            <a:off x="2438400" y="5524500"/>
            <a:ext cx="1524000" cy="190500"/>
          </a:xfrm>
          <a:prstGeom prst="rect">
            <a:avLst/>
          </a:prstGeom>
          <a:noFill/>
          <a:ln/>
        </p:spPr>
        <p:txBody>
          <a:bodyPr wrap="square" lIns="0" tIns="0" rIns="0" bIns="0" rtlCol="0" anchor="t"/>
          <a:lstStyle/>
          <a:p>
            <a:pPr algn="ctr" indent="0" marL="0">
              <a:lnSpc>
                <a:spcPts val="1365"/>
              </a:lnSpc>
              <a:buNone/>
            </a:pPr>
            <a:r>
              <a:rPr lang="en-US" sz="1050" b="1" dirty="0">
                <a:solidFill>
                  <a:srgbClr val="000000"/>
                </a:solidFill>
                <a:latin typeface="Manrope" pitchFamily="34" charset="0"/>
                <a:ea typeface="Manrope" pitchFamily="34" charset="-122"/>
                <a:cs typeface="Manrope" pitchFamily="34" charset="-120"/>
              </a:rPr>
              <a:t>Pending</a:t>
            </a:r>
            <a:endParaRPr lang="en-US" sz="1050" dirty="0"/>
          </a:p>
        </p:txBody>
      </p:sp>
      <p:sp>
        <p:nvSpPr>
          <p:cNvPr id="19" name="Text 17"/>
          <p:cNvSpPr txBox="1"/>
          <p:nvPr/>
        </p:nvSpPr>
        <p:spPr>
          <a:xfrm>
            <a:off x="2343150" y="5734050"/>
            <a:ext cx="1714500" cy="171450"/>
          </a:xfrm>
          <a:prstGeom prst="rect">
            <a:avLst/>
          </a:prstGeom>
          <a:noFill/>
          <a:ln/>
        </p:spPr>
        <p:txBody>
          <a:bodyPr wrap="square" lIns="0" tIns="0" rIns="0" bIns="0" rtlCol="0" anchor="t"/>
          <a:lstStyle/>
          <a:p>
            <a:pPr algn="ctr" indent="0" marL="0">
              <a:lnSpc>
                <a:spcPts val="1215"/>
              </a:lnSpc>
              <a:buNone/>
            </a:pPr>
            <a:r>
              <a:rPr lang="en-US" sz="900" dirty="0">
                <a:solidFill>
                  <a:srgbClr val="757575"/>
                </a:solidFill>
                <a:latin typeface="Manrope" pitchFamily="34" charset="0"/>
                <a:ea typeface="Manrope" pitchFamily="34" charset="-122"/>
                <a:cs typeface="Manrope" pitchFamily="34" charset="-120"/>
              </a:rPr>
              <a:t>button reads “Reserving…”</a:t>
            </a:r>
            <a:endParaRPr lang="en-US" sz="900" dirty="0"/>
          </a:p>
        </p:txBody>
      </p:sp>
      <p:sp>
        <p:nvSpPr>
          <p:cNvPr id="20" name="Text 18"/>
          <p:cNvSpPr txBox="1"/>
          <p:nvPr/>
        </p:nvSpPr>
        <p:spPr>
          <a:xfrm>
            <a:off x="3924300" y="5524500"/>
            <a:ext cx="1943100" cy="190500"/>
          </a:xfrm>
          <a:prstGeom prst="rect">
            <a:avLst/>
          </a:prstGeom>
          <a:noFill/>
          <a:ln/>
        </p:spPr>
        <p:txBody>
          <a:bodyPr wrap="square" lIns="0" tIns="0" rIns="0" bIns="0" rtlCol="0" anchor="t"/>
          <a:lstStyle/>
          <a:p>
            <a:pPr algn="r" indent="0" marL="0">
              <a:lnSpc>
                <a:spcPts val="1365"/>
              </a:lnSpc>
              <a:buNone/>
            </a:pPr>
            <a:r>
              <a:rPr lang="en-US" sz="1050" b="1" dirty="0">
                <a:solidFill>
                  <a:srgbClr val="000000"/>
                </a:solidFill>
                <a:latin typeface="Manrope" pitchFamily="34" charset="0"/>
                <a:ea typeface="Manrope" pitchFamily="34" charset="-122"/>
                <a:cs typeface="Manrope" pitchFamily="34" charset="-120"/>
              </a:rPr>
              <a:t>Resolved / rejected</a:t>
            </a:r>
            <a:endParaRPr lang="en-US" sz="1050" dirty="0"/>
          </a:p>
        </p:txBody>
      </p:sp>
      <p:sp>
        <p:nvSpPr>
          <p:cNvPr id="21" name="Text 19"/>
          <p:cNvSpPr txBox="1"/>
          <p:nvPr/>
        </p:nvSpPr>
        <p:spPr>
          <a:xfrm>
            <a:off x="3733800" y="5734050"/>
            <a:ext cx="2133600" cy="171450"/>
          </a:xfrm>
          <a:prstGeom prst="rect">
            <a:avLst/>
          </a:prstGeom>
          <a:noFill/>
          <a:ln/>
        </p:spPr>
        <p:txBody>
          <a:bodyPr wrap="square" lIns="0" tIns="0" rIns="0" bIns="0" rtlCol="0" anchor="t"/>
          <a:lstStyle/>
          <a:p>
            <a:pPr algn="r" indent="0" marL="0">
              <a:lnSpc>
                <a:spcPts val="1215"/>
              </a:lnSpc>
              <a:buNone/>
            </a:pPr>
            <a:r>
              <a:rPr lang="en-US" sz="900" dirty="0">
                <a:solidFill>
                  <a:srgbClr val="757575"/>
                </a:solidFill>
                <a:latin typeface="Manrope" pitchFamily="34" charset="0"/>
                <a:ea typeface="Manrope" pitchFamily="34" charset="-122"/>
                <a:cs typeface="Manrope" pitchFamily="34" charset="-120"/>
              </a:rPr>
              <a:t>2 · saved, or ApiError shown</a:t>
            </a:r>
            <a:endParaRPr lang="en-US" sz="900" dirty="0"/>
          </a:p>
        </p:txBody>
      </p:sp>
      <p:sp>
        <p:nvSpPr>
          <p:cNvPr id="22" name="Shape 20"/>
          <p:cNvSpPr/>
          <p:nvPr/>
        </p:nvSpPr>
        <p:spPr>
          <a:xfrm>
            <a:off x="6096000" y="1333500"/>
            <a:ext cx="9525" cy="4476750"/>
          </a:xfrm>
          <a:prstGeom prst="rect">
            <a:avLst/>
          </a:prstGeom>
          <a:solidFill>
            <a:srgbClr val="E2E2E2"/>
          </a:solidFill>
          <a:ln w="12700">
            <a:solidFill>
              <a:srgbClr val="E2E2E2">
                <a:alpha val="0"/>
              </a:srgbClr>
            </a:solidFill>
            <a:prstDash val="solid"/>
          </a:ln>
        </p:spPr>
      </p:sp>
      <p:sp>
        <p:nvSpPr>
          <p:cNvPr id="23" name="Text 21"/>
          <p:cNvSpPr txBox="1"/>
          <p:nvPr/>
        </p:nvSpPr>
        <p:spPr>
          <a:xfrm>
            <a:off x="6324600" y="1333500"/>
            <a:ext cx="533400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CAPTCHA</a:t>
            </a:r>
            <a:endParaRPr lang="en-US" sz="1500" dirty="0"/>
          </a:p>
        </p:txBody>
      </p:sp>
      <p:sp>
        <p:nvSpPr>
          <p:cNvPr id="24" name="Text 22"/>
          <p:cNvSpPr txBox="1"/>
          <p:nvPr/>
        </p:nvSpPr>
        <p:spPr>
          <a:xfrm>
            <a:off x="6324600" y="1619250"/>
            <a:ext cx="5334000" cy="4191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A test that people pass and simple bots fail. BookVerse draws 5 distorted characters on a canvas for its four public forms.</a:t>
            </a:r>
            <a:endParaRPr lang="en-US" sz="1050" dirty="0"/>
          </a:p>
        </p:txBody>
      </p:sp>
      <p:sp>
        <p:nvSpPr>
          <p:cNvPr id="25" name="Code panel"/>
          <p:cNvSpPr/>
          <p:nvPr/>
        </p:nvSpPr>
        <p:spPr>
          <a:xfrm>
            <a:off x="6324600" y="2114550"/>
            <a:ext cx="5334000" cy="2343150"/>
          </a:xfrm>
          <a:prstGeom prst="roundRect">
            <a:avLst>
              <a:gd name="adj" fmla="val 4878"/>
            </a:avLst>
          </a:prstGeom>
          <a:solidFill>
            <a:srgbClr val="F6F6F6"/>
          </a:solidFill>
          <a:ln w="12700">
            <a:solidFill>
              <a:srgbClr val="F6F6F6">
                <a:alpha val="0"/>
              </a:srgbClr>
            </a:solidFill>
            <a:prstDash val="solid"/>
          </a:ln>
        </p:spPr>
      </p:sp>
      <p:sp>
        <p:nvSpPr>
          <p:cNvPr id="26" name="Code file"/>
          <p:cNvSpPr txBox="1"/>
          <p:nvPr/>
        </p:nvSpPr>
        <p:spPr>
          <a:xfrm>
            <a:off x="6515100" y="2247900"/>
            <a:ext cx="49530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src/api/captcha.js</a:t>
            </a:r>
            <a:endParaRPr lang="en-US" sz="900" dirty="0"/>
          </a:p>
        </p:txBody>
      </p:sp>
      <p:sp>
        <p:nvSpPr>
          <p:cNvPr id="27" name="Code"/>
          <p:cNvSpPr txBox="1"/>
          <p:nvPr/>
        </p:nvSpPr>
        <p:spPr>
          <a:xfrm>
            <a:off x="6743700" y="2514600"/>
            <a:ext cx="4724400" cy="1809750"/>
          </a:xfrm>
          <a:prstGeom prst="rect">
            <a:avLst/>
          </a:prstGeom>
          <a:noFill/>
          <a:ln/>
        </p:spPr>
        <p:txBody>
          <a:bodyPr wrap="none" lIns="0" tIns="0" rIns="0" bIns="0" rtlCol="0" anchor="t"/>
          <a:lstStyle/>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export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captchaProblem</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found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challenges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get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null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challenges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delete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found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found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expiresAt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now</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'That captcha expired. Try the new one.'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if</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String</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answer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trim</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toUpperCase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found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answer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'The characters did not match. Try the new one.'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p:txBody>
      </p:sp>
      <p:sp>
        <p:nvSpPr>
          <p:cNvPr id="28" name="Code mark 3"/>
          <p:cNvSpPr/>
          <p:nvPr/>
        </p:nvSpPr>
        <p:spPr>
          <a:xfrm>
            <a:off x="6457950" y="2824163"/>
            <a:ext cx="190500" cy="190500"/>
          </a:xfrm>
          <a:prstGeom prst="ellipse">
            <a:avLst/>
          </a:prstGeom>
          <a:solidFill>
            <a:srgbClr val="000000"/>
          </a:solidFill>
          <a:ln w="12700">
            <a:solidFill>
              <a:srgbClr val="000000"/>
            </a:solidFill>
            <a:prstDash val="solid"/>
          </a:ln>
        </p:spPr>
      </p:sp>
      <p:sp>
        <p:nvSpPr>
          <p:cNvPr id="29" name="Text 27"/>
          <p:cNvSpPr txBox="1"/>
          <p:nvPr/>
        </p:nvSpPr>
        <p:spPr>
          <a:xfrm>
            <a:off x="6457950" y="282416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30" name="Code mark 4"/>
          <p:cNvSpPr/>
          <p:nvPr/>
        </p:nvSpPr>
        <p:spPr>
          <a:xfrm>
            <a:off x="6457950" y="3148013"/>
            <a:ext cx="190500" cy="190500"/>
          </a:xfrm>
          <a:prstGeom prst="ellipse">
            <a:avLst/>
          </a:prstGeom>
          <a:solidFill>
            <a:srgbClr val="000000"/>
          </a:solidFill>
          <a:ln w="12700">
            <a:solidFill>
              <a:srgbClr val="000000"/>
            </a:solidFill>
            <a:prstDash val="solid"/>
          </a:ln>
        </p:spPr>
      </p:sp>
      <p:sp>
        <p:nvSpPr>
          <p:cNvPr id="31" name="Text 29"/>
          <p:cNvSpPr txBox="1"/>
          <p:nvPr/>
        </p:nvSpPr>
        <p:spPr>
          <a:xfrm>
            <a:off x="6457950" y="314801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4</a:t>
            </a:r>
            <a:endParaRPr lang="en-US" sz="825" dirty="0"/>
          </a:p>
        </p:txBody>
      </p:sp>
      <p:sp>
        <p:nvSpPr>
          <p:cNvPr id="32" name="Screenshot frame"/>
          <p:cNvSpPr/>
          <p:nvPr/>
        </p:nvSpPr>
        <p:spPr>
          <a:xfrm>
            <a:off x="6324600" y="4610100"/>
            <a:ext cx="2857500" cy="819150"/>
          </a:xfrm>
          <a:prstGeom prst="roundRect">
            <a:avLst>
              <a:gd name="adj" fmla="val 13953"/>
            </a:avLst>
          </a:prstGeom>
          <a:solidFill>
            <a:srgbClr val="F6F6F6"/>
          </a:solidFill>
          <a:ln w="12700">
            <a:solidFill>
              <a:srgbClr val="F6F6F6">
                <a:alpha val="0"/>
              </a:srgbClr>
            </a:solidFill>
            <a:prstDash val="solid"/>
          </a:ln>
        </p:spPr>
      </p:sp>
      <p:pic>
        <p:nvPicPr>
          <p:cNvPr id="33" name="Screenshot captcha.png" descr="Screenshot captcha.png">    </p:cNvPr>
          <p:cNvPicPr>
            <a:picLocks noChangeAspect="1"/>
          </p:cNvPicPr>
          <p:nvPr/>
        </p:nvPicPr>
        <p:blipFill>
          <a:blip r:embed="rId1"/>
          <a:stretch>
            <a:fillRect/>
          </a:stretch>
        </p:blipFill>
        <p:spPr>
          <a:xfrm>
            <a:off x="6419850" y="4724400"/>
            <a:ext cx="2667000" cy="600075"/>
          </a:xfrm>
          <a:prstGeom prst="rect">
            <a:avLst/>
          </a:prstGeom>
        </p:spPr>
      </p:pic>
      <p:sp>
        <p:nvSpPr>
          <p:cNvPr id="34" name="Text 31"/>
          <p:cNvSpPr txBox="1"/>
          <p:nvPr/>
        </p:nvSpPr>
        <p:spPr>
          <a:xfrm>
            <a:off x="9372600" y="4705350"/>
            <a:ext cx="2286000" cy="666750"/>
          </a:xfrm>
          <a:prstGeom prst="rect">
            <a:avLst/>
          </a:prstGeom>
          <a:noFill/>
          <a:ln/>
        </p:spPr>
        <p:txBody>
          <a:bodyPr wrap="square" lIns="0" tIns="0" rIns="0" bIns="0" rtlCol="0" anchor="t"/>
          <a:lstStyle/>
          <a:p>
            <a:pPr algn="l" indent="0" marL="0">
              <a:lnSpc>
                <a:spcPts val="1414"/>
              </a:lnSpc>
              <a:buNone/>
            </a:pPr>
            <a:r>
              <a:rPr lang="en-US" sz="975" dirty="0">
                <a:solidFill>
                  <a:srgbClr val="545454"/>
                </a:solidFill>
                <a:latin typeface="Manrope" pitchFamily="34" charset="0"/>
                <a:ea typeface="Manrope" pitchFamily="34" charset="-122"/>
                <a:cs typeface="Manrope" pitchFamily="34" charset="-120"/>
              </a:rPr>
              <a:t>3 · Single use: deleted on any try</a:t>
            </a:r>
            <a:endParaRPr lang="en-US" sz="975" dirty="0"/>
          </a:p>
          <a:p>
            <a:pPr algn="l" indent="0" marL="0">
              <a:lnSpc>
                <a:spcPts val="1414"/>
              </a:lnSpc>
              <a:buNone/>
            </a:pPr>
            <a:r>
              <a:rPr lang="en-US" sz="975" dirty="0">
                <a:solidFill>
                  <a:srgbClr val="545454"/>
                </a:solidFill>
                <a:latin typeface="Manrope" pitchFamily="34" charset="0"/>
                <a:ea typeface="Manrope" pitchFamily="34" charset="-122"/>
                <a:cs typeface="Manrope" pitchFamily="34" charset="-120"/>
              </a:rPr>
              <a:t>4 · Expires after 5 minutes</a:t>
            </a:r>
            <a:endParaRPr lang="en-US" sz="975" dirty="0"/>
          </a:p>
        </p:txBody>
      </p:sp>
      <p:sp>
        <p:nvSpPr>
          <p:cNvPr id="35" name="Text 32"/>
          <p:cNvSpPr txBox="1"/>
          <p:nvPr/>
        </p:nvSpPr>
        <p:spPr>
          <a:xfrm>
            <a:off x="6324600" y="5562600"/>
            <a:ext cx="5334000" cy="342900"/>
          </a:xfrm>
          <a:prstGeom prst="rect">
            <a:avLst/>
          </a:prstGeom>
          <a:noFill/>
          <a:ln/>
        </p:spPr>
        <p:txBody>
          <a:bodyPr wrap="square" lIns="0" tIns="0" rIns="0" bIns="0" rtlCol="0" anchor="t"/>
          <a:lstStyle/>
          <a:p>
            <a:pPr algn="l" indent="0" marL="0">
              <a:lnSpc>
                <a:spcPts val="1215"/>
              </a:lnSpc>
              <a:buNone/>
            </a:pPr>
            <a:r>
              <a:rPr lang="en-US" sz="900" dirty="0">
                <a:solidFill>
                  <a:srgbClr val="757575"/>
                </a:solidFill>
                <a:latin typeface="Manrope" pitchFamily="34" charset="0"/>
                <a:ea typeface="Manrope" pitchFamily="34" charset="-122"/>
                <a:cs typeface="Manrope" pitchFamily="34" charset="-120"/>
              </a:rPr>
              <a:t>Used on Login, Register, Forgot password and Contact. It runs in the browser like the rest of this demo backend, so it stops casual bots, not a determined attacker.</a:t>
            </a:r>
            <a:endParaRPr lang="en-US" sz="90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Contact messages and lost passwords land in one admin Inbox</a:t>
            </a:r>
            <a:endParaRPr lang="en-US" sz="2550" dirty="0"/>
          </a:p>
        </p:txBody>
      </p:sp>
      <p:sp>
        <p:nvSpPr>
          <p:cNvPr id="3" name="Code panel"/>
          <p:cNvSpPr/>
          <p:nvPr/>
        </p:nvSpPr>
        <p:spPr>
          <a:xfrm>
            <a:off x="533400" y="1428750"/>
            <a:ext cx="5905500" cy="3810000"/>
          </a:xfrm>
          <a:prstGeom prst="roundRect">
            <a:avLst>
              <a:gd name="adj" fmla="val 3000"/>
            </a:avLst>
          </a:prstGeom>
          <a:solidFill>
            <a:srgbClr val="F6F6F6"/>
          </a:solidFill>
          <a:ln w="12700">
            <a:solidFill>
              <a:srgbClr val="F6F6F6">
                <a:alpha val="0"/>
              </a:srgbClr>
            </a:solidFill>
            <a:prstDash val="solid"/>
          </a:ln>
        </p:spPr>
      </p:sp>
      <p:sp>
        <p:nvSpPr>
          <p:cNvPr id="4" name="Code file"/>
          <p:cNvSpPr txBox="1"/>
          <p:nvPr/>
        </p:nvSpPr>
        <p:spPr>
          <a:xfrm>
            <a:off x="723900" y="1562100"/>
            <a:ext cx="55245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src/api/index.js  ·  requestPasswordReset()</a:t>
            </a:r>
            <a:endParaRPr lang="en-US" sz="900" dirty="0"/>
          </a:p>
        </p:txBody>
      </p:sp>
      <p:sp>
        <p:nvSpPr>
          <p:cNvPr id="5" name="Code"/>
          <p:cNvSpPr txBox="1"/>
          <p:nvPr/>
        </p:nvSpPr>
        <p:spPr>
          <a:xfrm>
            <a:off x="952500" y="1828800"/>
            <a:ext cx="5295900" cy="3276600"/>
          </a:xfrm>
          <a:prstGeom prst="rect">
            <a:avLst/>
          </a:prstGeom>
          <a:noFill/>
          <a:ln/>
        </p:spPr>
        <p:txBody>
          <a:bodyPr wrap="none" lIns="0" tIns="0" rIns="0" bIns="0" rtlCol="0" anchor="t"/>
          <a:lstStyle/>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export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requestPasswordReset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role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email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note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request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async</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requireCaptcha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captcha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load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problems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validateResetRequest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role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email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account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table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find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email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toLowerCase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wanted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&amp;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&amp;</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accountId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account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null</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message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subject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'Password reset request'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kind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'reset'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accountId</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db</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save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reducer</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type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'addMessage'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message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p:txBody>
      </p:sp>
      <p:sp>
        <p:nvSpPr>
          <p:cNvPr id="6" name="Code mark 1"/>
          <p:cNvSpPr/>
          <p:nvPr/>
        </p:nvSpPr>
        <p:spPr>
          <a:xfrm>
            <a:off x="666750" y="2138363"/>
            <a:ext cx="190500" cy="190500"/>
          </a:xfrm>
          <a:prstGeom prst="ellipse">
            <a:avLst/>
          </a:prstGeom>
          <a:solidFill>
            <a:srgbClr val="000000"/>
          </a:solidFill>
          <a:ln w="12700">
            <a:solidFill>
              <a:srgbClr val="000000"/>
            </a:solidFill>
            <a:prstDash val="solid"/>
          </a:ln>
        </p:spPr>
      </p:sp>
      <p:sp>
        <p:nvSpPr>
          <p:cNvPr id="7" name="Text 5"/>
          <p:cNvSpPr txBox="1"/>
          <p:nvPr/>
        </p:nvSpPr>
        <p:spPr>
          <a:xfrm>
            <a:off x="666750" y="213836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8" name="Code mark 2"/>
          <p:cNvSpPr/>
          <p:nvPr/>
        </p:nvSpPr>
        <p:spPr>
          <a:xfrm>
            <a:off x="666750" y="2786063"/>
            <a:ext cx="190500" cy="190500"/>
          </a:xfrm>
          <a:prstGeom prst="ellipse">
            <a:avLst/>
          </a:prstGeom>
          <a:solidFill>
            <a:srgbClr val="000000"/>
          </a:solidFill>
          <a:ln w="12700">
            <a:solidFill>
              <a:srgbClr val="000000"/>
            </a:solidFill>
            <a:prstDash val="solid"/>
          </a:ln>
        </p:spPr>
      </p:sp>
      <p:sp>
        <p:nvSpPr>
          <p:cNvPr id="9" name="Text 7"/>
          <p:cNvSpPr txBox="1"/>
          <p:nvPr/>
        </p:nvSpPr>
        <p:spPr>
          <a:xfrm>
            <a:off x="666750" y="278606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0" name="Code mark 3"/>
          <p:cNvSpPr/>
          <p:nvPr/>
        </p:nvSpPr>
        <p:spPr>
          <a:xfrm>
            <a:off x="666750" y="3919537"/>
            <a:ext cx="190500" cy="190500"/>
          </a:xfrm>
          <a:prstGeom prst="ellipse">
            <a:avLst/>
          </a:prstGeom>
          <a:solidFill>
            <a:srgbClr val="000000"/>
          </a:solidFill>
          <a:ln w="12700">
            <a:solidFill>
              <a:srgbClr val="000000"/>
            </a:solidFill>
            <a:prstDash val="solid"/>
          </a:ln>
        </p:spPr>
      </p:sp>
      <p:sp>
        <p:nvSpPr>
          <p:cNvPr id="11" name="Text 9"/>
          <p:cNvSpPr txBox="1"/>
          <p:nvPr/>
        </p:nvSpPr>
        <p:spPr>
          <a:xfrm>
            <a:off x="666750" y="3919537"/>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12" name="Screenshot frame"/>
          <p:cNvSpPr/>
          <p:nvPr/>
        </p:nvSpPr>
        <p:spPr>
          <a:xfrm>
            <a:off x="6705600" y="1428750"/>
            <a:ext cx="4953000" cy="2571750"/>
          </a:xfrm>
          <a:prstGeom prst="roundRect">
            <a:avLst>
              <a:gd name="adj" fmla="val 4444"/>
            </a:avLst>
          </a:prstGeom>
          <a:solidFill>
            <a:srgbClr val="F6F6F6"/>
          </a:solidFill>
          <a:ln w="12700">
            <a:solidFill>
              <a:srgbClr val="F6F6F6">
                <a:alpha val="0"/>
              </a:srgbClr>
            </a:solidFill>
            <a:prstDash val="solid"/>
          </a:ln>
        </p:spPr>
      </p:sp>
      <p:pic>
        <p:nvPicPr>
          <p:cNvPr id="13" name="Screenshot inbox-modal.png" descr="Screenshot inbox-modal.png">    </p:cNvPr>
          <p:cNvPicPr>
            <a:picLocks noChangeAspect="1"/>
          </p:cNvPicPr>
          <p:nvPr/>
        </p:nvPicPr>
        <p:blipFill>
          <a:blip r:embed="rId1"/>
          <a:stretch>
            <a:fillRect/>
          </a:stretch>
        </p:blipFill>
        <p:spPr>
          <a:xfrm>
            <a:off x="7372350" y="1562100"/>
            <a:ext cx="3629025" cy="2305050"/>
          </a:xfrm>
          <a:prstGeom prst="rect">
            <a:avLst/>
          </a:prstGeom>
        </p:spPr>
      </p:pic>
      <p:sp>
        <p:nvSpPr>
          <p:cNvPr id="14" name="Note 1 dot"/>
          <p:cNvSpPr/>
          <p:nvPr/>
        </p:nvSpPr>
        <p:spPr>
          <a:xfrm>
            <a:off x="6705600" y="4200525"/>
            <a:ext cx="190500" cy="190500"/>
          </a:xfrm>
          <a:prstGeom prst="ellipse">
            <a:avLst/>
          </a:prstGeom>
          <a:solidFill>
            <a:srgbClr val="000000"/>
          </a:solidFill>
          <a:ln w="12700">
            <a:solidFill>
              <a:srgbClr val="000000">
                <a:alpha val="0"/>
              </a:srgbClr>
            </a:solidFill>
            <a:prstDash val="solid"/>
          </a:ln>
        </p:spPr>
      </p:sp>
      <p:sp>
        <p:nvSpPr>
          <p:cNvPr id="15" name="Note 1 number"/>
          <p:cNvSpPr txBox="1"/>
          <p:nvPr/>
        </p:nvSpPr>
        <p:spPr>
          <a:xfrm>
            <a:off x="6705600" y="421957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16" name="Text 13"/>
          <p:cNvSpPr txBox="1"/>
          <p:nvPr/>
        </p:nvSpPr>
        <p:spPr>
          <a:xfrm>
            <a:off x="7029450" y="419100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Captcha first</a:t>
            </a:r>
            <a:endParaRPr lang="en-US" sz="1125" dirty="0"/>
          </a:p>
        </p:txBody>
      </p:sp>
      <p:sp>
        <p:nvSpPr>
          <p:cNvPr id="17" name="Text 14"/>
          <p:cNvSpPr txBox="1"/>
          <p:nvPr/>
        </p:nvSpPr>
        <p:spPr>
          <a:xfrm>
            <a:off x="7029450" y="441007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Bots cannot flood the inbox with requests.</a:t>
            </a:r>
            <a:endParaRPr lang="en-US" sz="1050" dirty="0"/>
          </a:p>
        </p:txBody>
      </p:sp>
      <p:sp>
        <p:nvSpPr>
          <p:cNvPr id="18" name="Note 2 dot"/>
          <p:cNvSpPr/>
          <p:nvPr/>
        </p:nvSpPr>
        <p:spPr>
          <a:xfrm>
            <a:off x="6705600" y="4838700"/>
            <a:ext cx="190500" cy="190500"/>
          </a:xfrm>
          <a:prstGeom prst="ellipse">
            <a:avLst/>
          </a:prstGeom>
          <a:solidFill>
            <a:srgbClr val="000000"/>
          </a:solidFill>
          <a:ln w="12700">
            <a:solidFill>
              <a:srgbClr val="000000">
                <a:alpha val="0"/>
              </a:srgbClr>
            </a:solidFill>
            <a:prstDash val="solid"/>
          </a:ln>
        </p:spPr>
      </p:sp>
      <p:sp>
        <p:nvSpPr>
          <p:cNvPr id="19" name="Note 2 number"/>
          <p:cNvSpPr txBox="1"/>
          <p:nvPr/>
        </p:nvSpPr>
        <p:spPr>
          <a:xfrm>
            <a:off x="6705600" y="4857750"/>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20" name="Text 17"/>
          <p:cNvSpPr txBox="1"/>
          <p:nvPr/>
        </p:nvSpPr>
        <p:spPr>
          <a:xfrm>
            <a:off x="7029450" y="4829175"/>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Account attached</a:t>
            </a:r>
            <a:endParaRPr lang="en-US" sz="1125" dirty="0"/>
          </a:p>
        </p:txBody>
      </p:sp>
      <p:sp>
        <p:nvSpPr>
          <p:cNvPr id="21" name="Text 18"/>
          <p:cNvSpPr txBox="1"/>
          <p:nvPr/>
        </p:nvSpPr>
        <p:spPr>
          <a:xfrm>
            <a:off x="7029450" y="5048250"/>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The page never says whether the email exists.</a:t>
            </a:r>
            <a:endParaRPr lang="en-US" sz="1050" dirty="0"/>
          </a:p>
        </p:txBody>
      </p:sp>
      <p:sp>
        <p:nvSpPr>
          <p:cNvPr id="22" name="Note 3 dot"/>
          <p:cNvSpPr/>
          <p:nvPr/>
        </p:nvSpPr>
        <p:spPr>
          <a:xfrm>
            <a:off x="6705600" y="5476875"/>
            <a:ext cx="190500" cy="190500"/>
          </a:xfrm>
          <a:prstGeom prst="ellipse">
            <a:avLst/>
          </a:prstGeom>
          <a:solidFill>
            <a:srgbClr val="000000"/>
          </a:solidFill>
          <a:ln w="12700">
            <a:solidFill>
              <a:srgbClr val="000000">
                <a:alpha val="0"/>
              </a:srgbClr>
            </a:solidFill>
            <a:prstDash val="solid"/>
          </a:ln>
        </p:spPr>
      </p:sp>
      <p:sp>
        <p:nvSpPr>
          <p:cNvPr id="23" name="Note 3 number"/>
          <p:cNvSpPr txBox="1"/>
          <p:nvPr/>
        </p:nvSpPr>
        <p:spPr>
          <a:xfrm>
            <a:off x="6705600" y="549592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24" name="Text 21"/>
          <p:cNvSpPr txBox="1"/>
          <p:nvPr/>
        </p:nvSpPr>
        <p:spPr>
          <a:xfrm>
            <a:off x="7029450" y="546735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Reset from the message</a:t>
            </a:r>
            <a:endParaRPr lang="en-US" sz="1125" dirty="0"/>
          </a:p>
        </p:txBody>
      </p:sp>
      <p:sp>
        <p:nvSpPr>
          <p:cNvPr id="25" name="Text 22"/>
          <p:cNvSpPr txBox="1"/>
          <p:nvPr/>
        </p:nvSpPr>
        <p:spPr>
          <a:xfrm>
            <a:off x="7029450" y="568642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The admin sets a temporary password in one click.</a:t>
            </a:r>
            <a:endParaRPr lang="en-US" sz="10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BookVerse replaces both the register and the spreadsheet</a:t>
            </a:r>
            <a:endParaRPr lang="en-US" sz="2550" dirty="0"/>
          </a:p>
        </p:txBody>
      </p:sp>
      <p:sp>
        <p:nvSpPr>
          <p:cNvPr id="3" name="BookVerse column"/>
          <p:cNvSpPr/>
          <p:nvPr/>
        </p:nvSpPr>
        <p:spPr>
          <a:xfrm>
            <a:off x="8801100" y="1428750"/>
            <a:ext cx="2857500" cy="4495800"/>
          </a:xfrm>
          <a:prstGeom prst="roundRect">
            <a:avLst>
              <a:gd name="adj" fmla="val 4000"/>
            </a:avLst>
          </a:prstGeom>
          <a:solidFill>
            <a:srgbClr val="000000"/>
          </a:solidFill>
          <a:ln w="12700">
            <a:solidFill>
              <a:srgbClr val="000000">
                <a:alpha val="0"/>
              </a:srgbClr>
            </a:solidFill>
            <a:prstDash val="solid"/>
          </a:ln>
        </p:spPr>
      </p:sp>
      <p:sp>
        <p:nvSpPr>
          <p:cNvPr id="4" name="Text 2"/>
          <p:cNvSpPr txBox="1"/>
          <p:nvPr/>
        </p:nvSpPr>
        <p:spPr>
          <a:xfrm>
            <a:off x="533400" y="1676400"/>
            <a:ext cx="28575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WHAT YOU NEED</a:t>
            </a:r>
            <a:endParaRPr lang="en-US" sz="900" dirty="0"/>
          </a:p>
        </p:txBody>
      </p:sp>
      <p:sp>
        <p:nvSpPr>
          <p:cNvPr id="5" name="Text 3"/>
          <p:cNvSpPr txBox="1"/>
          <p:nvPr/>
        </p:nvSpPr>
        <p:spPr>
          <a:xfrm>
            <a:off x="4191000" y="1638300"/>
            <a:ext cx="2095500" cy="22860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Paper register</a:t>
            </a:r>
            <a:endParaRPr lang="en-US" sz="1125" dirty="0"/>
          </a:p>
        </p:txBody>
      </p:sp>
      <p:sp>
        <p:nvSpPr>
          <p:cNvPr id="6" name="Text 4"/>
          <p:cNvSpPr txBox="1"/>
          <p:nvPr/>
        </p:nvSpPr>
        <p:spPr>
          <a:xfrm>
            <a:off x="6515100" y="1638300"/>
            <a:ext cx="2095500" cy="22860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Spreadsheet</a:t>
            </a:r>
            <a:endParaRPr lang="en-US" sz="1125" dirty="0"/>
          </a:p>
        </p:txBody>
      </p:sp>
      <p:sp>
        <p:nvSpPr>
          <p:cNvPr id="7" name="Text 5"/>
          <p:cNvSpPr txBox="1"/>
          <p:nvPr/>
        </p:nvSpPr>
        <p:spPr>
          <a:xfrm>
            <a:off x="9029700" y="1638300"/>
            <a:ext cx="2476500" cy="228600"/>
          </a:xfrm>
          <a:prstGeom prst="rect">
            <a:avLst/>
          </a:prstGeom>
          <a:noFill/>
          <a:ln/>
        </p:spPr>
        <p:txBody>
          <a:bodyPr wrap="square" lIns="0" tIns="0" rIns="0" bIns="0" rtlCol="0" anchor="t"/>
          <a:lstStyle/>
          <a:p>
            <a:pPr algn="l" indent="0" marL="0">
              <a:lnSpc>
                <a:spcPts val="1463"/>
              </a:lnSpc>
              <a:buNone/>
            </a:pPr>
            <a:r>
              <a:rPr lang="en-US" sz="1125" b="1" dirty="0">
                <a:solidFill>
                  <a:srgbClr val="FFFFFF"/>
                </a:solidFill>
                <a:latin typeface="Manrope" pitchFamily="34" charset="0"/>
                <a:ea typeface="Manrope" pitchFamily="34" charset="-122"/>
                <a:cs typeface="Manrope" pitchFamily="34" charset="-120"/>
              </a:rPr>
              <a:t>BookVerse</a:t>
            </a:r>
            <a:endParaRPr lang="en-US" sz="1125" dirty="0"/>
          </a:p>
        </p:txBody>
      </p:sp>
      <p:sp>
        <p:nvSpPr>
          <p:cNvPr id="8" name="Shape 6"/>
          <p:cNvSpPr/>
          <p:nvPr/>
        </p:nvSpPr>
        <p:spPr>
          <a:xfrm>
            <a:off x="533400" y="1943100"/>
            <a:ext cx="8077200" cy="9525"/>
          </a:xfrm>
          <a:prstGeom prst="rect">
            <a:avLst/>
          </a:prstGeom>
          <a:solidFill>
            <a:srgbClr val="E2E2E2"/>
          </a:solidFill>
          <a:ln w="12700">
            <a:solidFill>
              <a:srgbClr val="E2E2E2">
                <a:alpha val="0"/>
              </a:srgbClr>
            </a:solidFill>
            <a:prstDash val="solid"/>
          </a:ln>
        </p:spPr>
      </p:sp>
      <p:sp>
        <p:nvSpPr>
          <p:cNvPr id="9" name="Text 7"/>
          <p:cNvSpPr txBox="1"/>
          <p:nvPr/>
        </p:nvSpPr>
        <p:spPr>
          <a:xfrm>
            <a:off x="533400" y="2076450"/>
            <a:ext cx="3429000" cy="228600"/>
          </a:xfrm>
          <a:prstGeom prst="rect">
            <a:avLst/>
          </a:prstGeom>
          <a:noFill/>
          <a:ln/>
        </p:spPr>
        <p:txBody>
          <a:bodyPr wrap="square" lIns="0" tIns="0" rIns="0" bIns="0" rtlCol="0" anchor="t"/>
          <a:lstStyle/>
          <a:p>
            <a:pPr algn="l" indent="0" marL="0">
              <a:lnSpc>
                <a:spcPts val="1560"/>
              </a:lnSpc>
              <a:buNone/>
            </a:pPr>
            <a:r>
              <a:rPr lang="en-US" sz="1200" b="1" dirty="0">
                <a:solidFill>
                  <a:srgbClr val="000000"/>
                </a:solidFill>
                <a:latin typeface="Manrope" pitchFamily="34" charset="0"/>
                <a:ea typeface="Manrope" pitchFamily="34" charset="-122"/>
                <a:cs typeface="Manrope" pitchFamily="34" charset="-120"/>
              </a:rPr>
              <a:t>Recording a loan</a:t>
            </a:r>
            <a:endParaRPr lang="en-US" sz="1200" dirty="0"/>
          </a:p>
        </p:txBody>
      </p:sp>
      <p:sp>
        <p:nvSpPr>
          <p:cNvPr id="10" name="Text 8"/>
          <p:cNvSpPr txBox="1"/>
          <p:nvPr/>
        </p:nvSpPr>
        <p:spPr>
          <a:xfrm>
            <a:off x="4191000" y="207645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Handwritten line</a:t>
            </a:r>
            <a:endParaRPr lang="en-US" sz="1125" dirty="0"/>
          </a:p>
        </p:txBody>
      </p:sp>
      <p:sp>
        <p:nvSpPr>
          <p:cNvPr id="11" name="Text 9"/>
          <p:cNvSpPr txBox="1"/>
          <p:nvPr/>
        </p:nvSpPr>
        <p:spPr>
          <a:xfrm>
            <a:off x="6515100" y="207645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Typed row, no checks</a:t>
            </a:r>
            <a:endParaRPr lang="en-US" sz="1125" dirty="0"/>
          </a:p>
        </p:txBody>
      </p:sp>
      <p:sp>
        <p:nvSpPr>
          <p:cNvPr id="12" name="Text 10"/>
          <p:cNvSpPr txBox="1"/>
          <p:nvPr/>
        </p:nvSpPr>
        <p:spPr>
          <a:xfrm>
            <a:off x="9029700" y="2076450"/>
            <a:ext cx="2476500" cy="228600"/>
          </a:xfrm>
          <a:prstGeom prst="rect">
            <a:avLst/>
          </a:prstGeom>
          <a:noFill/>
          <a:ln/>
        </p:spPr>
        <p:txBody>
          <a:bodyPr wrap="square" lIns="0" tIns="0" rIns="0" bIns="0" rtlCol="0" anchor="t"/>
          <a:lstStyle/>
          <a:p>
            <a:pPr algn="l" indent="0" marL="0">
              <a:lnSpc>
                <a:spcPts val="1463"/>
              </a:lnSpc>
              <a:buNone/>
            </a:pPr>
            <a:r>
              <a:rPr lang="en-US" sz="1125" b="1" dirty="0">
                <a:solidFill>
                  <a:srgbClr val="FFFFFF"/>
                </a:solidFill>
                <a:latin typeface="Manrope" pitchFamily="34" charset="0"/>
                <a:ea typeface="Manrope" pitchFamily="34" charset="-122"/>
                <a:cs typeface="Manrope" pitchFamily="34" charset="-120"/>
              </a:rPr>
              <a:t>One click, rules checked</a:t>
            </a:r>
            <a:endParaRPr lang="en-US" sz="1125" dirty="0"/>
          </a:p>
        </p:txBody>
      </p:sp>
      <p:sp>
        <p:nvSpPr>
          <p:cNvPr id="13" name="Shape 11"/>
          <p:cNvSpPr/>
          <p:nvPr/>
        </p:nvSpPr>
        <p:spPr>
          <a:xfrm>
            <a:off x="533400" y="2533650"/>
            <a:ext cx="8077200" cy="9525"/>
          </a:xfrm>
          <a:prstGeom prst="rect">
            <a:avLst/>
          </a:prstGeom>
          <a:solidFill>
            <a:srgbClr val="E2E2E2"/>
          </a:solidFill>
          <a:ln w="12700">
            <a:solidFill>
              <a:srgbClr val="E2E2E2">
                <a:alpha val="0"/>
              </a:srgbClr>
            </a:solidFill>
            <a:prstDash val="solid"/>
          </a:ln>
        </p:spPr>
      </p:sp>
      <p:sp>
        <p:nvSpPr>
          <p:cNvPr id="14" name="Text 12"/>
          <p:cNvSpPr txBox="1"/>
          <p:nvPr/>
        </p:nvSpPr>
        <p:spPr>
          <a:xfrm>
            <a:off x="533400" y="2667000"/>
            <a:ext cx="3429000" cy="228600"/>
          </a:xfrm>
          <a:prstGeom prst="rect">
            <a:avLst/>
          </a:prstGeom>
          <a:noFill/>
          <a:ln/>
        </p:spPr>
        <p:txBody>
          <a:bodyPr wrap="square" lIns="0" tIns="0" rIns="0" bIns="0" rtlCol="0" anchor="t"/>
          <a:lstStyle/>
          <a:p>
            <a:pPr algn="l" indent="0" marL="0">
              <a:lnSpc>
                <a:spcPts val="1560"/>
              </a:lnSpc>
              <a:buNone/>
            </a:pPr>
            <a:r>
              <a:rPr lang="en-US" sz="1200" b="1" dirty="0">
                <a:solidFill>
                  <a:srgbClr val="000000"/>
                </a:solidFill>
                <a:latin typeface="Manrope" pitchFamily="34" charset="0"/>
                <a:ea typeface="Manrope" pitchFamily="34" charset="-122"/>
                <a:cs typeface="Manrope" pitchFamily="34" charset="-120"/>
              </a:rPr>
              <a:t>Overdue days and fines</a:t>
            </a:r>
            <a:endParaRPr lang="en-US" sz="1200" dirty="0"/>
          </a:p>
        </p:txBody>
      </p:sp>
      <p:sp>
        <p:nvSpPr>
          <p:cNvPr id="15" name="Text 13"/>
          <p:cNvSpPr txBox="1"/>
          <p:nvPr/>
        </p:nvSpPr>
        <p:spPr>
          <a:xfrm>
            <a:off x="4191000" y="266700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Counted by hand</a:t>
            </a:r>
            <a:endParaRPr lang="en-US" sz="1125" dirty="0"/>
          </a:p>
        </p:txBody>
      </p:sp>
      <p:sp>
        <p:nvSpPr>
          <p:cNvPr id="16" name="Text 14"/>
          <p:cNvSpPr txBox="1"/>
          <p:nvPr/>
        </p:nvSpPr>
        <p:spPr>
          <a:xfrm>
            <a:off x="6515100" y="266700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Manual formulas</a:t>
            </a:r>
            <a:endParaRPr lang="en-US" sz="1125" dirty="0"/>
          </a:p>
        </p:txBody>
      </p:sp>
      <p:sp>
        <p:nvSpPr>
          <p:cNvPr id="17" name="Text 15"/>
          <p:cNvSpPr txBox="1"/>
          <p:nvPr/>
        </p:nvSpPr>
        <p:spPr>
          <a:xfrm>
            <a:off x="9029700" y="2667000"/>
            <a:ext cx="2476500" cy="228600"/>
          </a:xfrm>
          <a:prstGeom prst="rect">
            <a:avLst/>
          </a:prstGeom>
          <a:noFill/>
          <a:ln/>
        </p:spPr>
        <p:txBody>
          <a:bodyPr wrap="square" lIns="0" tIns="0" rIns="0" bIns="0" rtlCol="0" anchor="t"/>
          <a:lstStyle/>
          <a:p>
            <a:pPr algn="l" indent="0" marL="0">
              <a:lnSpc>
                <a:spcPts val="1463"/>
              </a:lnSpc>
              <a:buNone/>
            </a:pPr>
            <a:r>
              <a:rPr lang="en-US" sz="1125" b="1" dirty="0">
                <a:solidFill>
                  <a:srgbClr val="FFFFFF"/>
                </a:solidFill>
                <a:latin typeface="Manrope" pitchFamily="34" charset="0"/>
                <a:ea typeface="Manrope" pitchFamily="34" charset="-122"/>
                <a:cs typeface="Manrope" pitchFamily="34" charset="-120"/>
              </a:rPr>
              <a:t>Calculated automatically</a:t>
            </a:r>
            <a:endParaRPr lang="en-US" sz="1125" dirty="0"/>
          </a:p>
        </p:txBody>
      </p:sp>
      <p:sp>
        <p:nvSpPr>
          <p:cNvPr id="18" name="Shape 16"/>
          <p:cNvSpPr/>
          <p:nvPr/>
        </p:nvSpPr>
        <p:spPr>
          <a:xfrm>
            <a:off x="533400" y="3124200"/>
            <a:ext cx="8077200" cy="9525"/>
          </a:xfrm>
          <a:prstGeom prst="rect">
            <a:avLst/>
          </a:prstGeom>
          <a:solidFill>
            <a:srgbClr val="E2E2E2"/>
          </a:solidFill>
          <a:ln w="12700">
            <a:solidFill>
              <a:srgbClr val="E2E2E2">
                <a:alpha val="0"/>
              </a:srgbClr>
            </a:solidFill>
            <a:prstDash val="solid"/>
          </a:ln>
        </p:spPr>
      </p:sp>
      <p:sp>
        <p:nvSpPr>
          <p:cNvPr id="19" name="Text 17"/>
          <p:cNvSpPr txBox="1"/>
          <p:nvPr/>
        </p:nvSpPr>
        <p:spPr>
          <a:xfrm>
            <a:off x="533400" y="3257550"/>
            <a:ext cx="3429000" cy="228600"/>
          </a:xfrm>
          <a:prstGeom prst="rect">
            <a:avLst/>
          </a:prstGeom>
          <a:noFill/>
          <a:ln/>
        </p:spPr>
        <p:txBody>
          <a:bodyPr wrap="square" lIns="0" tIns="0" rIns="0" bIns="0" rtlCol="0" anchor="t"/>
          <a:lstStyle/>
          <a:p>
            <a:pPr algn="l" indent="0" marL="0">
              <a:lnSpc>
                <a:spcPts val="1560"/>
              </a:lnSpc>
              <a:buNone/>
            </a:pPr>
            <a:r>
              <a:rPr lang="en-US" sz="1200" b="1" dirty="0">
                <a:solidFill>
                  <a:srgbClr val="000000"/>
                </a:solidFill>
                <a:latin typeface="Manrope" pitchFamily="34" charset="0"/>
                <a:ea typeface="Manrope" pitchFamily="34" charset="-122"/>
                <a:cs typeface="Manrope" pitchFamily="34" charset="-120"/>
              </a:rPr>
              <a:t>Reservation queue</a:t>
            </a:r>
            <a:endParaRPr lang="en-US" sz="1200" dirty="0"/>
          </a:p>
        </p:txBody>
      </p:sp>
      <p:sp>
        <p:nvSpPr>
          <p:cNvPr id="20" name="Text 18"/>
          <p:cNvSpPr txBox="1"/>
          <p:nvPr/>
        </p:nvSpPr>
        <p:spPr>
          <a:xfrm>
            <a:off x="4191000" y="325755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Not tracked</a:t>
            </a:r>
            <a:endParaRPr lang="en-US" sz="1125" dirty="0"/>
          </a:p>
        </p:txBody>
      </p:sp>
      <p:sp>
        <p:nvSpPr>
          <p:cNvPr id="21" name="Text 19"/>
          <p:cNvSpPr txBox="1"/>
          <p:nvPr/>
        </p:nvSpPr>
        <p:spPr>
          <a:xfrm>
            <a:off x="6515100" y="325755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A separate sheet</a:t>
            </a:r>
            <a:endParaRPr lang="en-US" sz="1125" dirty="0"/>
          </a:p>
        </p:txBody>
      </p:sp>
      <p:sp>
        <p:nvSpPr>
          <p:cNvPr id="22" name="Text 20"/>
          <p:cNvSpPr txBox="1"/>
          <p:nvPr/>
        </p:nvSpPr>
        <p:spPr>
          <a:xfrm>
            <a:off x="9029700" y="3257550"/>
            <a:ext cx="2476500" cy="228600"/>
          </a:xfrm>
          <a:prstGeom prst="rect">
            <a:avLst/>
          </a:prstGeom>
          <a:noFill/>
          <a:ln/>
        </p:spPr>
        <p:txBody>
          <a:bodyPr wrap="square" lIns="0" tIns="0" rIns="0" bIns="0" rtlCol="0" anchor="t"/>
          <a:lstStyle/>
          <a:p>
            <a:pPr algn="l" indent="0" marL="0">
              <a:lnSpc>
                <a:spcPts val="1463"/>
              </a:lnSpc>
              <a:buNone/>
            </a:pPr>
            <a:r>
              <a:rPr lang="en-US" sz="1125" b="1" dirty="0">
                <a:solidFill>
                  <a:srgbClr val="FFFFFF"/>
                </a:solidFill>
                <a:latin typeface="Manrope" pitchFamily="34" charset="0"/>
                <a:ea typeface="Manrope" pitchFamily="34" charset="-122"/>
                <a:cs typeface="Manrope" pitchFamily="34" charset="-120"/>
              </a:rPr>
              <a:t>First asked, first served</a:t>
            </a:r>
            <a:endParaRPr lang="en-US" sz="1125" dirty="0"/>
          </a:p>
        </p:txBody>
      </p:sp>
      <p:sp>
        <p:nvSpPr>
          <p:cNvPr id="23" name="Shape 21"/>
          <p:cNvSpPr/>
          <p:nvPr/>
        </p:nvSpPr>
        <p:spPr>
          <a:xfrm>
            <a:off x="533400" y="3714750"/>
            <a:ext cx="8077200" cy="9525"/>
          </a:xfrm>
          <a:prstGeom prst="rect">
            <a:avLst/>
          </a:prstGeom>
          <a:solidFill>
            <a:srgbClr val="E2E2E2"/>
          </a:solidFill>
          <a:ln w="12700">
            <a:solidFill>
              <a:srgbClr val="E2E2E2">
                <a:alpha val="0"/>
              </a:srgbClr>
            </a:solidFill>
            <a:prstDash val="solid"/>
          </a:ln>
        </p:spPr>
      </p:sp>
      <p:sp>
        <p:nvSpPr>
          <p:cNvPr id="24" name="Text 22"/>
          <p:cNvSpPr txBox="1"/>
          <p:nvPr/>
        </p:nvSpPr>
        <p:spPr>
          <a:xfrm>
            <a:off x="533400" y="3848100"/>
            <a:ext cx="3429000" cy="228600"/>
          </a:xfrm>
          <a:prstGeom prst="rect">
            <a:avLst/>
          </a:prstGeom>
          <a:noFill/>
          <a:ln/>
        </p:spPr>
        <p:txBody>
          <a:bodyPr wrap="square" lIns="0" tIns="0" rIns="0" bIns="0" rtlCol="0" anchor="t"/>
          <a:lstStyle/>
          <a:p>
            <a:pPr algn="l" indent="0" marL="0">
              <a:lnSpc>
                <a:spcPts val="1560"/>
              </a:lnSpc>
              <a:buNone/>
            </a:pPr>
            <a:r>
              <a:rPr lang="en-US" sz="1200" b="1" dirty="0">
                <a:solidFill>
                  <a:srgbClr val="000000"/>
                </a:solidFill>
                <a:latin typeface="Manrope" pitchFamily="34" charset="0"/>
                <a:ea typeface="Manrope" pitchFamily="34" charset="-122"/>
                <a:cs typeface="Manrope" pitchFamily="34" charset="-120"/>
              </a:rPr>
              <a:t>Who can change what</a:t>
            </a:r>
            <a:endParaRPr lang="en-US" sz="1200" dirty="0"/>
          </a:p>
        </p:txBody>
      </p:sp>
      <p:sp>
        <p:nvSpPr>
          <p:cNvPr id="25" name="Text 23"/>
          <p:cNvSpPr txBox="1"/>
          <p:nvPr/>
        </p:nvSpPr>
        <p:spPr>
          <a:xfrm>
            <a:off x="4191000" y="384810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Anyone with the book</a:t>
            </a:r>
            <a:endParaRPr lang="en-US" sz="1125" dirty="0"/>
          </a:p>
        </p:txBody>
      </p:sp>
      <p:sp>
        <p:nvSpPr>
          <p:cNvPr id="26" name="Text 24"/>
          <p:cNvSpPr txBox="1"/>
          <p:nvPr/>
        </p:nvSpPr>
        <p:spPr>
          <a:xfrm>
            <a:off x="6515100" y="384810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Anyone with the file</a:t>
            </a:r>
            <a:endParaRPr lang="en-US" sz="1125" dirty="0"/>
          </a:p>
        </p:txBody>
      </p:sp>
      <p:sp>
        <p:nvSpPr>
          <p:cNvPr id="27" name="Text 25"/>
          <p:cNvSpPr txBox="1"/>
          <p:nvPr/>
        </p:nvSpPr>
        <p:spPr>
          <a:xfrm>
            <a:off x="9029700" y="3848100"/>
            <a:ext cx="2476500" cy="228600"/>
          </a:xfrm>
          <a:prstGeom prst="rect">
            <a:avLst/>
          </a:prstGeom>
          <a:noFill/>
          <a:ln/>
        </p:spPr>
        <p:txBody>
          <a:bodyPr wrap="square" lIns="0" tIns="0" rIns="0" bIns="0" rtlCol="0" anchor="t"/>
          <a:lstStyle/>
          <a:p>
            <a:pPr algn="l" indent="0" marL="0">
              <a:lnSpc>
                <a:spcPts val="1463"/>
              </a:lnSpc>
              <a:buNone/>
            </a:pPr>
            <a:r>
              <a:rPr lang="en-US" sz="1125" b="1" dirty="0">
                <a:solidFill>
                  <a:srgbClr val="FFFFFF"/>
                </a:solidFill>
                <a:latin typeface="Manrope" pitchFamily="34" charset="0"/>
                <a:ea typeface="Manrope" pitchFamily="34" charset="-122"/>
                <a:cs typeface="Manrope" pitchFamily="34" charset="-120"/>
              </a:rPr>
              <a:t>Role-based logins</a:t>
            </a:r>
            <a:endParaRPr lang="en-US" sz="1125" dirty="0"/>
          </a:p>
        </p:txBody>
      </p:sp>
      <p:sp>
        <p:nvSpPr>
          <p:cNvPr id="28" name="Shape 26"/>
          <p:cNvSpPr/>
          <p:nvPr/>
        </p:nvSpPr>
        <p:spPr>
          <a:xfrm>
            <a:off x="533400" y="4305300"/>
            <a:ext cx="8077200" cy="9525"/>
          </a:xfrm>
          <a:prstGeom prst="rect">
            <a:avLst/>
          </a:prstGeom>
          <a:solidFill>
            <a:srgbClr val="E2E2E2"/>
          </a:solidFill>
          <a:ln w="12700">
            <a:solidFill>
              <a:srgbClr val="E2E2E2">
                <a:alpha val="0"/>
              </a:srgbClr>
            </a:solidFill>
            <a:prstDash val="solid"/>
          </a:ln>
        </p:spPr>
      </p:sp>
      <p:sp>
        <p:nvSpPr>
          <p:cNvPr id="29" name="Text 27"/>
          <p:cNvSpPr txBox="1"/>
          <p:nvPr/>
        </p:nvSpPr>
        <p:spPr>
          <a:xfrm>
            <a:off x="533400" y="4438650"/>
            <a:ext cx="3429000" cy="228600"/>
          </a:xfrm>
          <a:prstGeom prst="rect">
            <a:avLst/>
          </a:prstGeom>
          <a:noFill/>
          <a:ln/>
        </p:spPr>
        <p:txBody>
          <a:bodyPr wrap="square" lIns="0" tIns="0" rIns="0" bIns="0" rtlCol="0" anchor="t"/>
          <a:lstStyle/>
          <a:p>
            <a:pPr algn="l" indent="0" marL="0">
              <a:lnSpc>
                <a:spcPts val="1560"/>
              </a:lnSpc>
              <a:buNone/>
            </a:pPr>
            <a:r>
              <a:rPr lang="en-US" sz="1200" b="1" dirty="0">
                <a:solidFill>
                  <a:srgbClr val="000000"/>
                </a:solidFill>
                <a:latin typeface="Manrope" pitchFamily="34" charset="0"/>
                <a:ea typeface="Manrope" pitchFamily="34" charset="-122"/>
                <a:cs typeface="Manrope" pitchFamily="34" charset="-120"/>
              </a:rPr>
              <a:t>Finding a book</a:t>
            </a:r>
            <a:endParaRPr lang="en-US" sz="1200" dirty="0"/>
          </a:p>
        </p:txBody>
      </p:sp>
      <p:sp>
        <p:nvSpPr>
          <p:cNvPr id="30" name="Text 28"/>
          <p:cNvSpPr txBox="1"/>
          <p:nvPr/>
        </p:nvSpPr>
        <p:spPr>
          <a:xfrm>
            <a:off x="4191000" y="443865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Walk the shelves</a:t>
            </a:r>
            <a:endParaRPr lang="en-US" sz="1125" dirty="0"/>
          </a:p>
        </p:txBody>
      </p:sp>
      <p:sp>
        <p:nvSpPr>
          <p:cNvPr id="31" name="Text 29"/>
          <p:cNvSpPr txBox="1"/>
          <p:nvPr/>
        </p:nvSpPr>
        <p:spPr>
          <a:xfrm>
            <a:off x="6515100" y="443865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Search one sheet</a:t>
            </a:r>
            <a:endParaRPr lang="en-US" sz="1125" dirty="0"/>
          </a:p>
        </p:txBody>
      </p:sp>
      <p:sp>
        <p:nvSpPr>
          <p:cNvPr id="32" name="Text 30"/>
          <p:cNvSpPr txBox="1"/>
          <p:nvPr/>
        </p:nvSpPr>
        <p:spPr>
          <a:xfrm>
            <a:off x="9029700" y="4438650"/>
            <a:ext cx="2476500" cy="228600"/>
          </a:xfrm>
          <a:prstGeom prst="rect">
            <a:avLst/>
          </a:prstGeom>
          <a:noFill/>
          <a:ln/>
        </p:spPr>
        <p:txBody>
          <a:bodyPr wrap="square" lIns="0" tIns="0" rIns="0" bIns="0" rtlCol="0" anchor="t"/>
          <a:lstStyle/>
          <a:p>
            <a:pPr algn="l" indent="0" marL="0">
              <a:lnSpc>
                <a:spcPts val="1463"/>
              </a:lnSpc>
              <a:buNone/>
            </a:pPr>
            <a:r>
              <a:rPr lang="en-US" sz="1125" b="1" dirty="0">
                <a:solidFill>
                  <a:srgbClr val="FFFFFF"/>
                </a:solidFill>
                <a:latin typeface="Manrope" pitchFamily="34" charset="0"/>
                <a:ea typeface="Manrope" pitchFamily="34" charset="-122"/>
                <a:cs typeface="Manrope" pitchFamily="34" charset="-120"/>
              </a:rPr>
              <a:t>Search, filters, book page</a:t>
            </a:r>
            <a:endParaRPr lang="en-US" sz="1125" dirty="0"/>
          </a:p>
        </p:txBody>
      </p:sp>
      <p:sp>
        <p:nvSpPr>
          <p:cNvPr id="33" name="Shape 31"/>
          <p:cNvSpPr/>
          <p:nvPr/>
        </p:nvSpPr>
        <p:spPr>
          <a:xfrm>
            <a:off x="533400" y="4895850"/>
            <a:ext cx="8077200" cy="9525"/>
          </a:xfrm>
          <a:prstGeom prst="rect">
            <a:avLst/>
          </a:prstGeom>
          <a:solidFill>
            <a:srgbClr val="E2E2E2"/>
          </a:solidFill>
          <a:ln w="12700">
            <a:solidFill>
              <a:srgbClr val="E2E2E2">
                <a:alpha val="0"/>
              </a:srgbClr>
            </a:solidFill>
            <a:prstDash val="solid"/>
          </a:ln>
        </p:spPr>
      </p:sp>
      <p:sp>
        <p:nvSpPr>
          <p:cNvPr id="34" name="Text 32"/>
          <p:cNvSpPr txBox="1"/>
          <p:nvPr/>
        </p:nvSpPr>
        <p:spPr>
          <a:xfrm>
            <a:off x="533400" y="5029200"/>
            <a:ext cx="3429000" cy="228600"/>
          </a:xfrm>
          <a:prstGeom prst="rect">
            <a:avLst/>
          </a:prstGeom>
          <a:noFill/>
          <a:ln/>
        </p:spPr>
        <p:txBody>
          <a:bodyPr wrap="square" lIns="0" tIns="0" rIns="0" bIns="0" rtlCol="0" anchor="t"/>
          <a:lstStyle/>
          <a:p>
            <a:pPr algn="l" indent="0" marL="0">
              <a:lnSpc>
                <a:spcPts val="1560"/>
              </a:lnSpc>
              <a:buNone/>
            </a:pPr>
            <a:r>
              <a:rPr lang="en-US" sz="1200" b="1" dirty="0">
                <a:solidFill>
                  <a:srgbClr val="000000"/>
                </a:solidFill>
                <a:latin typeface="Manrope" pitchFamily="34" charset="0"/>
                <a:ea typeface="Manrope" pitchFamily="34" charset="-122"/>
                <a:cs typeface="Manrope" pitchFamily="34" charset="-120"/>
              </a:rPr>
              <a:t>On a phone</a:t>
            </a:r>
            <a:endParaRPr lang="en-US" sz="1200" dirty="0"/>
          </a:p>
        </p:txBody>
      </p:sp>
      <p:sp>
        <p:nvSpPr>
          <p:cNvPr id="35" name="Text 33"/>
          <p:cNvSpPr txBox="1"/>
          <p:nvPr/>
        </p:nvSpPr>
        <p:spPr>
          <a:xfrm>
            <a:off x="4191000" y="502920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No</a:t>
            </a:r>
            <a:endParaRPr lang="en-US" sz="1125" dirty="0"/>
          </a:p>
        </p:txBody>
      </p:sp>
      <p:sp>
        <p:nvSpPr>
          <p:cNvPr id="36" name="Text 34"/>
          <p:cNvSpPr txBox="1"/>
          <p:nvPr/>
        </p:nvSpPr>
        <p:spPr>
          <a:xfrm>
            <a:off x="6515100" y="5029200"/>
            <a:ext cx="2095500" cy="228600"/>
          </a:xfrm>
          <a:prstGeom prst="rect">
            <a:avLst/>
          </a:prstGeom>
          <a:noFill/>
          <a:ln/>
        </p:spPr>
        <p:txBody>
          <a:bodyPr wrap="square" lIns="0" tIns="0" rIns="0" bIns="0" rtlCol="0" anchor="t"/>
          <a:lstStyle/>
          <a:p>
            <a:pPr algn="l" indent="0" marL="0">
              <a:lnSpc>
                <a:spcPts val="1463"/>
              </a:lnSpc>
              <a:buNone/>
            </a:pPr>
            <a:r>
              <a:rPr lang="en-US" sz="1125" dirty="0">
                <a:solidFill>
                  <a:srgbClr val="545454"/>
                </a:solidFill>
                <a:latin typeface="Manrope" pitchFamily="34" charset="0"/>
                <a:ea typeface="Manrope" pitchFamily="34" charset="-122"/>
                <a:cs typeface="Manrope" pitchFamily="34" charset="-120"/>
              </a:rPr>
              <a:t>Hard to use</a:t>
            </a:r>
            <a:endParaRPr lang="en-US" sz="1125" dirty="0"/>
          </a:p>
        </p:txBody>
      </p:sp>
      <p:sp>
        <p:nvSpPr>
          <p:cNvPr id="37" name="Text 35"/>
          <p:cNvSpPr txBox="1"/>
          <p:nvPr/>
        </p:nvSpPr>
        <p:spPr>
          <a:xfrm>
            <a:off x="9029700" y="5029200"/>
            <a:ext cx="2476500" cy="228600"/>
          </a:xfrm>
          <a:prstGeom prst="rect">
            <a:avLst/>
          </a:prstGeom>
          <a:noFill/>
          <a:ln/>
        </p:spPr>
        <p:txBody>
          <a:bodyPr wrap="square" lIns="0" tIns="0" rIns="0" bIns="0" rtlCol="0" anchor="t"/>
          <a:lstStyle/>
          <a:p>
            <a:pPr algn="l" indent="0" marL="0">
              <a:lnSpc>
                <a:spcPts val="1463"/>
              </a:lnSpc>
              <a:buNone/>
            </a:pPr>
            <a:r>
              <a:rPr lang="en-US" sz="1125" b="1" dirty="0">
                <a:solidFill>
                  <a:srgbClr val="FFFFFF"/>
                </a:solidFill>
                <a:latin typeface="Manrope" pitchFamily="34" charset="0"/>
                <a:ea typeface="Manrope" pitchFamily="34" charset="-122"/>
                <a:cs typeface="Manrope" pitchFamily="34" charset="-120"/>
              </a:rPr>
              <a:t>Works down to 400 px</a:t>
            </a:r>
            <a:endParaRPr lang="en-US" sz="1125"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On a phone, the navbar folds into one menu button</a:t>
            </a:r>
            <a:endParaRPr lang="en-US" sz="2550" dirty="0"/>
          </a:p>
        </p:txBody>
      </p:sp>
      <p:sp>
        <p:nvSpPr>
          <p:cNvPr id="3" name="Code panel"/>
          <p:cNvSpPr/>
          <p:nvPr/>
        </p:nvSpPr>
        <p:spPr>
          <a:xfrm>
            <a:off x="533400" y="1428750"/>
            <a:ext cx="5905500" cy="4305300"/>
          </a:xfrm>
          <a:prstGeom prst="roundRect">
            <a:avLst>
              <a:gd name="adj" fmla="val 2655"/>
            </a:avLst>
          </a:prstGeom>
          <a:solidFill>
            <a:srgbClr val="F6F6F6"/>
          </a:solidFill>
          <a:ln w="12700">
            <a:solidFill>
              <a:srgbClr val="F6F6F6">
                <a:alpha val="0"/>
              </a:srgbClr>
            </a:solidFill>
            <a:prstDash val="solid"/>
          </a:ln>
        </p:spPr>
      </p:sp>
      <p:sp>
        <p:nvSpPr>
          <p:cNvPr id="4" name="Code file"/>
          <p:cNvSpPr txBox="1"/>
          <p:nvPr/>
        </p:nvSpPr>
        <p:spPr>
          <a:xfrm>
            <a:off x="723900" y="1562100"/>
            <a:ext cx="5524500" cy="171450"/>
          </a:xfrm>
          <a:prstGeom prst="rect">
            <a:avLst/>
          </a:prstGeom>
          <a:noFill/>
          <a:ln/>
        </p:spPr>
        <p:txBody>
          <a:bodyPr wrap="square" lIns="0" tIns="0" rIns="0" bIns="0" rtlCol="0" anchor="t"/>
          <a:lstStyle/>
          <a:p>
            <a:pPr algn="l" indent="0" marL="0">
              <a:lnSpc>
                <a:spcPts val="1215"/>
              </a:lnSpc>
              <a:buNone/>
            </a:pPr>
            <a:r>
              <a:rPr lang="en-US" sz="900" b="1" dirty="0">
                <a:solidFill>
                  <a:srgbClr val="757575"/>
                </a:solidFill>
                <a:latin typeface="Manrope" pitchFamily="34" charset="0"/>
                <a:ea typeface="Manrope" pitchFamily="34" charset="-122"/>
                <a:cs typeface="Manrope" pitchFamily="34" charset="-120"/>
              </a:rPr>
              <a:t>useMobileMenu.js  ·  RoleLayout.jsx  ·  student-common.css</a:t>
            </a:r>
            <a:endParaRPr lang="en-US" sz="900" dirty="0"/>
          </a:p>
        </p:txBody>
      </p:sp>
      <p:sp>
        <p:nvSpPr>
          <p:cNvPr id="5" name="Code"/>
          <p:cNvSpPr txBox="1"/>
          <p:nvPr/>
        </p:nvSpPr>
        <p:spPr>
          <a:xfrm>
            <a:off x="952500" y="1828800"/>
            <a:ext cx="5295900" cy="3771900"/>
          </a:xfrm>
          <a:prstGeom prst="rect">
            <a:avLst/>
          </a:prstGeom>
          <a:noFill/>
          <a:ln/>
        </p:spPr>
        <p:txBody>
          <a:bodyPr wrap="none" lIns="0" tIns="0" rIns="0" bIns="0" rtlCol="0" anchor="t"/>
          <a:lstStyle/>
          <a:p>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export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default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function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useMobileMenu</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useState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false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const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pathname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useLocation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useEffect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false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pathname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b="1" dirty="0">
                <a:solidFill>
                  <a:srgbClr val="000000"/>
                </a:solidFill>
                <a:latin typeface="Courier New" pitchFamily="34" charset="0"/>
                <a:ea typeface="Courier New" pitchFamily="34" charset="-122"/>
                <a:cs typeface="Courier New" pitchFamily="34" charset="-120"/>
              </a:rPr>
              <a:t>return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activeClass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 active'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toggle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setOpen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value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value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div</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className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545454"/>
                </a:solidFill>
                <a:latin typeface="Courier New" pitchFamily="34" charset="0"/>
                <a:ea typeface="Courier New" pitchFamily="34" charset="-122"/>
                <a:cs typeface="Courier New" pitchFamily="34" charset="-120"/>
              </a:rPr>
              <a:t>`nav-links${menu.activeClass}`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MenuToggle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menu</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open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onToggle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menu</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toggle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&gt;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media</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max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width</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7</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0</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0</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px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nav</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links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nav</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actions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display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none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menu</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toggle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display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block</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nav</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links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active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nav</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actions</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active</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display</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flex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flex</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direction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column</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a:p>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  </a:t>
            </a:r>
            <a:pPr indent="0" marL="0">
              <a:lnSpc>
                <a:spcPts val="1275"/>
              </a:lnSpc>
              <a:buNone/>
            </a:pPr>
            <a:r>
              <a:rPr lang="en-US" sz="900" dirty="0">
                <a:solidFill>
                  <a:srgbClr val="000000"/>
                </a:solidFill>
                <a:latin typeface="Courier New" pitchFamily="34" charset="0"/>
                <a:ea typeface="Courier New" pitchFamily="34" charset="-122"/>
                <a:cs typeface="Courier New" pitchFamily="34" charset="-120"/>
              </a:rPr>
              <a:t>}</a:t>
            </a:r>
            <a:endParaRPr lang="en-US" sz="900" dirty="0"/>
          </a:p>
        </p:txBody>
      </p:sp>
      <p:sp>
        <p:nvSpPr>
          <p:cNvPr id="6" name="Code mark 1"/>
          <p:cNvSpPr/>
          <p:nvPr/>
        </p:nvSpPr>
        <p:spPr>
          <a:xfrm>
            <a:off x="666750" y="2300288"/>
            <a:ext cx="190500" cy="190500"/>
          </a:xfrm>
          <a:prstGeom prst="ellipse">
            <a:avLst/>
          </a:prstGeom>
          <a:solidFill>
            <a:srgbClr val="000000"/>
          </a:solidFill>
          <a:ln w="12700">
            <a:solidFill>
              <a:srgbClr val="000000"/>
            </a:solidFill>
            <a:prstDash val="solid"/>
          </a:ln>
        </p:spPr>
      </p:sp>
      <p:sp>
        <p:nvSpPr>
          <p:cNvPr id="7" name="Text 5"/>
          <p:cNvSpPr txBox="1"/>
          <p:nvPr/>
        </p:nvSpPr>
        <p:spPr>
          <a:xfrm>
            <a:off x="666750" y="2300288"/>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8" name="Code mark 2"/>
          <p:cNvSpPr/>
          <p:nvPr/>
        </p:nvSpPr>
        <p:spPr>
          <a:xfrm>
            <a:off x="666750" y="2786063"/>
            <a:ext cx="190500" cy="190500"/>
          </a:xfrm>
          <a:prstGeom prst="ellipse">
            <a:avLst/>
          </a:prstGeom>
          <a:solidFill>
            <a:srgbClr val="000000"/>
          </a:solidFill>
          <a:ln w="12700">
            <a:solidFill>
              <a:srgbClr val="000000"/>
            </a:solidFill>
            <a:prstDash val="solid"/>
          </a:ln>
        </p:spPr>
      </p:sp>
      <p:sp>
        <p:nvSpPr>
          <p:cNvPr id="9" name="Text 7"/>
          <p:cNvSpPr txBox="1"/>
          <p:nvPr/>
        </p:nvSpPr>
        <p:spPr>
          <a:xfrm>
            <a:off x="666750" y="2786063"/>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10" name="Code mark 3"/>
          <p:cNvSpPr/>
          <p:nvPr/>
        </p:nvSpPr>
        <p:spPr>
          <a:xfrm>
            <a:off x="666750" y="3919537"/>
            <a:ext cx="190500" cy="190500"/>
          </a:xfrm>
          <a:prstGeom prst="ellipse">
            <a:avLst/>
          </a:prstGeom>
          <a:solidFill>
            <a:srgbClr val="000000"/>
          </a:solidFill>
          <a:ln w="12700">
            <a:solidFill>
              <a:srgbClr val="000000"/>
            </a:solidFill>
            <a:prstDash val="solid"/>
          </a:ln>
        </p:spPr>
      </p:sp>
      <p:sp>
        <p:nvSpPr>
          <p:cNvPr id="11" name="Text 9"/>
          <p:cNvSpPr txBox="1"/>
          <p:nvPr/>
        </p:nvSpPr>
        <p:spPr>
          <a:xfrm>
            <a:off x="666750" y="3919537"/>
            <a:ext cx="190500" cy="190500"/>
          </a:xfrm>
          <a:prstGeom prst="rect">
            <a:avLst/>
          </a:prstGeom>
          <a:noFill/>
          <a:ln/>
        </p:spPr>
        <p:txBody>
          <a:bodyPr wrap="square" lIns="0" tIns="0" rIns="0" bIns="0" rtlCol="0" anchor="ctr"/>
          <a:lstStyle/>
          <a:p>
            <a:pPr algn="ctr" indent="0" marL="0">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12" name="Screenshot frame"/>
          <p:cNvSpPr/>
          <p:nvPr/>
        </p:nvSpPr>
        <p:spPr>
          <a:xfrm>
            <a:off x="6705600" y="1428750"/>
            <a:ext cx="2381250" cy="2857500"/>
          </a:xfrm>
          <a:prstGeom prst="roundRect">
            <a:avLst>
              <a:gd name="adj" fmla="val 4800"/>
            </a:avLst>
          </a:prstGeom>
          <a:solidFill>
            <a:srgbClr val="F6F6F6"/>
          </a:solidFill>
          <a:ln w="12700">
            <a:solidFill>
              <a:srgbClr val="F6F6F6">
                <a:alpha val="0"/>
              </a:srgbClr>
            </a:solidFill>
            <a:prstDash val="solid"/>
          </a:ln>
        </p:spPr>
      </p:sp>
      <p:pic>
        <p:nvPicPr>
          <p:cNvPr id="13" name="Screenshot m-closed.png" descr="Screenshot m-closed.png">    </p:cNvPr>
          <p:cNvPicPr>
            <a:picLocks noChangeAspect="1"/>
          </p:cNvPicPr>
          <p:nvPr/>
        </p:nvPicPr>
        <p:blipFill>
          <a:blip r:embed="rId1"/>
          <a:stretch>
            <a:fillRect/>
          </a:stretch>
        </p:blipFill>
        <p:spPr>
          <a:xfrm>
            <a:off x="6800850" y="1600200"/>
            <a:ext cx="2190750" cy="2524125"/>
          </a:xfrm>
          <a:prstGeom prst="rect">
            <a:avLst/>
          </a:prstGeom>
        </p:spPr>
      </p:pic>
      <p:sp>
        <p:nvSpPr>
          <p:cNvPr id="14" name="Screenshot frame"/>
          <p:cNvSpPr/>
          <p:nvPr/>
        </p:nvSpPr>
        <p:spPr>
          <a:xfrm>
            <a:off x="9277350" y="1428750"/>
            <a:ext cx="2381250" cy="2857500"/>
          </a:xfrm>
          <a:prstGeom prst="roundRect">
            <a:avLst>
              <a:gd name="adj" fmla="val 4800"/>
            </a:avLst>
          </a:prstGeom>
          <a:solidFill>
            <a:srgbClr val="F6F6F6"/>
          </a:solidFill>
          <a:ln w="12700">
            <a:solidFill>
              <a:srgbClr val="F6F6F6">
                <a:alpha val="0"/>
              </a:srgbClr>
            </a:solidFill>
            <a:prstDash val="solid"/>
          </a:ln>
        </p:spPr>
      </p:sp>
      <p:pic>
        <p:nvPicPr>
          <p:cNvPr id="15" name="Screenshot m-open.png" descr="Screenshot m-open.png">    </p:cNvPr>
          <p:cNvPicPr>
            <a:picLocks noChangeAspect="1"/>
          </p:cNvPicPr>
          <p:nvPr/>
        </p:nvPicPr>
        <p:blipFill>
          <a:blip r:embed="rId2"/>
          <a:stretch>
            <a:fillRect/>
          </a:stretch>
        </p:blipFill>
        <p:spPr>
          <a:xfrm>
            <a:off x="9372600" y="1600200"/>
            <a:ext cx="2190750" cy="2524125"/>
          </a:xfrm>
          <a:prstGeom prst="rect">
            <a:avLst/>
          </a:prstGeom>
        </p:spPr>
      </p:pic>
      <p:sp>
        <p:nvSpPr>
          <p:cNvPr id="16" name="Note 1 dot"/>
          <p:cNvSpPr/>
          <p:nvPr/>
        </p:nvSpPr>
        <p:spPr>
          <a:xfrm>
            <a:off x="6705600" y="4486275"/>
            <a:ext cx="190500" cy="190500"/>
          </a:xfrm>
          <a:prstGeom prst="ellipse">
            <a:avLst/>
          </a:prstGeom>
          <a:solidFill>
            <a:srgbClr val="000000"/>
          </a:solidFill>
          <a:ln w="12700">
            <a:solidFill>
              <a:srgbClr val="000000">
                <a:alpha val="0"/>
              </a:srgbClr>
            </a:solidFill>
            <a:prstDash val="solid"/>
          </a:ln>
        </p:spPr>
      </p:sp>
      <p:sp>
        <p:nvSpPr>
          <p:cNvPr id="17" name="Note 1 number"/>
          <p:cNvSpPr txBox="1"/>
          <p:nvPr/>
        </p:nvSpPr>
        <p:spPr>
          <a:xfrm>
            <a:off x="6705600" y="450532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1</a:t>
            </a:r>
            <a:endParaRPr lang="en-US" sz="825" dirty="0"/>
          </a:p>
        </p:txBody>
      </p:sp>
      <p:sp>
        <p:nvSpPr>
          <p:cNvPr id="18" name="Text 14"/>
          <p:cNvSpPr txBox="1"/>
          <p:nvPr/>
        </p:nvSpPr>
        <p:spPr>
          <a:xfrm>
            <a:off x="7029450" y="447675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Closes on its own</a:t>
            </a:r>
            <a:endParaRPr lang="en-US" sz="1125" dirty="0"/>
          </a:p>
        </p:txBody>
      </p:sp>
      <p:sp>
        <p:nvSpPr>
          <p:cNvPr id="19" name="Text 15"/>
          <p:cNvSpPr txBox="1"/>
          <p:nvPr/>
        </p:nvSpPr>
        <p:spPr>
          <a:xfrm>
            <a:off x="7029450" y="469582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Opening another page sets the menu back to closed.</a:t>
            </a:r>
            <a:endParaRPr lang="en-US" sz="1050" dirty="0"/>
          </a:p>
        </p:txBody>
      </p:sp>
      <p:sp>
        <p:nvSpPr>
          <p:cNvPr id="20" name="Note 2 dot"/>
          <p:cNvSpPr/>
          <p:nvPr/>
        </p:nvSpPr>
        <p:spPr>
          <a:xfrm>
            <a:off x="6705600" y="5086350"/>
            <a:ext cx="190500" cy="190500"/>
          </a:xfrm>
          <a:prstGeom prst="ellipse">
            <a:avLst/>
          </a:prstGeom>
          <a:solidFill>
            <a:srgbClr val="000000"/>
          </a:solidFill>
          <a:ln w="12700">
            <a:solidFill>
              <a:srgbClr val="000000">
                <a:alpha val="0"/>
              </a:srgbClr>
            </a:solidFill>
            <a:prstDash val="solid"/>
          </a:ln>
        </p:spPr>
      </p:sp>
      <p:sp>
        <p:nvSpPr>
          <p:cNvPr id="21" name="Note 2 number"/>
          <p:cNvSpPr txBox="1"/>
          <p:nvPr/>
        </p:nvSpPr>
        <p:spPr>
          <a:xfrm>
            <a:off x="6705600" y="5105400"/>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2</a:t>
            </a:r>
            <a:endParaRPr lang="en-US" sz="825" dirty="0"/>
          </a:p>
        </p:txBody>
      </p:sp>
      <p:sp>
        <p:nvSpPr>
          <p:cNvPr id="22" name="Text 18"/>
          <p:cNvSpPr txBox="1"/>
          <p:nvPr/>
        </p:nvSpPr>
        <p:spPr>
          <a:xfrm>
            <a:off x="7029450" y="5076825"/>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One class does the switch</a:t>
            </a:r>
            <a:endParaRPr lang="en-US" sz="1125" dirty="0"/>
          </a:p>
        </p:txBody>
      </p:sp>
      <p:sp>
        <p:nvSpPr>
          <p:cNvPr id="23" name="Text 19"/>
          <p:cNvSpPr txBox="1"/>
          <p:nvPr/>
        </p:nvSpPr>
        <p:spPr>
          <a:xfrm>
            <a:off x="7029450" y="5295900"/>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The hook adds “active” to the links; the menu button toggles it.</a:t>
            </a:r>
            <a:endParaRPr lang="en-US" sz="1050" dirty="0"/>
          </a:p>
        </p:txBody>
      </p:sp>
      <p:sp>
        <p:nvSpPr>
          <p:cNvPr id="24" name="Note 3 dot"/>
          <p:cNvSpPr/>
          <p:nvPr/>
        </p:nvSpPr>
        <p:spPr>
          <a:xfrm>
            <a:off x="6705600" y="5686425"/>
            <a:ext cx="190500" cy="190500"/>
          </a:xfrm>
          <a:prstGeom prst="ellipse">
            <a:avLst/>
          </a:prstGeom>
          <a:solidFill>
            <a:srgbClr val="000000"/>
          </a:solidFill>
          <a:ln w="12700">
            <a:solidFill>
              <a:srgbClr val="000000">
                <a:alpha val="0"/>
              </a:srgbClr>
            </a:solidFill>
            <a:prstDash val="solid"/>
          </a:ln>
        </p:spPr>
      </p:sp>
      <p:sp>
        <p:nvSpPr>
          <p:cNvPr id="25" name="Note 3 number"/>
          <p:cNvSpPr txBox="1"/>
          <p:nvPr/>
        </p:nvSpPr>
        <p:spPr>
          <a:xfrm>
            <a:off x="6705600" y="5705475"/>
            <a:ext cx="190500" cy="152400"/>
          </a:xfrm>
          <a:prstGeom prst="rect">
            <a:avLst/>
          </a:prstGeom>
          <a:noFill/>
          <a:ln/>
        </p:spPr>
        <p:txBody>
          <a:bodyPr wrap="square" lIns="0" tIns="0" rIns="0" bIns="0" rtlCol="0" anchor="t"/>
          <a:lstStyle/>
          <a:p>
            <a:pPr algn="ctr" indent="0" marL="0">
              <a:lnSpc>
                <a:spcPts val="990"/>
              </a:lnSpc>
              <a:buNone/>
            </a:pPr>
            <a:r>
              <a:rPr lang="en-US" sz="825" b="1" dirty="0">
                <a:solidFill>
                  <a:srgbClr val="FFFFFF"/>
                </a:solidFill>
                <a:latin typeface="Manrope" pitchFamily="34" charset="0"/>
                <a:ea typeface="Manrope" pitchFamily="34" charset="-122"/>
                <a:cs typeface="Manrope" pitchFamily="34" charset="-120"/>
              </a:rPr>
              <a:t>3</a:t>
            </a:r>
            <a:endParaRPr lang="en-US" sz="825" dirty="0"/>
          </a:p>
        </p:txBody>
      </p:sp>
      <p:sp>
        <p:nvSpPr>
          <p:cNvPr id="26" name="Text 22"/>
          <p:cNvSpPr txBox="1"/>
          <p:nvPr/>
        </p:nvSpPr>
        <p:spPr>
          <a:xfrm>
            <a:off x="7029450" y="5676900"/>
            <a:ext cx="4629150" cy="209550"/>
          </a:xfrm>
          <a:prstGeom prst="rect">
            <a:avLst/>
          </a:prstGeom>
          <a:noFill/>
          <a:ln/>
        </p:spPr>
        <p:txBody>
          <a:bodyPr wrap="square" lIns="0" tIns="0" rIns="0" bIns="0" rtlCol="0" anchor="t"/>
          <a:lstStyle/>
          <a:p>
            <a:pPr algn="l" indent="0" marL="0">
              <a:lnSpc>
                <a:spcPts val="1463"/>
              </a:lnSpc>
              <a:buNone/>
            </a:pPr>
            <a:r>
              <a:rPr lang="en-US" sz="1125" b="1" dirty="0">
                <a:solidFill>
                  <a:srgbClr val="000000"/>
                </a:solidFill>
                <a:latin typeface="Manrope" pitchFamily="34" charset="0"/>
                <a:ea typeface="Manrope" pitchFamily="34" charset="-122"/>
                <a:cs typeface="Manrope" pitchFamily="34" charset="-120"/>
              </a:rPr>
              <a:t>CSS does the layout</a:t>
            </a:r>
            <a:endParaRPr lang="en-US" sz="1125" dirty="0"/>
          </a:p>
        </p:txBody>
      </p:sp>
      <p:sp>
        <p:nvSpPr>
          <p:cNvPr id="27" name="Text 23"/>
          <p:cNvSpPr txBox="1"/>
          <p:nvPr/>
        </p:nvSpPr>
        <p:spPr>
          <a:xfrm>
            <a:off x="7029450" y="5895975"/>
            <a:ext cx="4629150" cy="3810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Under 700 px the links hide; .active stacks them in a column.</a:t>
            </a:r>
            <a:endParaRPr lang="en-US" sz="105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33400" y="419100"/>
            <a:ext cx="9525000" cy="876300"/>
          </a:xfrm>
          <a:prstGeom prst="rect">
            <a:avLst/>
          </a:prstGeom>
          <a:noFill/>
          <a:ln/>
        </p:spPr>
        <p:txBody>
          <a:bodyPr wrap="square" lIns="0" tIns="0" rIns="0" bIns="0" rtlCol="0" anchor="t"/>
          <a:lstStyle/>
          <a:p>
            <a:pPr algn="l" indent="0" marL="0">
              <a:lnSpc>
                <a:spcPts val="2932"/>
              </a:lnSpc>
              <a:buNone/>
            </a:pPr>
            <a:r>
              <a:rPr lang="en-US" sz="2550" b="1" spc="-51" kern="0" dirty="0">
                <a:solidFill>
                  <a:srgbClr val="000000"/>
                </a:solidFill>
                <a:latin typeface="Manrope" pitchFamily="34" charset="0"/>
                <a:ea typeface="Manrope" pitchFamily="34" charset="-122"/>
                <a:cs typeface="Manrope" pitchFamily="34" charset="-120"/>
              </a:rPr>
              <a:t>BookVerse turns the library desk into one simple app</a:t>
            </a:r>
            <a:endParaRPr lang="en-US" sz="2550" dirty="0"/>
          </a:p>
        </p:txBody>
      </p:sp>
      <p:sp>
        <p:nvSpPr>
          <p:cNvPr id="3" name="Text 1"/>
          <p:cNvSpPr txBox="1"/>
          <p:nvPr/>
        </p:nvSpPr>
        <p:spPr>
          <a:xfrm>
            <a:off x="533400" y="1524000"/>
            <a:ext cx="666750" cy="419100"/>
          </a:xfrm>
          <a:prstGeom prst="rect">
            <a:avLst/>
          </a:prstGeom>
          <a:noFill/>
          <a:ln/>
        </p:spPr>
        <p:txBody>
          <a:bodyPr wrap="square" lIns="0" tIns="0" rIns="0" bIns="0" rtlCol="0" anchor="t"/>
          <a:lstStyle/>
          <a:p>
            <a:pPr algn="l" indent="0" marL="0">
              <a:lnSpc>
                <a:spcPts val="2880"/>
              </a:lnSpc>
              <a:buNone/>
            </a:pPr>
            <a:r>
              <a:rPr lang="en-US" sz="2400" b="1" spc="-48" kern="0" dirty="0">
                <a:solidFill>
                  <a:srgbClr val="000000"/>
                </a:solidFill>
                <a:latin typeface="Manrope" pitchFamily="34" charset="0"/>
                <a:ea typeface="Manrope" pitchFamily="34" charset="-122"/>
                <a:cs typeface="Manrope" pitchFamily="34" charset="-120"/>
              </a:rPr>
              <a:t>01</a:t>
            </a:r>
            <a:endParaRPr lang="en-US" sz="2400" dirty="0"/>
          </a:p>
        </p:txBody>
      </p:sp>
      <p:sp>
        <p:nvSpPr>
          <p:cNvPr id="4" name="Text 2"/>
          <p:cNvSpPr txBox="1"/>
          <p:nvPr/>
        </p:nvSpPr>
        <p:spPr>
          <a:xfrm>
            <a:off x="1295400" y="1543050"/>
            <a:ext cx="447675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One place for everything</a:t>
            </a:r>
            <a:endParaRPr lang="en-US" sz="1500" dirty="0"/>
          </a:p>
        </p:txBody>
      </p:sp>
      <p:sp>
        <p:nvSpPr>
          <p:cNvPr id="5" name="Text 3"/>
          <p:cNvSpPr txBox="1"/>
          <p:nvPr/>
        </p:nvSpPr>
        <p:spPr>
          <a:xfrm>
            <a:off x="1295400" y="1847850"/>
            <a:ext cx="4476750" cy="419100"/>
          </a:xfrm>
          <a:prstGeom prst="rect">
            <a:avLst/>
          </a:prstGeom>
          <a:noFill/>
          <a:ln/>
        </p:spPr>
        <p:txBody>
          <a:bodyPr wrap="square" lIns="0" tIns="0" rIns="0" bIns="0" rtlCol="0" anchor="t"/>
          <a:lstStyle/>
          <a:p>
            <a:pPr algn="l" indent="0" marL="0">
              <a:lnSpc>
                <a:spcPts val="1575"/>
              </a:lnSpc>
              <a:buNone/>
            </a:pPr>
            <a:r>
              <a:rPr lang="en-US" sz="1125" dirty="0">
                <a:solidFill>
                  <a:srgbClr val="545454"/>
                </a:solidFill>
                <a:latin typeface="Manrope" pitchFamily="34" charset="0"/>
                <a:ea typeface="Manrope" pitchFamily="34" charset="-122"/>
                <a:cs typeface="Manrope" pitchFamily="34" charset="-120"/>
              </a:rPr>
              <a:t>Catalog, members, loans, holds, fines and messages share one set of data.</a:t>
            </a:r>
            <a:endParaRPr lang="en-US" sz="1125" dirty="0"/>
          </a:p>
        </p:txBody>
      </p:sp>
      <p:sp>
        <p:nvSpPr>
          <p:cNvPr id="6" name="Text 4"/>
          <p:cNvSpPr txBox="1"/>
          <p:nvPr/>
        </p:nvSpPr>
        <p:spPr>
          <a:xfrm>
            <a:off x="533400" y="2590800"/>
            <a:ext cx="666750" cy="419100"/>
          </a:xfrm>
          <a:prstGeom prst="rect">
            <a:avLst/>
          </a:prstGeom>
          <a:noFill/>
          <a:ln/>
        </p:spPr>
        <p:txBody>
          <a:bodyPr wrap="square" lIns="0" tIns="0" rIns="0" bIns="0" rtlCol="0" anchor="t"/>
          <a:lstStyle/>
          <a:p>
            <a:pPr algn="l" indent="0" marL="0">
              <a:lnSpc>
                <a:spcPts val="2880"/>
              </a:lnSpc>
              <a:buNone/>
            </a:pPr>
            <a:r>
              <a:rPr lang="en-US" sz="2400" b="1" spc="-48" kern="0" dirty="0">
                <a:solidFill>
                  <a:srgbClr val="000000"/>
                </a:solidFill>
                <a:latin typeface="Manrope" pitchFamily="34" charset="0"/>
                <a:ea typeface="Manrope" pitchFamily="34" charset="-122"/>
                <a:cs typeface="Manrope" pitchFamily="34" charset="-120"/>
              </a:rPr>
              <a:t>02</a:t>
            </a:r>
            <a:endParaRPr lang="en-US" sz="2400" dirty="0"/>
          </a:p>
        </p:txBody>
      </p:sp>
      <p:sp>
        <p:nvSpPr>
          <p:cNvPr id="7" name="Text 5"/>
          <p:cNvSpPr txBox="1"/>
          <p:nvPr/>
        </p:nvSpPr>
        <p:spPr>
          <a:xfrm>
            <a:off x="1295400" y="2609850"/>
            <a:ext cx="447675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Rules, not reminders</a:t>
            </a:r>
            <a:endParaRPr lang="en-US" sz="1500" dirty="0"/>
          </a:p>
        </p:txBody>
      </p:sp>
      <p:sp>
        <p:nvSpPr>
          <p:cNvPr id="8" name="Text 6"/>
          <p:cNvSpPr txBox="1"/>
          <p:nvPr/>
        </p:nvSpPr>
        <p:spPr>
          <a:xfrm>
            <a:off x="1295400" y="2914650"/>
            <a:ext cx="4476750" cy="419100"/>
          </a:xfrm>
          <a:prstGeom prst="rect">
            <a:avLst/>
          </a:prstGeom>
          <a:noFill/>
          <a:ln/>
        </p:spPr>
        <p:txBody>
          <a:bodyPr wrap="square" lIns="0" tIns="0" rIns="0" bIns="0" rtlCol="0" anchor="t"/>
          <a:lstStyle/>
          <a:p>
            <a:pPr algn="l" indent="0" marL="0">
              <a:lnSpc>
                <a:spcPts val="1575"/>
              </a:lnSpc>
              <a:buNone/>
            </a:pPr>
            <a:r>
              <a:rPr lang="en-US" sz="1125" dirty="0">
                <a:solidFill>
                  <a:srgbClr val="545454"/>
                </a:solidFill>
                <a:latin typeface="Manrope" pitchFamily="34" charset="0"/>
                <a:ea typeface="Manrope" pitchFamily="34" charset="-122"/>
                <a:cs typeface="Manrope" pitchFamily="34" charset="-120"/>
              </a:rPr>
              <a:t>Limits, due dates, queues and fines are enforced by code.</a:t>
            </a:r>
            <a:endParaRPr lang="en-US" sz="1125" dirty="0"/>
          </a:p>
        </p:txBody>
      </p:sp>
      <p:sp>
        <p:nvSpPr>
          <p:cNvPr id="9" name="Text 7"/>
          <p:cNvSpPr txBox="1"/>
          <p:nvPr/>
        </p:nvSpPr>
        <p:spPr>
          <a:xfrm>
            <a:off x="533400" y="3657600"/>
            <a:ext cx="666750" cy="419100"/>
          </a:xfrm>
          <a:prstGeom prst="rect">
            <a:avLst/>
          </a:prstGeom>
          <a:noFill/>
          <a:ln/>
        </p:spPr>
        <p:txBody>
          <a:bodyPr wrap="square" lIns="0" tIns="0" rIns="0" bIns="0" rtlCol="0" anchor="t"/>
          <a:lstStyle/>
          <a:p>
            <a:pPr algn="l" indent="0" marL="0">
              <a:lnSpc>
                <a:spcPts val="2880"/>
              </a:lnSpc>
              <a:buNone/>
            </a:pPr>
            <a:r>
              <a:rPr lang="en-US" sz="2400" b="1" spc="-48" kern="0" dirty="0">
                <a:solidFill>
                  <a:srgbClr val="000000"/>
                </a:solidFill>
                <a:latin typeface="Manrope" pitchFamily="34" charset="0"/>
                <a:ea typeface="Manrope" pitchFamily="34" charset="-122"/>
                <a:cs typeface="Manrope" pitchFamily="34" charset="-120"/>
              </a:rPr>
              <a:t>03</a:t>
            </a:r>
            <a:endParaRPr lang="en-US" sz="2400" dirty="0"/>
          </a:p>
        </p:txBody>
      </p:sp>
      <p:sp>
        <p:nvSpPr>
          <p:cNvPr id="10" name="Text 8"/>
          <p:cNvSpPr txBox="1"/>
          <p:nvPr/>
        </p:nvSpPr>
        <p:spPr>
          <a:xfrm>
            <a:off x="1295400" y="3676650"/>
            <a:ext cx="4476750" cy="266700"/>
          </a:xfrm>
          <a:prstGeom prst="rect">
            <a:avLst/>
          </a:prstGeom>
          <a:noFill/>
          <a:ln/>
        </p:spPr>
        <p:txBody>
          <a:bodyPr wrap="square" lIns="0" tIns="0" rIns="0" bIns="0" rtlCol="0" anchor="t"/>
          <a:lstStyle/>
          <a:p>
            <a:pPr algn="l" indent="0" marL="0">
              <a:lnSpc>
                <a:spcPts val="1950"/>
              </a:lnSpc>
              <a:buNone/>
            </a:pPr>
            <a:r>
              <a:rPr lang="en-US" sz="1500" b="1" dirty="0">
                <a:solidFill>
                  <a:srgbClr val="000000"/>
                </a:solidFill>
                <a:latin typeface="Manrope" pitchFamily="34" charset="0"/>
                <a:ea typeface="Manrope" pitchFamily="34" charset="-122"/>
                <a:cs typeface="Manrope" pitchFamily="34" charset="-120"/>
              </a:rPr>
              <a:t>Safe by design</a:t>
            </a:r>
            <a:endParaRPr lang="en-US" sz="1500" dirty="0"/>
          </a:p>
        </p:txBody>
      </p:sp>
      <p:sp>
        <p:nvSpPr>
          <p:cNvPr id="11" name="Text 9"/>
          <p:cNvSpPr txBox="1"/>
          <p:nvPr/>
        </p:nvSpPr>
        <p:spPr>
          <a:xfrm>
            <a:off x="1295400" y="3981450"/>
            <a:ext cx="4476750" cy="419100"/>
          </a:xfrm>
          <a:prstGeom prst="rect">
            <a:avLst/>
          </a:prstGeom>
          <a:noFill/>
          <a:ln/>
        </p:spPr>
        <p:txBody>
          <a:bodyPr wrap="square" lIns="0" tIns="0" rIns="0" bIns="0" rtlCol="0" anchor="t"/>
          <a:lstStyle/>
          <a:p>
            <a:pPr algn="l" indent="0" marL="0">
              <a:lnSpc>
                <a:spcPts val="1575"/>
              </a:lnSpc>
              <a:buNone/>
            </a:pPr>
            <a:r>
              <a:rPr lang="en-US" sz="1125" dirty="0">
                <a:solidFill>
                  <a:srgbClr val="545454"/>
                </a:solidFill>
                <a:latin typeface="Manrope" pitchFamily="34" charset="0"/>
                <a:ea typeface="Manrope" pitchFamily="34" charset="-122"/>
                <a:cs typeface="Manrope" pitchFamily="34" charset="-120"/>
              </a:rPr>
              <a:t>Role checks, bcrypt passwords, forced resets and a captcha on public forms.</a:t>
            </a:r>
            <a:endParaRPr lang="en-US" sz="1125" dirty="0"/>
          </a:p>
        </p:txBody>
      </p:sp>
      <p:sp>
        <p:nvSpPr>
          <p:cNvPr id="12" name="Shape 10"/>
          <p:cNvSpPr/>
          <p:nvPr/>
        </p:nvSpPr>
        <p:spPr>
          <a:xfrm>
            <a:off x="6477000" y="1524000"/>
            <a:ext cx="5181600" cy="2857500"/>
          </a:xfrm>
          <a:prstGeom prst="roundRect">
            <a:avLst>
              <a:gd name="adj" fmla="val 4000"/>
            </a:avLst>
          </a:prstGeom>
          <a:solidFill>
            <a:srgbClr val="F6F6F6"/>
          </a:solidFill>
          <a:ln w="12700">
            <a:solidFill>
              <a:srgbClr val="F6F6F6">
                <a:alpha val="0"/>
              </a:srgbClr>
            </a:solidFill>
            <a:prstDash val="solid"/>
          </a:ln>
        </p:spPr>
      </p:sp>
      <p:sp>
        <p:nvSpPr>
          <p:cNvPr id="13" name="Text 11"/>
          <p:cNvSpPr txBox="1"/>
          <p:nvPr/>
        </p:nvSpPr>
        <p:spPr>
          <a:xfrm>
            <a:off x="6743700" y="1771650"/>
            <a:ext cx="4572000" cy="171450"/>
          </a:xfrm>
          <a:prstGeom prst="rect">
            <a:avLst/>
          </a:prstGeom>
          <a:noFill/>
          <a:ln/>
        </p:spPr>
        <p:txBody>
          <a:bodyPr wrap="square" lIns="0" tIns="0" rIns="0" bIns="0" rtlCol="0" anchor="t"/>
          <a:lstStyle/>
          <a:p>
            <a:pPr algn="l" indent="0" marL="0">
              <a:lnSpc>
                <a:spcPts val="1215"/>
              </a:lnSpc>
              <a:buNone/>
            </a:pPr>
            <a:r>
              <a:rPr lang="en-US" sz="900" b="1" spc="72" kern="0" dirty="0">
                <a:solidFill>
                  <a:srgbClr val="757575"/>
                </a:solidFill>
                <a:latin typeface="Manrope" pitchFamily="34" charset="0"/>
                <a:ea typeface="Manrope" pitchFamily="34" charset="-122"/>
                <a:cs typeface="Manrope" pitchFamily="34" charset="-120"/>
              </a:rPr>
              <a:t>NEXT STEPS · PROPOSED, NOT BUILT YET</a:t>
            </a:r>
            <a:endParaRPr lang="en-US" sz="900" dirty="0"/>
          </a:p>
        </p:txBody>
      </p:sp>
      <p:sp>
        <p:nvSpPr>
          <p:cNvPr id="14" name="Text 12"/>
          <p:cNvSpPr txBox="1"/>
          <p:nvPr/>
        </p:nvSpPr>
        <p:spPr>
          <a:xfrm>
            <a:off x="6743700" y="2076450"/>
            <a:ext cx="4648200" cy="24765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A real server and database</a:t>
            </a:r>
            <a:endParaRPr lang="en-US" sz="1350" dirty="0"/>
          </a:p>
        </p:txBody>
      </p:sp>
      <p:sp>
        <p:nvSpPr>
          <p:cNvPr id="15" name="Text 13"/>
          <p:cNvSpPr txBox="1"/>
          <p:nvPr/>
        </p:nvSpPr>
        <p:spPr>
          <a:xfrm>
            <a:off x="6743700" y="2343150"/>
            <a:ext cx="4648200" cy="2286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Replace localStorage so many devices share one library.</a:t>
            </a:r>
            <a:endParaRPr lang="en-US" sz="1050" dirty="0"/>
          </a:p>
        </p:txBody>
      </p:sp>
      <p:sp>
        <p:nvSpPr>
          <p:cNvPr id="16" name="Text 14"/>
          <p:cNvSpPr txBox="1"/>
          <p:nvPr/>
        </p:nvSpPr>
        <p:spPr>
          <a:xfrm>
            <a:off x="6743700" y="2762250"/>
            <a:ext cx="4648200" cy="24765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Email or SMS due-date reminders</a:t>
            </a:r>
            <a:endParaRPr lang="en-US" sz="1350" dirty="0"/>
          </a:p>
        </p:txBody>
      </p:sp>
      <p:sp>
        <p:nvSpPr>
          <p:cNvPr id="17" name="Text 15"/>
          <p:cNvSpPr txBox="1"/>
          <p:nvPr/>
        </p:nvSpPr>
        <p:spPr>
          <a:xfrm>
            <a:off x="6743700" y="3028950"/>
            <a:ext cx="4648200" cy="2286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Today reminders are recorded inside the app only.</a:t>
            </a:r>
            <a:endParaRPr lang="en-US" sz="1050" dirty="0"/>
          </a:p>
        </p:txBody>
      </p:sp>
      <p:sp>
        <p:nvSpPr>
          <p:cNvPr id="18" name="Text 16"/>
          <p:cNvSpPr txBox="1"/>
          <p:nvPr/>
        </p:nvSpPr>
        <p:spPr>
          <a:xfrm>
            <a:off x="6743700" y="3448050"/>
            <a:ext cx="4648200" cy="247650"/>
          </a:xfrm>
          <a:prstGeom prst="rect">
            <a:avLst/>
          </a:prstGeom>
          <a:noFill/>
          <a:ln/>
        </p:spPr>
        <p:txBody>
          <a:bodyPr wrap="square" lIns="0" tIns="0" rIns="0" bIns="0" rtlCol="0" anchor="t"/>
          <a:lstStyle/>
          <a:p>
            <a:pPr algn="l" indent="0" marL="0">
              <a:lnSpc>
                <a:spcPts val="1755"/>
              </a:lnSpc>
              <a:buNone/>
            </a:pPr>
            <a:r>
              <a:rPr lang="en-US" sz="1350" b="1" dirty="0">
                <a:solidFill>
                  <a:srgbClr val="000000"/>
                </a:solidFill>
                <a:latin typeface="Manrope" pitchFamily="34" charset="0"/>
                <a:ea typeface="Manrope" pitchFamily="34" charset="-122"/>
                <a:cs typeface="Manrope" pitchFamily="34" charset="-120"/>
              </a:rPr>
              <a:t>Barcode scanning at the desk</a:t>
            </a:r>
            <a:endParaRPr lang="en-US" sz="1350" dirty="0"/>
          </a:p>
        </p:txBody>
      </p:sp>
      <p:sp>
        <p:nvSpPr>
          <p:cNvPr id="19" name="Text 17"/>
          <p:cNvSpPr txBox="1"/>
          <p:nvPr/>
        </p:nvSpPr>
        <p:spPr>
          <a:xfrm>
            <a:off x="6743700" y="3714750"/>
            <a:ext cx="4648200" cy="228600"/>
          </a:xfrm>
          <a:prstGeom prst="rect">
            <a:avLst/>
          </a:prstGeom>
          <a:noFill/>
          <a:ln/>
        </p:spPr>
        <p:txBody>
          <a:bodyPr wrap="square" lIns="0" tIns="0" rIns="0" bIns="0" rtlCol="0" anchor="t"/>
          <a:lstStyle/>
          <a:p>
            <a:pPr algn="l" indent="0" marL="0">
              <a:lnSpc>
                <a:spcPts val="1470"/>
              </a:lnSpc>
              <a:buNone/>
            </a:pPr>
            <a:r>
              <a:rPr lang="en-US" sz="1050" dirty="0">
                <a:solidFill>
                  <a:srgbClr val="545454"/>
                </a:solidFill>
                <a:latin typeface="Manrope" pitchFamily="34" charset="0"/>
                <a:ea typeface="Manrope" pitchFamily="34" charset="-122"/>
                <a:cs typeface="Manrope" pitchFamily="34" charset="-120"/>
              </a:rPr>
              <a:t>Issue and return by scanning the book and the ID card.</a:t>
            </a:r>
            <a:endParaRPr lang="en-US" sz="1050" dirty="0"/>
          </a:p>
        </p:txBody>
      </p:sp>
      <p:sp>
        <p:nvSpPr>
          <p:cNvPr id="20" name="Thank-you button"/>
          <p:cNvSpPr/>
          <p:nvPr/>
        </p:nvSpPr>
        <p:spPr>
          <a:xfrm>
            <a:off x="6477000" y="4762500"/>
            <a:ext cx="2857500" cy="533400"/>
          </a:xfrm>
          <a:prstGeom prst="roundRect">
            <a:avLst>
              <a:gd name="adj" fmla="val 14286"/>
            </a:avLst>
          </a:prstGeom>
          <a:solidFill>
            <a:srgbClr val="000000"/>
          </a:solidFill>
          <a:ln w="12700">
            <a:solidFill>
              <a:srgbClr val="000000">
                <a:alpha val="0"/>
              </a:srgbClr>
            </a:solidFill>
            <a:prstDash val="solid"/>
          </a:ln>
        </p:spPr>
      </p:sp>
      <p:sp>
        <p:nvSpPr>
          <p:cNvPr id="21" name="Text 19"/>
          <p:cNvSpPr txBox="1"/>
          <p:nvPr/>
        </p:nvSpPr>
        <p:spPr>
          <a:xfrm>
            <a:off x="6477000" y="4914900"/>
            <a:ext cx="2857500" cy="228600"/>
          </a:xfrm>
          <a:prstGeom prst="rect">
            <a:avLst/>
          </a:prstGeom>
          <a:noFill/>
          <a:ln/>
        </p:spPr>
        <p:txBody>
          <a:bodyPr wrap="square" lIns="0" tIns="0" rIns="0" bIns="0" rtlCol="0" anchor="t"/>
          <a:lstStyle/>
          <a:p>
            <a:pPr algn="ctr" indent="0" marL="0">
              <a:lnSpc>
                <a:spcPts val="1560"/>
              </a:lnSpc>
              <a:buNone/>
            </a:pPr>
            <a:r>
              <a:rPr lang="en-US" sz="1200" b="1" dirty="0">
                <a:solidFill>
                  <a:srgbClr val="FFFFFF"/>
                </a:solidFill>
                <a:latin typeface="Manrope" pitchFamily="34" charset="0"/>
                <a:ea typeface="Manrope" pitchFamily="34" charset="-122"/>
                <a:cs typeface="Manrope" pitchFamily="34" charset="-120"/>
              </a:rPr>
              <a:t>Thank you · Questions?</a:t>
            </a:r>
            <a:endParaRPr lang="en-US" sz="1200" dirty="0"/>
          </a:p>
        </p:txBody>
      </p:sp>
      <p:sp>
        <p:nvSpPr>
          <p:cNvPr id="22" name="Text 20"/>
          <p:cNvSpPr txBox="1"/>
          <p:nvPr/>
        </p:nvSpPr>
        <p:spPr>
          <a:xfrm>
            <a:off x="6477000" y="5448300"/>
            <a:ext cx="5181600" cy="171450"/>
          </a:xfrm>
          <a:prstGeom prst="rect">
            <a:avLst/>
          </a:prstGeom>
          <a:noFill/>
          <a:ln/>
        </p:spPr>
        <p:txBody>
          <a:bodyPr wrap="square" lIns="0" tIns="0" rIns="0" bIns="0" rtlCol="0" anchor="t"/>
          <a:lstStyle/>
          <a:p>
            <a:pPr algn="l" indent="0" marL="0">
              <a:lnSpc>
                <a:spcPts val="1215"/>
              </a:lnSpc>
              <a:buNone/>
            </a:pPr>
            <a:r>
              <a:rPr lang="en-US" sz="900" dirty="0">
                <a:solidFill>
                  <a:srgbClr val="757575"/>
                </a:solidFill>
                <a:latin typeface="Manrope" pitchFamily="34" charset="0"/>
                <a:ea typeface="Manrope" pitchFamily="34" charset="-122"/>
                <a:cs typeface="Manrope" pitchFamily="34" charset="-120"/>
              </a:rPr>
              <a:t>Anveer Singh Sandhu · Ayush Sharma · Agrim Joshi</a:t>
            </a:r>
            <a:endParaRPr lang="en-US" sz="900" dirty="0"/>
          </a:p>
        </p:txBody>
      </p:sp>
      <p:sp>
        <p:nvSpPr>
          <p:cNvPr id="25" name="Slide Number Placeholder 0"/>
          <p:cNvSpPr>
            <a:spLocks noGrp="1"/>
          </p:cNvSpPr>
          <p:nvPr>
            <p:ph type="sldNum" sz="quarter" idx="4294967295"/>
          </p:nvPr>
        </p:nvSpPr>
        <p:spPr>
          <a:xfrm>
            <a:off x="11430000" y="6400800"/>
            <a:ext cx="2286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825">
                <a:solidFill>
                  <a:srgbClr val="FFFFFF"/>
                </a:solidFill>
                <a:latin typeface="Manrope"/>
                <a:ea typeface="Manrope"/>
                <a:cs typeface="Manrope"/>
              </a:defRPr>
            </a:lvl1pPr>
          </a:lstStyle>
          <a:p>
            <a:pPr algn="ctr"/>
            <a:fld id="{F7021451-1387-4CA6-816F-3879F97B5CBC}" type="slidenum">
              <a:rPr b="1" lang="en-US"/>
              <a:t>15</a:t>
            </a:fld>
            <a:endParaRPr lang="en-US"/>
          </a:p>
        </p:txBody>
      </p:sp>
    </p:spTree>
  </p:cSld>
  <p:clrMapOvr>
    <a:masterClrMapping/>
  </p:clrMapOvr>
</p:sld>
</file>

<file path=ppt/theme/theme1.xml><?xml version="1.0" encoding="utf-8"?>
<a:theme xmlns:a="http://schemas.openxmlformats.org/drawingml/2006/main" name="BookVerse Trip">
  <a:themeElements>
    <a:clrScheme name="BookVerse Trip">
      <a:dk1>
        <a:srgbClr val="000000"/>
      </a:dk1>
      <a:lt1>
        <a:srgbClr val="FFFFFF"/>
      </a:lt1>
      <a:dk2>
        <a:srgbClr val="545454"/>
      </a:dk2>
      <a:lt2>
        <a:srgbClr val="F6F6F6"/>
      </a:lt2>
      <a:accent1>
        <a:srgbClr val="276EF1"/>
      </a:accent1>
      <a:accent2>
        <a:srgbClr val="000000"/>
      </a:accent2>
      <a:accent3>
        <a:srgbClr val="AFAFAF"/>
      </a:accent3>
      <a:accent4>
        <a:srgbClr val="757575"/>
      </a:accent4>
      <a:accent5>
        <a:srgbClr val="E2E2E2"/>
      </a:accent5>
      <a:accent6>
        <a:srgbClr val="262626"/>
      </a:accent6>
      <a:hlink>
        <a:srgbClr val="000000"/>
      </a:hlink>
      <a:folHlink>
        <a:srgbClr val="545454"/>
      </a:folHlink>
    </a:clrScheme>
    <a:fontScheme name="BookVerse Trip">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BookVerse</dc:title>
  <dc:subject>BookVerse library management system</dc:subject>
  <dc:creator>Anveer Singh Sandhu, Ayush Sharma, Agrim Joshi</dc:creator>
  <cp:lastModifiedBy>Anveer Singh Sandhu, Ayush Sharma, Agrim Joshi</cp:lastModifiedBy>
  <cp:revision>1</cp:revision>
  <dcterms:created xsi:type="dcterms:W3CDTF">2026-10-26T05:53:27Z</dcterms:created>
  <dcterms:modified xsi:type="dcterms:W3CDTF">2026-10-26T05:53:27Z</dcterms:modified>
</cp:coreProperties>
</file>